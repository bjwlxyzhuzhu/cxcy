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0" Type="http://schemas.openxmlformats.org/officeDocument/2006/relationships/viewProps" Target="viewProps.xml"/><Relationship Id="rId4" Type="http://schemas.openxmlformats.org/officeDocument/2006/relationships/slide" Target="slides/slide3.xml"/><Relationship Id="rId39" Type="http://schemas.openxmlformats.org/officeDocument/2006/relationships/tableStyles" Target="tableStyles.xml"/><Relationship Id="rId38" Type="http://schemas.openxmlformats.org/officeDocument/2006/relationships/presProps" Target="presProps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image" Target="../media/image18.jpeg"/><Relationship Id="rId7" Type="http://schemas.openxmlformats.org/officeDocument/2006/relationships/image" Target="../media/image17.jpeg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image" Target="../media/image30.jpeg"/><Relationship Id="rId7" Type="http://schemas.openxmlformats.org/officeDocument/2006/relationships/image" Target="../media/image29.jpeg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0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jpeg"/><Relationship Id="rId8" Type="http://schemas.openxmlformats.org/officeDocument/2006/relationships/image" Target="../media/image43.jpeg"/><Relationship Id="rId7" Type="http://schemas.openxmlformats.org/officeDocument/2006/relationships/image" Target="../media/image42.jpeg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2.jpeg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jpeg"/><Relationship Id="rId8" Type="http://schemas.openxmlformats.org/officeDocument/2006/relationships/image" Target="../media/image61.jpeg"/><Relationship Id="rId7" Type="http://schemas.openxmlformats.org/officeDocument/2006/relationships/image" Target="../media/image60.jpeg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1" Type="http://schemas.openxmlformats.org/officeDocument/2006/relationships/image" Target="../media/image64.jpeg"/><Relationship Id="rId10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7.jpeg"/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71.jpeg"/><Relationship Id="rId4" Type="http://schemas.openxmlformats.org/officeDocument/2006/relationships/image" Target="../media/image70.jpeg"/><Relationship Id="rId3" Type="http://schemas.openxmlformats.org/officeDocument/2006/relationships/image" Target="../media/image69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image" Target="../media/image75.jpeg"/><Relationship Id="rId4" Type="http://schemas.openxmlformats.org/officeDocument/2006/relationships/image" Target="../media/image74.jpeg"/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79.jpeg"/><Relationship Id="rId4" Type="http://schemas.openxmlformats.org/officeDocument/2006/relationships/image" Target="../media/image78.jpeg"/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jpeg"/><Relationship Id="rId8" Type="http://schemas.openxmlformats.org/officeDocument/2006/relationships/image" Target="../media/image86.jpeg"/><Relationship Id="rId7" Type="http://schemas.openxmlformats.org/officeDocument/2006/relationships/image" Target="../media/image85.jpeg"/><Relationship Id="rId6" Type="http://schemas.openxmlformats.org/officeDocument/2006/relationships/image" Target="../media/image84.jpeg"/><Relationship Id="rId5" Type="http://schemas.openxmlformats.org/officeDocument/2006/relationships/image" Target="../media/image83.jpeg"/><Relationship Id="rId4" Type="http://schemas.openxmlformats.org/officeDocument/2006/relationships/image" Target="../media/image82.jpeg"/><Relationship Id="rId3" Type="http://schemas.openxmlformats.org/officeDocument/2006/relationships/image" Target="../media/image81.jpeg"/><Relationship Id="rId2" Type="http://schemas.openxmlformats.org/officeDocument/2006/relationships/image" Target="../media/image80.png"/><Relationship Id="rId10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93.jpeg"/><Relationship Id="rId5" Type="http://schemas.openxmlformats.org/officeDocument/2006/relationships/image" Target="../media/image92.jpeg"/><Relationship Id="rId4" Type="http://schemas.openxmlformats.org/officeDocument/2006/relationships/image" Target="../media/image91.jpeg"/><Relationship Id="rId3" Type="http://schemas.openxmlformats.org/officeDocument/2006/relationships/image" Target="../media/image90.pn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jpeg"/><Relationship Id="rId8" Type="http://schemas.openxmlformats.org/officeDocument/2006/relationships/image" Target="../media/image100.jpeg"/><Relationship Id="rId7" Type="http://schemas.openxmlformats.org/officeDocument/2006/relationships/image" Target="../media/image99.jpeg"/><Relationship Id="rId6" Type="http://schemas.openxmlformats.org/officeDocument/2006/relationships/image" Target="../media/image98.jpeg"/><Relationship Id="rId5" Type="http://schemas.openxmlformats.org/officeDocument/2006/relationships/image" Target="../media/image97.jpeg"/><Relationship Id="rId4" Type="http://schemas.openxmlformats.org/officeDocument/2006/relationships/image" Target="../media/image96.jpeg"/><Relationship Id="rId3" Type="http://schemas.openxmlformats.org/officeDocument/2006/relationships/image" Target="../media/image95.jpeg"/><Relationship Id="rId2" Type="http://schemas.openxmlformats.org/officeDocument/2006/relationships/image" Target="../media/image94.png"/><Relationship Id="rId14" Type="http://schemas.openxmlformats.org/officeDocument/2006/relationships/image" Target="../media/image106.jpeg"/><Relationship Id="rId13" Type="http://schemas.openxmlformats.org/officeDocument/2006/relationships/image" Target="../media/image105.jpeg"/><Relationship Id="rId12" Type="http://schemas.openxmlformats.org/officeDocument/2006/relationships/image" Target="../media/image104.jpeg"/><Relationship Id="rId11" Type="http://schemas.openxmlformats.org/officeDocument/2006/relationships/image" Target="../media/image103.jpeg"/><Relationship Id="rId10" Type="http://schemas.openxmlformats.org/officeDocument/2006/relationships/image" Target="../media/image10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jpeg"/><Relationship Id="rId8" Type="http://schemas.openxmlformats.org/officeDocument/2006/relationships/image" Target="../media/image114.jpeg"/><Relationship Id="rId7" Type="http://schemas.openxmlformats.org/officeDocument/2006/relationships/image" Target="../media/image113.jpeg"/><Relationship Id="rId6" Type="http://schemas.openxmlformats.org/officeDocument/2006/relationships/image" Target="../media/image112.jpeg"/><Relationship Id="rId5" Type="http://schemas.openxmlformats.org/officeDocument/2006/relationships/image" Target="../media/image111.jpeg"/><Relationship Id="rId4" Type="http://schemas.openxmlformats.org/officeDocument/2006/relationships/image" Target="../media/image110.jpe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8.jpeg"/><Relationship Id="rId3" Type="http://schemas.openxmlformats.org/officeDocument/2006/relationships/image" Target="../media/image117.jpe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2.jpeg"/><Relationship Id="rId4" Type="http://schemas.openxmlformats.org/officeDocument/2006/relationships/image" Target="../media/image121.jpeg"/><Relationship Id="rId3" Type="http://schemas.openxmlformats.org/officeDocument/2006/relationships/image" Target="../media/image120.jpe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jpeg"/><Relationship Id="rId8" Type="http://schemas.openxmlformats.org/officeDocument/2006/relationships/image" Target="../media/image129.jpeg"/><Relationship Id="rId7" Type="http://schemas.openxmlformats.org/officeDocument/2006/relationships/image" Target="../media/image128.jpeg"/><Relationship Id="rId6" Type="http://schemas.openxmlformats.org/officeDocument/2006/relationships/image" Target="../media/image127.jpeg"/><Relationship Id="rId5" Type="http://schemas.openxmlformats.org/officeDocument/2006/relationships/image" Target="../media/image126.jpeg"/><Relationship Id="rId4" Type="http://schemas.openxmlformats.org/officeDocument/2006/relationships/image" Target="../media/image125.jpeg"/><Relationship Id="rId3" Type="http://schemas.openxmlformats.org/officeDocument/2006/relationships/image" Target="../media/image124.jpeg"/><Relationship Id="rId2" Type="http://schemas.openxmlformats.org/officeDocument/2006/relationships/image" Target="../media/image123.jpeg"/><Relationship Id="rId10" Type="http://schemas.openxmlformats.org/officeDocument/2006/relationships/image" Target="../media/image13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35.jpeg"/><Relationship Id="rId4" Type="http://schemas.openxmlformats.org/officeDocument/2006/relationships/image" Target="../media/image134.jpeg"/><Relationship Id="rId3" Type="http://schemas.openxmlformats.org/officeDocument/2006/relationships/image" Target="../media/image133.jpeg"/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e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3.jpeg"/><Relationship Id="rId6" Type="http://schemas.openxmlformats.org/officeDocument/2006/relationships/image" Target="../media/image142.jpeg"/><Relationship Id="rId5" Type="http://schemas.openxmlformats.org/officeDocument/2006/relationships/image" Target="../media/image141.jpeg"/><Relationship Id="rId4" Type="http://schemas.openxmlformats.org/officeDocument/2006/relationships/image" Target="../media/image140.jpeg"/><Relationship Id="rId3" Type="http://schemas.openxmlformats.org/officeDocument/2006/relationships/image" Target="../media/image139.jpeg"/><Relationship Id="rId2" Type="http://schemas.openxmlformats.org/officeDocument/2006/relationships/image" Target="../media/image13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9.jpeg"/><Relationship Id="rId6" Type="http://schemas.openxmlformats.org/officeDocument/2006/relationships/image" Target="../media/image148.jpeg"/><Relationship Id="rId5" Type="http://schemas.openxmlformats.org/officeDocument/2006/relationships/image" Target="../media/image147.jpeg"/><Relationship Id="rId4" Type="http://schemas.openxmlformats.org/officeDocument/2006/relationships/image" Target="../media/image146.jpeg"/><Relationship Id="rId3" Type="http://schemas.openxmlformats.org/officeDocument/2006/relationships/image" Target="../media/image145.jpe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jpeg"/><Relationship Id="rId8" Type="http://schemas.openxmlformats.org/officeDocument/2006/relationships/image" Target="../media/image156.jpeg"/><Relationship Id="rId7" Type="http://schemas.openxmlformats.org/officeDocument/2006/relationships/image" Target="../media/image155.jpeg"/><Relationship Id="rId6" Type="http://schemas.openxmlformats.org/officeDocument/2006/relationships/image" Target="../media/image154.jpeg"/><Relationship Id="rId5" Type="http://schemas.openxmlformats.org/officeDocument/2006/relationships/image" Target="../media/image153.jpeg"/><Relationship Id="rId4" Type="http://schemas.openxmlformats.org/officeDocument/2006/relationships/image" Target="../media/image152.jpeg"/><Relationship Id="rId3" Type="http://schemas.openxmlformats.org/officeDocument/2006/relationships/image" Target="../media/image151.jpeg"/><Relationship Id="rId2" Type="http://schemas.openxmlformats.org/officeDocument/2006/relationships/image" Target="../media/image150.png"/><Relationship Id="rId13" Type="http://schemas.openxmlformats.org/officeDocument/2006/relationships/image" Target="../media/image161.jpeg"/><Relationship Id="rId12" Type="http://schemas.openxmlformats.org/officeDocument/2006/relationships/image" Target="../media/image160.jpeg"/><Relationship Id="rId11" Type="http://schemas.openxmlformats.org/officeDocument/2006/relationships/image" Target="../media/image159.jpeg"/><Relationship Id="rId10" Type="http://schemas.openxmlformats.org/officeDocument/2006/relationships/image" Target="../media/image15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jpeg"/><Relationship Id="rId8" Type="http://schemas.openxmlformats.org/officeDocument/2006/relationships/image" Target="../media/image168.jpeg"/><Relationship Id="rId7" Type="http://schemas.openxmlformats.org/officeDocument/2006/relationships/image" Target="../media/image167.jpeg"/><Relationship Id="rId6" Type="http://schemas.openxmlformats.org/officeDocument/2006/relationships/image" Target="../media/image166.jpeg"/><Relationship Id="rId5" Type="http://schemas.openxmlformats.org/officeDocument/2006/relationships/image" Target="../media/image165.jpeg"/><Relationship Id="rId4" Type="http://schemas.openxmlformats.org/officeDocument/2006/relationships/image" Target="../media/image164.jpeg"/><Relationship Id="rId3" Type="http://schemas.openxmlformats.org/officeDocument/2006/relationships/image" Target="../media/image163.jpeg"/><Relationship Id="rId2" Type="http://schemas.openxmlformats.org/officeDocument/2006/relationships/image" Target="../media/image162.jpeg"/><Relationship Id="rId15" Type="http://schemas.openxmlformats.org/officeDocument/2006/relationships/image" Target="../media/image175.jpeg"/><Relationship Id="rId14" Type="http://schemas.openxmlformats.org/officeDocument/2006/relationships/image" Target="../media/image174.jpeg"/><Relationship Id="rId13" Type="http://schemas.openxmlformats.org/officeDocument/2006/relationships/image" Target="../media/image173.jpeg"/><Relationship Id="rId12" Type="http://schemas.openxmlformats.org/officeDocument/2006/relationships/image" Target="../media/image172.jpeg"/><Relationship Id="rId11" Type="http://schemas.openxmlformats.org/officeDocument/2006/relationships/image" Target="../media/image171.jpeg"/><Relationship Id="rId10" Type="http://schemas.openxmlformats.org/officeDocument/2006/relationships/image" Target="../media/image17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3.jpeg"/><Relationship Id="rId8" Type="http://schemas.openxmlformats.org/officeDocument/2006/relationships/image" Target="../media/image182.jpeg"/><Relationship Id="rId7" Type="http://schemas.openxmlformats.org/officeDocument/2006/relationships/image" Target="../media/image181.jpeg"/><Relationship Id="rId6" Type="http://schemas.openxmlformats.org/officeDocument/2006/relationships/image" Target="../media/image180.jpeg"/><Relationship Id="rId5" Type="http://schemas.openxmlformats.org/officeDocument/2006/relationships/image" Target="../media/image179.jpeg"/><Relationship Id="rId4" Type="http://schemas.openxmlformats.org/officeDocument/2006/relationships/image" Target="../media/image178.jpeg"/><Relationship Id="rId3" Type="http://schemas.openxmlformats.org/officeDocument/2006/relationships/image" Target="../media/image177.jpeg"/><Relationship Id="rId2" Type="http://schemas.openxmlformats.org/officeDocument/2006/relationships/image" Target="../media/image176.jpeg"/><Relationship Id="rId12" Type="http://schemas.openxmlformats.org/officeDocument/2006/relationships/image" Target="../media/image186.jpeg"/><Relationship Id="rId11" Type="http://schemas.openxmlformats.org/officeDocument/2006/relationships/image" Target="../media/image185.jpeg"/><Relationship Id="rId10" Type="http://schemas.openxmlformats.org/officeDocument/2006/relationships/image" Target="../media/image18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4.jpeg"/><Relationship Id="rId8" Type="http://schemas.openxmlformats.org/officeDocument/2006/relationships/image" Target="../media/image193.jpeg"/><Relationship Id="rId7" Type="http://schemas.openxmlformats.org/officeDocument/2006/relationships/image" Target="../media/image192.jpeg"/><Relationship Id="rId6" Type="http://schemas.openxmlformats.org/officeDocument/2006/relationships/image" Target="../media/image191.jpeg"/><Relationship Id="rId5" Type="http://schemas.openxmlformats.org/officeDocument/2006/relationships/image" Target="../media/image190.jpeg"/><Relationship Id="rId4" Type="http://schemas.openxmlformats.org/officeDocument/2006/relationships/image" Target="../media/image189.jpeg"/><Relationship Id="rId3" Type="http://schemas.openxmlformats.org/officeDocument/2006/relationships/image" Target="../media/image188.jpeg"/><Relationship Id="rId2" Type="http://schemas.openxmlformats.org/officeDocument/2006/relationships/image" Target="../media/image187.png"/><Relationship Id="rId10" Type="http://schemas.openxmlformats.org/officeDocument/2006/relationships/image" Target="../media/image19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3.jpeg"/><Relationship Id="rId8" Type="http://schemas.openxmlformats.org/officeDocument/2006/relationships/image" Target="../media/image202.jpeg"/><Relationship Id="rId7" Type="http://schemas.openxmlformats.org/officeDocument/2006/relationships/image" Target="../media/image201.jpeg"/><Relationship Id="rId6" Type="http://schemas.openxmlformats.org/officeDocument/2006/relationships/image" Target="../media/image200.jpeg"/><Relationship Id="rId5" Type="http://schemas.openxmlformats.org/officeDocument/2006/relationships/image" Target="../media/image199.jpeg"/><Relationship Id="rId4" Type="http://schemas.openxmlformats.org/officeDocument/2006/relationships/image" Target="../media/image198.jpeg"/><Relationship Id="rId3" Type="http://schemas.openxmlformats.org/officeDocument/2006/relationships/image" Target="../media/image197.jpeg"/><Relationship Id="rId2" Type="http://schemas.openxmlformats.org/officeDocument/2006/relationships/image" Target="../media/image196.png"/><Relationship Id="rId17" Type="http://schemas.openxmlformats.org/officeDocument/2006/relationships/image" Target="../media/image211.jpeg"/><Relationship Id="rId16" Type="http://schemas.openxmlformats.org/officeDocument/2006/relationships/image" Target="../media/image210.jpeg"/><Relationship Id="rId15" Type="http://schemas.openxmlformats.org/officeDocument/2006/relationships/image" Target="../media/image209.jpeg"/><Relationship Id="rId14" Type="http://schemas.openxmlformats.org/officeDocument/2006/relationships/image" Target="../media/image208.jpeg"/><Relationship Id="rId13" Type="http://schemas.openxmlformats.org/officeDocument/2006/relationships/image" Target="../media/image207.jpeg"/><Relationship Id="rId12" Type="http://schemas.openxmlformats.org/officeDocument/2006/relationships/image" Target="../media/image206.jpeg"/><Relationship Id="rId11" Type="http://schemas.openxmlformats.org/officeDocument/2006/relationships/image" Target="../media/image205.jpeg"/><Relationship Id="rId10" Type="http://schemas.openxmlformats.org/officeDocument/2006/relationships/image" Target="../media/image204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jpeg"/><Relationship Id="rId8" Type="http://schemas.openxmlformats.org/officeDocument/2006/relationships/image" Target="../media/image218.jpeg"/><Relationship Id="rId7" Type="http://schemas.openxmlformats.org/officeDocument/2006/relationships/image" Target="../media/image217.jpeg"/><Relationship Id="rId6" Type="http://schemas.openxmlformats.org/officeDocument/2006/relationships/image" Target="../media/image216.jpeg"/><Relationship Id="rId5" Type="http://schemas.openxmlformats.org/officeDocument/2006/relationships/image" Target="../media/image215.jpeg"/><Relationship Id="rId4" Type="http://schemas.openxmlformats.org/officeDocument/2006/relationships/image" Target="../media/image214.jpeg"/><Relationship Id="rId3" Type="http://schemas.openxmlformats.org/officeDocument/2006/relationships/image" Target="../media/image213.jpeg"/><Relationship Id="rId2" Type="http://schemas.openxmlformats.org/officeDocument/2006/relationships/image" Target="../media/image212.jpeg"/><Relationship Id="rId15" Type="http://schemas.openxmlformats.org/officeDocument/2006/relationships/image" Target="../media/image225.jpeg"/><Relationship Id="rId14" Type="http://schemas.openxmlformats.org/officeDocument/2006/relationships/image" Target="../media/image224.jpeg"/><Relationship Id="rId13" Type="http://schemas.openxmlformats.org/officeDocument/2006/relationships/image" Target="../media/image223.jpeg"/><Relationship Id="rId12" Type="http://schemas.openxmlformats.org/officeDocument/2006/relationships/image" Target="../media/image222.jpeg"/><Relationship Id="rId11" Type="http://schemas.openxmlformats.org/officeDocument/2006/relationships/image" Target="../media/image221.jpeg"/><Relationship Id="rId10" Type="http://schemas.openxmlformats.org/officeDocument/2006/relationships/image" Target="../media/image220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3.jpeg"/><Relationship Id="rId8" Type="http://schemas.openxmlformats.org/officeDocument/2006/relationships/image" Target="../media/image232.jpeg"/><Relationship Id="rId7" Type="http://schemas.openxmlformats.org/officeDocument/2006/relationships/image" Target="../media/image231.jpeg"/><Relationship Id="rId6" Type="http://schemas.openxmlformats.org/officeDocument/2006/relationships/image" Target="../media/image230.jpeg"/><Relationship Id="rId5" Type="http://schemas.openxmlformats.org/officeDocument/2006/relationships/image" Target="../media/image229.jpeg"/><Relationship Id="rId4" Type="http://schemas.openxmlformats.org/officeDocument/2006/relationships/image" Target="../media/image228.jpeg"/><Relationship Id="rId3" Type="http://schemas.openxmlformats.org/officeDocument/2006/relationships/image" Target="../media/image227.jpe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36.jpeg"/><Relationship Id="rId3" Type="http://schemas.openxmlformats.org/officeDocument/2006/relationships/image" Target="../media/image235.jpe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0985" y="399076"/>
            <a:ext cx="4312284" cy="3637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700" kern="0" spc="-10" dirty="0">
                <a:solidFill>
                  <a:srgbClr val="A0C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0209" algn="l" rtl="0" eaLnBrk="0">
              <a:lnSpc>
                <a:spcPct val="98000"/>
              </a:lnSpc>
              <a:spcBef>
                <a:spcPts val="635"/>
              </a:spcBef>
              <a:tabLst/>
            </a:pPr>
            <a:r>
              <a:rPr sz="2100" b="1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模块一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3000"/>
              </a:lnSpc>
              <a:spcBef>
                <a:spcPts val="1724"/>
              </a:spcBef>
              <a:tabLst/>
            </a:pPr>
            <a:r>
              <a:rPr sz="6300" b="1" kern="0" spc="17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课程导入与</a:t>
            </a:r>
            <a:endParaRPr sz="6300" dirty="0">
              <a:latin typeface="SimHei"/>
              <a:ea typeface="SimHei"/>
              <a:cs typeface="SimHei"/>
            </a:endParaRPr>
          </a:p>
          <a:p>
            <a:pPr marL="176529" algn="l" rtl="0" eaLnBrk="0">
              <a:lnSpc>
                <a:spcPct val="95000"/>
              </a:lnSpc>
              <a:spcBef>
                <a:spcPts val="36"/>
              </a:spcBef>
              <a:tabLst/>
            </a:pPr>
            <a:r>
              <a:rPr sz="6300" b="1" kern="0" spc="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创新思维</a:t>
            </a:r>
            <a:endParaRPr sz="6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30200" algn="l" rtl="0" eaLnBrk="0">
              <a:lnSpc>
                <a:spcPct val="97000"/>
              </a:lnSpc>
              <a:tabLst/>
            </a:pPr>
            <a:r>
              <a:rPr sz="2100" kern="0" spc="11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开启创新创业学习之旅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8350256" y="610794"/>
            <a:ext cx="1907539" cy="1894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2029"/>
              </a:lnSpc>
              <a:tabLst/>
            </a:pPr>
            <a:r>
              <a:rPr sz="1600" kern="0" spc="-100" dirty="0">
                <a:solidFill>
                  <a:srgbClr val="406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创新</a:t>
            </a:r>
            <a:r>
              <a:rPr sz="1600" kern="0" spc="-100" dirty="0">
                <a:solidFill>
                  <a:srgbClr val="1050B0">
                    <a:alpha val="100000"/>
                  </a:srgbClr>
                </a:solidFill>
                <a:latin typeface="LiSu"/>
                <a:ea typeface="LiSu"/>
                <a:cs typeface="LiSu"/>
              </a:rPr>
              <a:t>驱</a:t>
            </a:r>
            <a:r>
              <a:rPr sz="1600" b="1" kern="0" spc="-100" dirty="0">
                <a:solidFill>
                  <a:srgbClr val="1050B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动</a:t>
            </a:r>
            <a:r>
              <a:rPr sz="1600" kern="0" spc="-100" dirty="0">
                <a:solidFill>
                  <a:srgbClr val="1050B0">
                    <a:alpha val="100000"/>
                  </a:srgbClr>
                </a:solidFill>
                <a:latin typeface="LiSu"/>
                <a:ea typeface="LiSu"/>
                <a:cs typeface="LiSu"/>
              </a:rPr>
              <a:t>未</a:t>
            </a:r>
            <a:r>
              <a:rPr sz="1600" kern="0" spc="-10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来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05"/>
              </a:lnSpc>
              <a:tabLst/>
            </a:pPr>
            <a:r>
              <a:rPr sz="1600" kern="0" spc="-80" dirty="0">
                <a:solidFill>
                  <a:srgbClr val="0040E0">
                    <a:alpha val="100000"/>
                  </a:srgbClr>
                </a:solidFill>
                <a:latin typeface="LiSu"/>
                <a:ea typeface="LiSu"/>
                <a:cs typeface="LiSu"/>
              </a:rPr>
              <a:t>创业成就</a:t>
            </a:r>
            <a:r>
              <a:rPr sz="1600" kern="0" spc="-80" dirty="0">
                <a:solidFill>
                  <a:srgbClr val="1040C0">
                    <a:alpha val="100000"/>
                  </a:srgbClr>
                </a:solidFill>
                <a:latin typeface="LiSu"/>
                <a:ea typeface="LiSu"/>
                <a:cs typeface="LiSu"/>
              </a:rPr>
              <a:t>梦</a:t>
            </a:r>
            <a:r>
              <a:rPr sz="1600" b="1" kern="0" spc="-8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想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70"/>
              </a:lnSpc>
              <a:spcBef>
                <a:spcPts val="1"/>
              </a:spcBef>
              <a:tabLst/>
            </a:pPr>
            <a:r>
              <a:rPr sz="700" b="1" kern="0" spc="-2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创意生成</a:t>
            </a:r>
            <a:r>
              <a:rPr sz="700" kern="0" spc="6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800" b="1" kern="0" spc="-2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实践验证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62135" y="4946608"/>
            <a:ext cx="1549400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ts val="1705"/>
              </a:lnSpc>
              <a:tabLst/>
            </a:pPr>
            <a:r>
              <a:rPr sz="1400" kern="0" spc="-8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课程名称：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7950" algn="l" rtl="0" eaLnBrk="0">
              <a:lnSpc>
                <a:spcPts val="1705"/>
              </a:lnSpc>
              <a:spcBef>
                <a:spcPts val="2"/>
              </a:spcBef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8216903" y="4946608"/>
            <a:ext cx="9969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1705"/>
              </a:lnSpc>
              <a:tabLst/>
            </a:pPr>
            <a:r>
              <a:rPr sz="1400" kern="0" spc="-1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学习方式：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500" kern="0" spc="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理论+实践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5111797" y="4946608"/>
            <a:ext cx="920750" cy="532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705"/>
              </a:lnSpc>
              <a:tabLst/>
            </a:pPr>
            <a:r>
              <a:rPr sz="1400" kern="0" spc="-1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课程对象：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本科生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12093" y="4895843"/>
            <a:ext cx="596899" cy="59687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13251" y="4895843"/>
            <a:ext cx="590528" cy="59687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6343" y="4895843"/>
            <a:ext cx="584158" cy="5968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3352" y="133370"/>
            <a:ext cx="520667" cy="51435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65602" y="3981435"/>
            <a:ext cx="374574" cy="38098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65602" y="2686039"/>
            <a:ext cx="380944" cy="374654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65602" y="3333767"/>
            <a:ext cx="380944" cy="374654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266744" y="260152"/>
            <a:ext cx="9246869" cy="406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30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3000" kern="0" spc="1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6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模块导学/学习目标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276090" algn="l" rtl="0" eaLnBrk="0">
              <a:lnSpc>
                <a:spcPct val="92000"/>
              </a:lnSpc>
              <a:spcBef>
                <a:spcPts val="453"/>
              </a:spcBef>
              <a:tabLst/>
            </a:pP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本模块是课程的起点，帮助你建立创新创业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学习认知，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4009390" algn="l" rtl="0" eaLnBrk="0">
              <a:lnSpc>
                <a:spcPct val="92000"/>
              </a:lnSpc>
              <a:spcBef>
                <a:spcPts val="795"/>
              </a:spcBef>
              <a:tabLst/>
            </a:pPr>
            <a:r>
              <a:rPr sz="1500" b="1" kern="0" spc="-20" dirty="0">
                <a:solidFill>
                  <a:srgbClr val="1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理解课程逻辑，激发创新意识，为后续项目学习奠定基础。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98265" algn="l" rtl="0" eaLnBrk="0">
              <a:lnSpc>
                <a:spcPct val="92000"/>
              </a:lnSpc>
              <a:spcBef>
                <a:spcPts val="423"/>
              </a:spcBef>
              <a:tabLst>
                <a:tab pos="409829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理解课程定位、模块结构与学习方式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，明确学习目标与要求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93465" algn="l" rtl="0" eaLnBrk="0">
              <a:lnSpc>
                <a:spcPct val="85000"/>
              </a:lnSpc>
              <a:spcBef>
                <a:spcPts val="594"/>
              </a:spcBef>
              <a:tabLst/>
            </a:pPr>
            <a:r>
              <a:rPr sz="3000" kern="0" spc="10" baseline="-17362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建立创新创业与创新思维的基本认知，理解课程价值与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意义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93465" algn="l" rtl="0" eaLnBrk="0">
              <a:lnSpc>
                <a:spcPct val="82000"/>
              </a:lnSpc>
              <a:spcBef>
                <a:spcPts val="593"/>
              </a:spcBef>
              <a:tabLst/>
            </a:pPr>
            <a:r>
              <a:rPr sz="3000" kern="0" spc="-60" baseline="-12153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学会从真实场景中发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现问题，形成问题意识与机会意识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spcBef>
                <a:spcPts val="4"/>
              </a:spcBef>
              <a:tabLst/>
            </a:pPr>
            <a:r>
              <a:rPr sz="2600" b="1" kern="0" spc="-70" baseline="-1402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6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初步认识</a:t>
            </a:r>
            <a:r>
              <a:rPr sz="1500" kern="0" spc="-3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5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在课程学习中的辅助作用，提升学习效率与分析能力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740120" y="2012975"/>
            <a:ext cx="425431" cy="41905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0611" y="1149358"/>
            <a:ext cx="2895628" cy="346707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2292359" y="5010151"/>
            <a:ext cx="8001015" cy="711186"/>
            <a:chOff x="0" y="0"/>
            <a:chExt cx="8001015" cy="711186"/>
          </a:xfrm>
        </p:grpSpPr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8001015" cy="711186"/>
            </a:xfrm>
            <a:prstGeom prst="rect">
              <a:avLst/>
            </a:prstGeom>
          </p:spPr>
        </p:pic>
        <p:sp>
          <p:nvSpPr>
            <p:cNvPr id="36" name="textbox 36"/>
            <p:cNvSpPr/>
            <p:nvPr/>
          </p:nvSpPr>
          <p:spPr>
            <a:xfrm>
              <a:off x="-12700" y="-12700"/>
              <a:ext cx="8027034" cy="755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75689" algn="l" rtl="0" eaLnBrk="0">
                <a:lnSpc>
                  <a:spcPct val="92000"/>
                </a:lnSpc>
                <a:spcBef>
                  <a:spcPts val="5"/>
                </a:spcBef>
                <a:tabLst/>
              </a:pPr>
              <a:r>
                <a:rPr sz="1700" b="1" kern="0" spc="-30" dirty="0">
                  <a:solidFill>
                    <a:srgbClr val="1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目标清晰，学习更高效；问题清</a:t>
              </a:r>
              <a:r>
                <a:rPr sz="1700" b="1" kern="0" spc="-40" dirty="0">
                  <a:solidFill>
                    <a:srgbClr val="1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晰，创新更有方向。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606" y="107974"/>
            <a:ext cx="495292" cy="520692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9518" y="178103"/>
            <a:ext cx="9012555" cy="1246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600" kern="0" spc="-10" baseline="-5661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900" kern="0" spc="1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课程定位与价值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课程定位</a:t>
            </a:r>
            <a:r>
              <a:rPr sz="19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课程价值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3596792" y="1655334"/>
            <a:ext cx="3256279" cy="2686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12"/>
              </a:lnSpc>
              <a:tabLst/>
            </a:pPr>
            <a:r>
              <a:rPr sz="1500" b="1" kern="0" spc="-5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素养导向</a:t>
            </a:r>
            <a:r>
              <a:rPr sz="1500" kern="0" spc="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r>
              <a:rPr sz="1500" b="1" kern="0" spc="-5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项目驱动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42669" algn="l" rtl="0" eaLnBrk="0">
              <a:lnSpc>
                <a:spcPct val="85000"/>
              </a:lnSpc>
              <a:spcBef>
                <a:spcPts val="780"/>
              </a:spcBef>
              <a:tabLst/>
            </a:pPr>
            <a:r>
              <a:rPr sz="2600" b="1" kern="0" spc="-1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创新创业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341119" algn="l" rtl="0" eaLnBrk="0">
              <a:lnSpc>
                <a:spcPts val="3141"/>
              </a:lnSpc>
              <a:tabLst/>
            </a:pPr>
            <a:r>
              <a:rPr sz="23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600" b="1" kern="0" spc="-30" dirty="0">
                <a:solidFill>
                  <a:srgbClr val="004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600" b="1" kern="0" spc="-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</a:t>
            </a:r>
            <a:r>
              <a:rPr sz="1600" kern="0" spc="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600" kern="0" spc="2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600" b="1" kern="0" spc="-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成果导向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123977" y="1758045"/>
            <a:ext cx="1857375" cy="2451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6000"/>
              </a:lnSpc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面向全日制本科学生的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核心素养课程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4000"/>
              </a:lnSpc>
              <a:spcBef>
                <a:spcPts val="368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强调创新意识、问题发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需求洞察与团队协作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1000"/>
              </a:lnSpc>
              <a:spcBef>
                <a:spcPts val="1"/>
              </a:spcBef>
              <a:tabLst/>
            </a:pP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突出项目化学习、真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实场景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应用与实践能力培养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8210532" y="1777106"/>
            <a:ext cx="1740535" cy="2470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42" rIns="0" bIns="0"/>
          <a:lstStyle/>
          <a:p>
            <a:pPr marL="12700" algn="l" rtl="0" eaLnBrk="0">
              <a:lnSpc>
                <a:spcPct val="116000"/>
              </a:lnSpc>
              <a:spcBef>
                <a:spcPts val="1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提升发现问题与解决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问题的能力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1000"/>
              </a:lnSpc>
              <a:spcBef>
                <a:spcPts val="398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培养创新思维、创业意识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与综合表达能力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7000"/>
              </a:lnSpc>
              <a:spcBef>
                <a:spcPts val="1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帮助学生形成从创意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项目的基本路径认知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355890" y="5143833"/>
            <a:ext cx="6763384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</a:t>
            </a:r>
            <a:r>
              <a:rPr sz="1900" b="1" kern="0" spc="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创新思维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为起点，以</a:t>
            </a:r>
            <a:r>
              <a:rPr sz="1900" b="1" kern="0" spc="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项目实践</a:t>
            </a:r>
            <a:r>
              <a:rPr sz="19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为主线，以</a:t>
            </a:r>
            <a:r>
              <a:rPr sz="1900" b="1" kern="0" spc="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能力成长</a:t>
            </a:r>
            <a:r>
              <a:rPr sz="19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</a:t>
            </a:r>
            <a:r>
              <a:rPr sz="19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2796" y="2628915"/>
            <a:ext cx="577787" cy="603211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06426" y="1670050"/>
            <a:ext cx="584158" cy="590544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12093" y="2654310"/>
            <a:ext cx="577787" cy="590544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12796" y="3644903"/>
            <a:ext cx="577787" cy="590543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12093" y="1695446"/>
            <a:ext cx="577787" cy="58421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12093" y="3676632"/>
            <a:ext cx="577787" cy="5842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8727" y="190494"/>
            <a:ext cx="571523" cy="577875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292119" y="299215"/>
            <a:ext cx="5464809" cy="1706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900" b="1" kern="0" spc="-110" baseline="-5342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5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3000" b="1" kern="0" spc="-110" dirty="0">
                <a:solidFill>
                  <a:srgbClr val="2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课程结构与五模块总览</a:t>
            </a:r>
            <a:r>
              <a:rPr sz="3000" kern="0" spc="-360" dirty="0">
                <a:solidFill>
                  <a:srgbClr val="201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000" b="1" kern="0" spc="-1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&gt;&gt;&gt;&gt;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015" algn="l" rtl="0" eaLnBrk="0">
              <a:lnSpc>
                <a:spcPct val="94000"/>
              </a:lnSpc>
              <a:spcBef>
                <a:spcPts val="483"/>
              </a:spcBef>
              <a:tabLst>
                <a:tab pos="732790" algn="l"/>
              </a:tabLst>
            </a:pPr>
            <a:r>
              <a:rPr sz="1600" kern="0" spc="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b="1" kern="0" spc="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课程采用理论递进+实践穿插的双线结构组织学习。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6294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7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模块一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7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模块二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模块三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7176" y="869951"/>
            <a:ext cx="463546" cy="463567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8610589" y="1713031"/>
            <a:ext cx="1350010" cy="268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090" algn="l" rtl="0" eaLnBrk="0">
              <a:lnSpc>
                <a:spcPct val="96000"/>
              </a:lnSpc>
              <a:tabLst/>
            </a:pP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模块五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0339" indent="-129539" algn="l" rtl="0" eaLnBrk="0">
              <a:lnSpc>
                <a:spcPct val="99000"/>
              </a:lnSpc>
              <a:spcBef>
                <a:spcPts val="512"/>
              </a:spcBef>
              <a:tabLst/>
            </a:pP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路</a:t>
            </a:r>
            <a:r>
              <a:rPr sz="17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演竞赛与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7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商业落地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4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理论第13—14周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75564" algn="l" rtl="0" eaLnBrk="0">
              <a:lnSpc>
                <a:spcPts val="2722"/>
              </a:lnSpc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实践第7—8周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6584933" y="1744505"/>
            <a:ext cx="1343025" cy="2649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4490" algn="l" rtl="0" eaLnBrk="0">
              <a:lnSpc>
                <a:spcPct val="96000"/>
              </a:lnSpc>
              <a:tabLst/>
            </a:pP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模块四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6525" indent="66039" algn="l" rtl="0" eaLnBrk="0">
              <a:lnSpc>
                <a:spcPct val="95000"/>
              </a:lnSpc>
              <a:spcBef>
                <a:spcPts val="513"/>
              </a:spcBef>
              <a:tabLst/>
            </a:pP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赋能与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9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</a:t>
            </a:r>
            <a:r>
              <a:rPr sz="19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30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理论第10—12周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60350" algn="l" rtl="0" eaLnBrk="0">
              <a:lnSpc>
                <a:spcPts val="2725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实践第6周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07386" y="0"/>
            <a:ext cx="2609813" cy="1047777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1185002" y="5079858"/>
            <a:ext cx="8947150" cy="354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88"/>
              </a:lnSpc>
              <a:tabLst/>
            </a:pPr>
            <a:r>
              <a:rPr sz="21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导入</a:t>
            </a:r>
            <a:r>
              <a:rPr sz="2100" kern="0" spc="4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21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识别</a:t>
            </a:r>
            <a:r>
              <a:rPr sz="2100" kern="0" spc="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21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</a:t>
            </a:r>
            <a:r>
              <a:rPr sz="2100" kern="0" spc="4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21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</a:t>
            </a:r>
            <a:r>
              <a:rPr sz="2100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21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落地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629139" y="3841970"/>
            <a:ext cx="1211580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5000"/>
              </a:lnSpc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理论第7—9周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725"/>
              </a:lnSpc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实践第4—5周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685805" y="3836074"/>
            <a:ext cx="1186180" cy="557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理论第1—3周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0" algn="l" rtl="0" eaLnBrk="0">
              <a:lnSpc>
                <a:spcPts val="2666"/>
              </a:lnSpc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实践第1周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2641600" y="3841970"/>
            <a:ext cx="1191260" cy="551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理论第4—6周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2722"/>
              </a:lnSpc>
              <a:tabLst/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实践第2—3周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88892" y="2944105"/>
            <a:ext cx="115760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8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0" indent="-114300" algn="l" rtl="0" eaLnBrk="0">
              <a:lnSpc>
                <a:spcPct val="99000"/>
              </a:lnSpc>
              <a:tabLst/>
            </a:pPr>
            <a:r>
              <a:rPr sz="17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课程导入与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创新思维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2689173" y="2946480"/>
            <a:ext cx="1138555" cy="539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0330" indent="-88264" algn="l" rtl="0" eaLnBrk="0">
              <a:lnSpc>
                <a:spcPct val="101000"/>
              </a:lnSpc>
              <a:tabLst/>
            </a:pPr>
            <a:r>
              <a:rPr sz="17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用户需求与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机会识别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4663971" y="2944969"/>
            <a:ext cx="1138555" cy="539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7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5250" indent="-82550" algn="l" rtl="0" eaLnBrk="0">
              <a:lnSpc>
                <a:spcPct val="94000"/>
              </a:lnSpc>
              <a:tabLst/>
            </a:pPr>
            <a:r>
              <a:rPr sz="17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商业模式与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项目设计</a:t>
            </a:r>
            <a:endParaRPr sz="1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3854468" y="971532"/>
            <a:ext cx="2882888" cy="2946445"/>
            <a:chOff x="0" y="0"/>
            <a:chExt cx="2882888" cy="2946445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882888" cy="2946445"/>
            </a:xfrm>
            <a:prstGeom prst="rect">
              <a:avLst/>
            </a:prstGeom>
          </p:spPr>
        </p:pic>
        <p:sp>
          <p:nvSpPr>
            <p:cNvPr id="94" name="textbox 94"/>
            <p:cNvSpPr/>
            <p:nvPr/>
          </p:nvSpPr>
          <p:spPr>
            <a:xfrm>
              <a:off x="-12700" y="-12700"/>
              <a:ext cx="2908300" cy="3013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1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59510" algn="l" rtl="0" eaLnBrk="0">
                <a:lnSpc>
                  <a:spcPct val="96000"/>
                </a:lnSpc>
                <a:tabLst/>
              </a:pPr>
              <a:r>
                <a:rPr sz="2300" b="1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总评</a:t>
              </a:r>
              <a:endParaRPr sz="2300" dirty="0">
                <a:latin typeface="SimHei"/>
                <a:ea typeface="SimHei"/>
                <a:cs typeface="SimHei"/>
              </a:endParaRPr>
            </a:p>
            <a:p>
              <a:pPr marL="146050" algn="l" rtl="0" eaLnBrk="0">
                <a:lnSpc>
                  <a:spcPts val="3017"/>
                </a:lnSpc>
                <a:tabLst/>
              </a:pPr>
              <a:r>
                <a:rPr sz="2600" kern="0" spc="40" baseline="35176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50%</a:t>
              </a:r>
              <a:r>
                <a:rPr sz="16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</a:t>
              </a:r>
              <a:r>
                <a:rPr sz="3600" b="1" kern="0" spc="40" baseline="-6426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100分</a:t>
              </a:r>
              <a:r>
                <a:rPr sz="2300" kern="0" spc="5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2600" kern="0" spc="40" baseline="33172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50%</a:t>
              </a:r>
              <a:endParaRPr sz="2600" baseline="33172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850862" y="2063451"/>
          <a:ext cx="2253614" cy="1553845"/>
        </p:xfrm>
        <a:graphic>
          <a:graphicData uri="http://schemas.openxmlformats.org/drawingml/2006/table">
            <a:tbl>
              <a:tblPr/>
              <a:tblGrid>
                <a:gridCol w="207009"/>
                <a:gridCol w="1270000"/>
                <a:gridCol w="776605"/>
              </a:tblGrid>
              <a:tr h="15538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72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60" dirty="0">
                          <a:solidFill>
                            <a:srgbClr val="1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725"/>
                        </a:lnSpc>
                        <a:spcBef>
                          <a:spcPts val="337"/>
                        </a:spcBef>
                        <a:tabLst/>
                      </a:pPr>
                      <a:r>
                        <a:rPr sz="1100" kern="0" spc="-60" dirty="0">
                          <a:solidFill>
                            <a:srgbClr val="105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1647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105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600" kern="0" spc="-10" dirty="0">
                          <a:solidFill>
                            <a:srgbClr val="105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8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课堂参与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72389" algn="l" rtl="0" eaLnBrk="0">
                        <a:lnSpc>
                          <a:spcPts val="3392"/>
                        </a:lnSpc>
                        <a:tabLst/>
                      </a:pPr>
                      <a:r>
                        <a:rPr sz="1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单元作业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72389" algn="l" rtl="0" eaLnBrk="0">
                        <a:lnSpc>
                          <a:spcPts val="3248"/>
                        </a:lnSpc>
                        <a:tabLst/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实践任务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72389" algn="l" rtl="0" eaLnBrk="0">
                        <a:lnSpc>
                          <a:spcPts val="3367"/>
                        </a:lnSpc>
                        <a:tabLst/>
                      </a:pP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团队协作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ts val="2180"/>
                        </a:lnSpc>
                        <a:tabLst/>
                      </a:pPr>
                      <a:r>
                        <a:rPr sz="1600" kern="0" spc="-40" dirty="0">
                          <a:solidFill>
                            <a:srgbClr val="1050F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180"/>
                        </a:lnSpc>
                        <a:spcBef>
                          <a:spcPts val="1219"/>
                        </a:spcBef>
                        <a:tabLst/>
                      </a:pPr>
                      <a:r>
                        <a:rPr sz="1600" kern="0" spc="-40" dirty="0">
                          <a:solidFill>
                            <a:srgbClr val="1050F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180"/>
                        </a:lnSpc>
                        <a:spcBef>
                          <a:spcPts val="1169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0040D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1600" kern="0" spc="-10" dirty="0">
                          <a:solidFill>
                            <a:srgbClr val="1050F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135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kern="0" spc="-40" dirty="0">
                          <a:solidFill>
                            <a:srgbClr val="1050F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98" name="table 98"/>
          <p:cNvGraphicFramePr>
            <a:graphicFrameLocks noGrp="1"/>
          </p:cNvGraphicFramePr>
          <p:nvPr/>
        </p:nvGraphicFramePr>
        <p:xfrm>
          <a:off x="7251653" y="2100728"/>
          <a:ext cx="2264409" cy="1144904"/>
        </p:xfrm>
        <a:graphic>
          <a:graphicData uri="http://schemas.openxmlformats.org/drawingml/2006/table">
            <a:tbl>
              <a:tblPr/>
              <a:tblGrid>
                <a:gridCol w="207009"/>
                <a:gridCol w="1260475"/>
                <a:gridCol w="796925"/>
              </a:tblGrid>
              <a:tr h="1144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600" kern="0" spc="-10" dirty="0">
                          <a:solidFill>
                            <a:srgbClr val="309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1531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309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725"/>
                        </a:lnSpc>
                        <a:tabLst/>
                      </a:pPr>
                      <a:r>
                        <a:rPr sz="1100" kern="0" spc="-60" dirty="0">
                          <a:solidFill>
                            <a:srgbClr val="309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项目成果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9689" algn="l" rtl="0" eaLnBrk="0">
                        <a:lnSpc>
                          <a:spcPts val="3393"/>
                        </a:lnSpc>
                        <a:tabLst/>
                      </a:pPr>
                      <a:r>
                        <a:rPr sz="1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路演展示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9689" algn="l" rtl="0" eaLnBrk="0">
                        <a:lnSpc>
                          <a:spcPts val="3304"/>
                        </a:lnSpc>
                        <a:tabLst/>
                      </a:pPr>
                      <a:r>
                        <a:rPr sz="1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课程总结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ts val="2317"/>
                        </a:lnSpc>
                        <a:tabLst/>
                      </a:pPr>
                      <a:r>
                        <a:rPr sz="1700" kern="0" spc="-4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30%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317"/>
                        </a:lnSpc>
                        <a:spcBef>
                          <a:spcPts val="1083"/>
                        </a:spcBef>
                        <a:tabLst/>
                      </a:pPr>
                      <a:r>
                        <a:rPr sz="1700" kern="0" spc="-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26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-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0" name="textbox 100"/>
          <p:cNvSpPr/>
          <p:nvPr/>
        </p:nvSpPr>
        <p:spPr>
          <a:xfrm>
            <a:off x="781041" y="1162053"/>
            <a:ext cx="2781300" cy="617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58800" algn="l" rtl="0" eaLnBrk="0">
              <a:lnSpc>
                <a:spcPct val="98000"/>
              </a:lnSpc>
              <a:spcBef>
                <a:spcPts val="3"/>
              </a:spcBef>
              <a:tabLst>
                <a:tab pos="727709" algn="l"/>
              </a:tabLst>
            </a:pPr>
            <a:r>
              <a:rPr sz="2300" kern="0" spc="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300" b="1" kern="0" spc="12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过程性考核50%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3741" y="1174753"/>
            <a:ext cx="546148" cy="552420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6972249" y="1162053"/>
            <a:ext cx="2755264" cy="615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1500" algn="l" rtl="0" eaLnBrk="0">
              <a:lnSpc>
                <a:spcPct val="98000"/>
              </a:lnSpc>
              <a:spcBef>
                <a:spcPts val="1"/>
              </a:spcBef>
              <a:tabLst>
                <a:tab pos="765809" algn="l"/>
              </a:tabLst>
            </a:pPr>
            <a:r>
              <a:rPr sz="2100" kern="0" spc="0" dirty="0">
                <a:solidFill>
                  <a:srgbClr val="209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100" b="1" kern="0" spc="220" dirty="0">
                <a:solidFill>
                  <a:srgbClr val="209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终结性考核50%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984949" y="1174753"/>
            <a:ext cx="558889" cy="55242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5097" y="146037"/>
            <a:ext cx="539778" cy="552481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298490" y="260152"/>
            <a:ext cx="3620770" cy="411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7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300" kern="0" spc="-50" baseline="-8479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考核方式与学习要求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87315" y="4794262"/>
            <a:ext cx="685871" cy="698458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0215" y="4794262"/>
            <a:ext cx="692135" cy="692124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356305" y="4794262"/>
            <a:ext cx="679500" cy="698458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425711" y="4800596"/>
            <a:ext cx="679394" cy="692124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356131" y="4800596"/>
            <a:ext cx="679394" cy="692124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9080506" y="4914646"/>
            <a:ext cx="1113789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合理使用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工具辅助学习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5124431" y="4914646"/>
            <a:ext cx="923289" cy="470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79" rIns="0" bIns="0"/>
          <a:lstStyle/>
          <a:p>
            <a:pPr marL="12700" algn="l" rtl="0" eaLnBrk="0">
              <a:lnSpc>
                <a:spcPct val="120000"/>
              </a:lnSpc>
              <a:spcBef>
                <a:spcPts val="4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重视团队协作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与沟通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7111971" y="4914646"/>
            <a:ext cx="928369" cy="462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3000"/>
              </a:lnSpc>
              <a:tabLst/>
            </a:pP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关注真实问题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与实践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174727" y="4919614"/>
            <a:ext cx="794384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3000"/>
              </a:lnSpc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积极参与，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主动学习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3200383" y="4913985"/>
            <a:ext cx="641350" cy="468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18" rIns="0" bIns="0"/>
          <a:lstStyle/>
          <a:p>
            <a:pPr marL="12700" algn="l" rtl="0" eaLnBrk="0">
              <a:lnSpc>
                <a:spcPct val="115000"/>
              </a:lnSpc>
              <a:spcBef>
                <a:spcPts val="2"/>
              </a:spcBef>
              <a:tabLst/>
            </a:pP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按时完成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学习任务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390821" y="4297258"/>
            <a:ext cx="977900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-4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学习要求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 134"/>
          <p:cNvSpPr/>
          <p:nvPr/>
        </p:nvSpPr>
        <p:spPr>
          <a:xfrm>
            <a:off x="0" y="0"/>
            <a:ext cx="10617200" cy="5975350"/>
          </a:xfrm>
          <a:prstGeom prst="rect">
            <a:avLst/>
          </a:prstGeom>
          <a:solidFill>
            <a:srgbClr val="F5F6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336565" y="1581137"/>
            <a:ext cx="9874208" cy="1720841"/>
            <a:chOff x="0" y="0"/>
            <a:chExt cx="9874208" cy="1720841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874208" cy="1720841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9899650" cy="17849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ct val="99000"/>
                </a:lnSpc>
                <a:spcBef>
                  <a:spcPts val="3"/>
                </a:spcBef>
                <a:tabLst/>
              </a:pPr>
              <a:r>
                <a:rPr sz="2200" kern="0" spc="0" dirty="0">
                  <a:solidFill>
                    <a:srgbClr val="80C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①</a:t>
              </a:r>
              <a:r>
                <a:rPr sz="2200" kern="0" spc="10" dirty="0">
                  <a:solidFill>
                    <a:srgbClr val="80C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</a:t>
              </a:r>
              <a:r>
                <a:rPr sz="2200" kern="0" spc="0" dirty="0">
                  <a:solidFill>
                    <a:srgbClr val="80C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</a:t>
              </a:r>
              <a:r>
                <a:rPr sz="2600" kern="0" spc="0" baseline="4006" dirty="0">
                  <a:solidFill>
                    <a:srgbClr val="F0D08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③</a:t>
              </a:r>
              <a:r>
                <a:rPr sz="1600" kern="0" spc="0" dirty="0">
                  <a:solidFill>
                    <a:srgbClr val="F0D08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       </a:t>
              </a:r>
              <a:r>
                <a:rPr sz="1600" kern="0" spc="-10" dirty="0">
                  <a:solidFill>
                    <a:srgbClr val="F0D08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</a:t>
              </a:r>
              <a:r>
                <a:rPr sz="2400" kern="0" spc="-10" dirty="0">
                  <a:solidFill>
                    <a:srgbClr val="60E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⑤</a:t>
              </a:r>
              <a:endParaRPr sz="2400" dirty="0">
                <a:latin typeface="SimSun"/>
                <a:ea typeface="SimSun"/>
                <a:cs typeface="SimSun"/>
              </a:endParaRPr>
            </a:p>
          </p:txBody>
        </p:sp>
      </p:grpSp>
      <p:sp>
        <p:nvSpPr>
          <p:cNvPr id="140" name="textbox 140"/>
          <p:cNvSpPr/>
          <p:nvPr/>
        </p:nvSpPr>
        <p:spPr>
          <a:xfrm>
            <a:off x="50790" y="57151"/>
            <a:ext cx="8017509" cy="1197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2300" algn="l" rtl="0" eaLnBrk="0">
              <a:lnSpc>
                <a:spcPct val="95000"/>
              </a:lnSpc>
              <a:spcBef>
                <a:spcPts val="6"/>
              </a:spcBef>
              <a:tabLst>
                <a:tab pos="874394" algn="l"/>
              </a:tabLst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项目化学习逻辑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752089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600" b="1" kern="0" spc="-1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课程以真实问题为导向，帮助学生经历完整的项目学习链条。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490" y="69851"/>
            <a:ext cx="609639" cy="596877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571523" y="4718076"/>
            <a:ext cx="9493262" cy="888952"/>
            <a:chOff x="0" y="0"/>
            <a:chExt cx="9493262" cy="888952"/>
          </a:xfrm>
        </p:grpSpPr>
        <p:pic>
          <p:nvPicPr>
            <p:cNvPr id="144" name="picture 1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9493262" cy="888952"/>
            </a:xfrm>
            <a:prstGeom prst="rect">
              <a:avLst/>
            </a:prstGeom>
          </p:spPr>
        </p:pic>
        <p:sp>
          <p:nvSpPr>
            <p:cNvPr id="146" name="textbox 146"/>
            <p:cNvSpPr/>
            <p:nvPr/>
          </p:nvSpPr>
          <p:spPr>
            <a:xfrm>
              <a:off x="-12700" y="-12700"/>
              <a:ext cx="9519284" cy="9359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55775" algn="l" rtl="0" eaLnBrk="0">
                <a:lnSpc>
                  <a:spcPct val="92000"/>
                </a:lnSpc>
                <a:tabLst/>
              </a:pPr>
              <a:r>
                <a:rPr sz="1900" b="1" kern="0" spc="-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在做中学、在创中学、在用中学，推动</a:t>
              </a:r>
              <a:r>
                <a:rPr sz="1900" b="1" kern="0" spc="-9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知识、能力与素</a:t>
              </a:r>
              <a:r>
                <a:rPr sz="1900" b="1" kern="0" spc="-10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养</a:t>
              </a:r>
              <a:r>
                <a:rPr sz="1900" b="1" kern="0" spc="-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同步提升。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148" name="table 148"/>
          <p:cNvGraphicFramePr>
            <a:graphicFrameLocks noGrp="1"/>
          </p:cNvGraphicFramePr>
          <p:nvPr/>
        </p:nvGraphicFramePr>
        <p:xfrm>
          <a:off x="552412" y="3433905"/>
          <a:ext cx="9588500" cy="854075"/>
        </p:xfrm>
        <a:graphic>
          <a:graphicData uri="http://schemas.openxmlformats.org/drawingml/2006/table">
            <a:tbl>
              <a:tblPr/>
              <a:tblGrid>
                <a:gridCol w="1651000"/>
                <a:gridCol w="2029460"/>
                <a:gridCol w="2007235"/>
                <a:gridCol w="2104389"/>
                <a:gridCol w="1796414"/>
              </a:tblGrid>
              <a:tr h="332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39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01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3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发现问题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79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657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700" b="1" kern="0" spc="5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分析需求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39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928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2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设计方案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81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2144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700" b="1" kern="0" spc="1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原型验证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3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展示反思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聚焦真实场景，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ts val="1879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识别痛点与机会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2615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理解用户，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015" algn="l" rtl="0" eaLnBrk="0">
                        <a:lnSpc>
                          <a:spcPct val="8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提炼关键需求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890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形成创意，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2290" algn="l" rtl="0" eaLnBrk="0">
                        <a:lnSpc>
                          <a:spcPct val="8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构建可行方案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8319" indent="-50165" algn="l" rtl="0" eaLnBrk="0">
                        <a:lnSpc>
                          <a:spcPct val="11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通过低保真原型或</a:t>
                      </a:r>
                      <a:r>
                        <a:rPr sz="1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</a:t>
                      </a: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Demo</a:t>
                      </a:r>
                      <a:r>
                        <a:rPr sz="13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进行验证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215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汇报成果，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总结经验并持续优化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266744" y="217738"/>
            <a:ext cx="9932669" cy="5300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3400" b="1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4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34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赋能课程学习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50154" algn="l" rtl="0" eaLnBrk="0">
              <a:lnSpc>
                <a:spcPct val="95000"/>
              </a:lnSpc>
              <a:spcBef>
                <a:spcPts val="426"/>
              </a:spcBef>
              <a:tabLst/>
            </a:pPr>
            <a:r>
              <a:rPr sz="1400" b="1" kern="0" spc="7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资料检索与知识梳理：</a:t>
            </a:r>
            <a:r>
              <a:rPr sz="1400" kern="0" spc="-19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帮助快速理解概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念、整理课程重点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50154" algn="l" rtl="0" eaLnBrk="0">
              <a:lnSpc>
                <a:spcPct val="95000"/>
              </a:lnSpc>
              <a:spcBef>
                <a:spcPts val="424"/>
              </a:spcBef>
              <a:tabLst/>
            </a:pPr>
            <a:r>
              <a:rPr sz="1400" b="1" kern="0" spc="6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调研整理与需求归类：</a:t>
            </a:r>
            <a:r>
              <a:rPr sz="1400" kern="0" spc="6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辅助整理观察记录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与访谈信息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50154" algn="l" rtl="0" eaLnBrk="0">
              <a:lnSpc>
                <a:spcPct val="92000"/>
              </a:lnSpc>
              <a:spcBef>
                <a:spcPts val="420"/>
              </a:spcBef>
              <a:tabLst/>
            </a:pPr>
            <a:r>
              <a:rPr sz="1400" b="1" kern="0" spc="6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创意生成与方案拓展：</a:t>
            </a:r>
            <a:r>
              <a:rPr sz="1400" kern="0" spc="-1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提供多样化思路，支持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头脑风暴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422"/>
              </a:spcBef>
              <a:tabLst/>
            </a:pPr>
            <a:r>
              <a:rPr sz="1400" b="1" kern="0" spc="1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文案写作与表达优化：</a:t>
            </a:r>
            <a:r>
              <a:rPr sz="1400" kern="0" spc="1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辅助撰写项目说明、汇报</a:t>
            </a:r>
            <a:r>
              <a:rPr sz="14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提纲</a:t>
            </a:r>
            <a:r>
              <a:rPr sz="14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与展示内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容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50154" algn="l" rtl="0" eaLnBrk="0">
              <a:lnSpc>
                <a:spcPct val="95000"/>
              </a:lnSpc>
              <a:spcBef>
                <a:spcPts val="427"/>
              </a:spcBef>
              <a:tabLst/>
            </a:pPr>
            <a:r>
              <a:rPr sz="1400" b="1" kern="0" spc="-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原型设计与项目诊断：</a:t>
            </a:r>
            <a:r>
              <a:rPr sz="1400" kern="0" spc="-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支持界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面草图、提示词设计与方案优化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453765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9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是学习助手，不替代独立思考、真实观察与团队协作。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4616399" y="2025670"/>
            <a:ext cx="3997325" cy="2568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2000"/>
              </a:lnSpc>
              <a:spcBef>
                <a:spcPts val="4"/>
              </a:spcBef>
              <a:tabLst>
                <a:tab pos="70485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以问题为导向，关注真实需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求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2000"/>
              </a:lnSpc>
              <a:spcBef>
                <a:spcPts val="513"/>
              </a:spcBef>
              <a:tabLst>
                <a:tab pos="70485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打破常规，挑战既有路径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2000"/>
              </a:lnSpc>
              <a:spcBef>
                <a:spcPts val="514"/>
              </a:spcBef>
              <a:tabLst>
                <a:tab pos="70485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多角度思考，探索多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种可能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95000"/>
              </a:lnSpc>
              <a:spcBef>
                <a:spcPts val="2"/>
              </a:spcBef>
              <a:tabLst>
                <a:tab pos="70485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将想法转化为可行、有价值的方案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29099" y="4114805"/>
            <a:ext cx="438171" cy="438172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29099" y="3422620"/>
            <a:ext cx="438171" cy="438172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29099" y="2730496"/>
            <a:ext cx="438171" cy="444506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29099" y="2038370"/>
            <a:ext cx="438171" cy="438112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50862" y="1809753"/>
            <a:ext cx="3054356" cy="2940051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488922" y="749308"/>
            <a:ext cx="9633584" cy="927100"/>
          </a:xfrm>
          <a:prstGeom prst="rect">
            <a:avLst/>
          </a:prstGeom>
          <a:solidFill>
            <a:srgbClr val="F7F9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16050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创新思维是面向真实问题，突破惯性认知，提出新观点、</a:t>
            </a: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新方法或新方案，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50825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并将想法转化为可验证、可实施成果的思维方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式。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488922" y="4908570"/>
            <a:ext cx="9645725" cy="806433"/>
            <a:chOff x="0" y="0"/>
            <a:chExt cx="9645725" cy="806433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9645725" cy="806433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-12700" y="-12700"/>
              <a:ext cx="9671684" cy="8578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15160" algn="l" rtl="0" eaLnBrk="0">
                <a:lnSpc>
                  <a:spcPct val="94000"/>
                </a:lnSpc>
                <a:spcBef>
                  <a:spcPts val="2"/>
                </a:spcBef>
                <a:tabLst/>
              </a:pPr>
              <a:r>
                <a:rPr sz="2300" b="1" kern="0" spc="-4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创新不是凭空想象，而是方法、洞察与行动的结合。</a:t>
              </a:r>
              <a:endParaRPr sz="23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74" name="picture 1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2356" y="101581"/>
            <a:ext cx="552519" cy="520691"/>
          </a:xfrm>
          <a:prstGeom prst="rect">
            <a:avLst/>
          </a:prstGeom>
        </p:spPr>
      </p:pic>
      <p:sp>
        <p:nvSpPr>
          <p:cNvPr id="176" name="textbox 176"/>
          <p:cNvSpPr/>
          <p:nvPr/>
        </p:nvSpPr>
        <p:spPr>
          <a:xfrm>
            <a:off x="298490" y="197164"/>
            <a:ext cx="4053204" cy="433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4300" kern="0" spc="10" baseline="-6056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27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什么是创新思维?</a:t>
            </a:r>
            <a:r>
              <a:rPr sz="2800" kern="0" spc="8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b="1" kern="0" spc="10" baseline="12020" dirty="0">
                <a:solidFill>
                  <a:srgbClr val="004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&gt;&gt;&gt;</a:t>
            </a:r>
            <a:r>
              <a:rPr sz="2600" b="1" kern="0" spc="0" baseline="12020" dirty="0">
                <a:solidFill>
                  <a:srgbClr val="004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&gt;</a:t>
            </a:r>
            <a:endParaRPr sz="2600" baseline="1202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2512516" y="3987624"/>
            <a:ext cx="6045834" cy="1718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36164" algn="l" rtl="0" eaLnBrk="0">
              <a:lnSpc>
                <a:spcPts val="2437"/>
              </a:lnSpc>
              <a:tabLst/>
            </a:pPr>
            <a:r>
              <a:rPr sz="1900" b="1" kern="0" spc="-150" dirty="0">
                <a:solidFill>
                  <a:srgbClr val="2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可行性：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779904" algn="l" rtl="0" eaLnBrk="0">
              <a:lnSpc>
                <a:spcPct val="96000"/>
              </a:lnSpc>
              <a:spcBef>
                <a:spcPts val="415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具备实现与验证的可能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306704" algn="l" rtl="0" eaLnBrk="0">
              <a:lnSpc>
                <a:spcPct val="92000"/>
              </a:lnSpc>
              <a:spcBef>
                <a:spcPts val="1604"/>
              </a:spcBef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优质创新通常同时体现新意、价值与可行性，并在实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践中不断完善。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2300" b="1" kern="0" spc="4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创新思维=独特+新颖+价值+可行+灵活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241263" y="197634"/>
            <a:ext cx="4680584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400" kern="0" spc="-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      </a:t>
            </a:r>
            <a:r>
              <a:rPr sz="3000" b="1" kern="0" spc="-7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创新思维的核心特征</a:t>
            </a:r>
            <a:r>
              <a:rPr sz="3000" kern="0" spc="5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30289" y="292075"/>
            <a:ext cx="552412" cy="203221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7473912" y="2520796"/>
            <a:ext cx="1585594" cy="95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2451"/>
              </a:lnSpc>
              <a:tabLst/>
            </a:pPr>
            <a:r>
              <a:rPr sz="2000" b="1" kern="0" spc="-170" dirty="0">
                <a:solidFill>
                  <a:srgbClr val="1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价值性：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4000"/>
              </a:lnSpc>
              <a:spcBef>
                <a:spcPts val="2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能够回应真实需求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并产生价值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1708135" y="2553344"/>
            <a:ext cx="1313814" cy="921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459" algn="l" rtl="0" eaLnBrk="0">
              <a:lnSpc>
                <a:spcPts val="2459"/>
              </a:lnSpc>
              <a:tabLst/>
            </a:pPr>
            <a:r>
              <a:rPr sz="2000" b="1" kern="0" spc="-15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灵活性：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196850" indent="-184150" algn="l" rtl="0" eaLnBrk="0">
              <a:lnSpc>
                <a:spcPct val="115000"/>
              </a:lnSpc>
              <a:spcBef>
                <a:spcPts val="317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能够调整思路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并持续优化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1308079" y="1033813"/>
            <a:ext cx="1750060" cy="67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1659" algn="l" rtl="0" eaLnBrk="0">
              <a:lnSpc>
                <a:spcPts val="2443"/>
              </a:lnSpc>
              <a:tabLst/>
            </a:pPr>
            <a:r>
              <a:rPr sz="2000" b="1" kern="0" spc="-15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独特性：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提出与众不同的想法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7473913" y="1033813"/>
            <a:ext cx="1731010" cy="670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2443"/>
              </a:lnSpc>
              <a:tabLst/>
            </a:pPr>
            <a:r>
              <a:rPr sz="2000" b="1" kern="0" spc="-190" dirty="0">
                <a:solidFill>
                  <a:srgbClr val="20B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新颖性：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形成新的视角或方法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 rot="21600000">
            <a:off x="381051" y="5124460"/>
            <a:ext cx="9785342" cy="628666"/>
            <a:chOff x="0" y="0"/>
            <a:chExt cx="9785342" cy="628666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785342" cy="628666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-12700" y="-12700"/>
              <a:ext cx="9810750" cy="6756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52575" algn="l" rtl="0" eaLnBrk="0">
                <a:lnSpc>
                  <a:spcPct val="94000"/>
                </a:lnSpc>
                <a:spcBef>
                  <a:spcPts val="5"/>
                </a:spcBef>
                <a:tabLst/>
              </a:pPr>
              <a:r>
                <a:rPr sz="1900" b="1" kern="0" spc="-100" dirty="0">
                  <a:solidFill>
                    <a:srgbClr val="103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思考：在你熟悉的专业或生活领域，</a:t>
              </a:r>
              <a:r>
                <a:rPr sz="1900" b="1" kern="0" spc="-100" dirty="0">
                  <a:solidFill>
                    <a:srgbClr val="103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sz="1900" b="1" kern="0" spc="-110" dirty="0">
                  <a:solidFill>
                    <a:srgbClr val="103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</a:t>
              </a:r>
              <a:r>
                <a:rPr sz="1900" b="1" kern="0" spc="110" dirty="0">
                  <a:solidFill>
                    <a:srgbClr val="1030B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900" b="1" kern="0" spc="-110" dirty="0">
                  <a:solidFill>
                    <a:srgbClr val="103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还能创造哪些新的应用机会?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98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80298" y="1530346"/>
            <a:ext cx="2324105" cy="2076434"/>
          </a:xfrm>
          <a:prstGeom prst="rect">
            <a:avLst/>
          </a:prstGeom>
        </p:spPr>
      </p:pic>
      <p:pic>
        <p:nvPicPr>
          <p:cNvPr id="200" name="picture 2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32138" y="1524013"/>
            <a:ext cx="2298623" cy="2082767"/>
          </a:xfrm>
          <a:prstGeom prst="rect">
            <a:avLst/>
          </a:prstGeom>
        </p:spPr>
      </p:pic>
      <p:pic>
        <p:nvPicPr>
          <p:cNvPr id="202" name="picture 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65720" y="1530346"/>
            <a:ext cx="2273355" cy="2089161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3824" y="1530346"/>
            <a:ext cx="2254243" cy="2070100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3352" y="133369"/>
            <a:ext cx="501662" cy="488903"/>
          </a:xfrm>
          <a:prstGeom prst="rect">
            <a:avLst/>
          </a:prstGeom>
        </p:spPr>
      </p:pic>
      <p:sp>
        <p:nvSpPr>
          <p:cNvPr id="208" name="textbox 208"/>
          <p:cNvSpPr/>
          <p:nvPr/>
        </p:nvSpPr>
        <p:spPr>
          <a:xfrm>
            <a:off x="177772" y="197164"/>
            <a:ext cx="5044440" cy="433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600" kern="0" spc="30" baseline="-5787" dirty="0">
                <a:solidFill>
                  <a:srgbClr val="D0E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2300" kern="0" spc="30" dirty="0">
                <a:solidFill>
                  <a:srgbClr val="D0E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创新案例导入：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</a:t>
            </a:r>
            <a:r>
              <a:rPr sz="28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变世界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5645098" y="3759247"/>
            <a:ext cx="1673860" cy="916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6075" algn="l" rtl="0" eaLnBrk="0">
              <a:lnSpc>
                <a:spcPct val="96000"/>
              </a:lnSpc>
              <a:tabLst/>
            </a:pPr>
            <a:r>
              <a:rPr sz="1700" b="1" kern="0" spc="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智慧教育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8000"/>
              </a:lnSpc>
              <a:spcBef>
                <a:spcPts val="1174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支持个性化学习、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资源推荐与学习反馈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8210532" y="3727450"/>
            <a:ext cx="1613535" cy="948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0675" algn="l" rtl="0" eaLnBrk="0">
              <a:lnSpc>
                <a:spcPct val="98000"/>
              </a:lnSpc>
              <a:tabLst/>
            </a:pPr>
            <a:r>
              <a:rPr sz="1900" b="1" kern="0" spc="-10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智慧城市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ct val="88000"/>
              </a:lnSpc>
              <a:spcBef>
                <a:spcPts val="1155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优化交通调度、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394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公共服务与城市治理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654060" y="3757736"/>
            <a:ext cx="1621789" cy="935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3690" algn="l" rtl="0" eaLnBrk="0">
              <a:lnSpc>
                <a:spcPct val="96000"/>
              </a:lnSpc>
              <a:tabLst/>
            </a:pPr>
            <a:r>
              <a:rPr sz="1700" b="1" kern="0" spc="7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智慧医疗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ct val="98000"/>
              </a:lnSpc>
              <a:spcBef>
                <a:spcPts val="1214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辅助影像识别、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健康管理与诊疗支持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3162267" y="3758384"/>
            <a:ext cx="1604010" cy="918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7340" algn="l" rtl="0" eaLnBrk="0">
              <a:lnSpc>
                <a:spcPct val="96000"/>
              </a:lnSpc>
              <a:tabLst/>
            </a:pPr>
            <a:r>
              <a:rPr sz="1700" b="1" kern="0" spc="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智能制造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01600" algn="l" rtl="0" eaLnBrk="0">
              <a:lnSpc>
                <a:spcPct val="91000"/>
              </a:lnSpc>
              <a:spcBef>
                <a:spcPts val="1139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提升生产效率、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质量监测与设备协同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2279659" y="915792"/>
            <a:ext cx="6055359" cy="249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600" b="1" kern="0" spc="-20" dirty="0">
                <a:solidFill>
                  <a:srgbClr val="103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600" b="1" kern="0" spc="270" dirty="0">
                <a:solidFill>
                  <a:srgbClr val="103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2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正在重塑多个行业</a:t>
            </a:r>
            <a:r>
              <a:rPr sz="1600" b="1" kern="0" spc="-3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场景，为创新创业带来新的产品与服务机会。</a:t>
            </a:r>
            <a:endParaRPr sz="1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22" name="textbox 222"/>
          <p:cNvSpPr/>
          <p:nvPr/>
        </p:nvSpPr>
        <p:spPr>
          <a:xfrm>
            <a:off x="95276" y="88880"/>
            <a:ext cx="8973184" cy="1084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77850" algn="l" rtl="0" eaLnBrk="0">
              <a:lnSpc>
                <a:spcPct val="95000"/>
              </a:lnSpc>
              <a:spcBef>
                <a:spcPts val="3"/>
              </a:spcBef>
              <a:tabLst>
                <a:tab pos="791844" algn="l"/>
              </a:tabLst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8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问题发现：创新的起</a:t>
            </a:r>
            <a:r>
              <a:rPr sz="2800" b="1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97964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创新往往始于对真实问题的发现，关注身边的不便与痛点，是产生有价值创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新的第一步。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976" y="101580"/>
            <a:ext cx="565153" cy="539753"/>
          </a:xfrm>
          <a:prstGeom prst="rect">
            <a:avLst/>
          </a:prstGeom>
        </p:spPr>
      </p:pic>
      <p:graphicFrame>
        <p:nvGraphicFramePr>
          <p:cNvPr id="226" name="table 226"/>
          <p:cNvGraphicFramePr>
            <a:graphicFrameLocks noGrp="1"/>
          </p:cNvGraphicFramePr>
          <p:nvPr/>
        </p:nvGraphicFramePr>
        <p:xfrm>
          <a:off x="1435126" y="1655307"/>
          <a:ext cx="8584565" cy="655954"/>
        </p:xfrm>
        <a:graphic>
          <a:graphicData uri="http://schemas.openxmlformats.org/drawingml/2006/table">
            <a:tbl>
              <a:tblPr/>
              <a:tblGrid>
                <a:gridCol w="1689735"/>
                <a:gridCol w="2535555"/>
                <a:gridCol w="2538095"/>
                <a:gridCol w="1821179"/>
              </a:tblGrid>
              <a:tr h="6559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500" b="1" kern="0" spc="20" dirty="0">
                          <a:solidFill>
                            <a:srgbClr val="104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现象观察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83000"/>
                        </a:lnSpc>
                        <a:spcBef>
                          <a:spcPts val="730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留意身边现象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ts val="1564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收集真实线索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915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500" b="1" kern="0" spc="-10" dirty="0">
                          <a:solidFill>
                            <a:srgbClr val="104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问题识别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55980" algn="l" rtl="0" eaLnBrk="0">
                        <a:lnSpc>
                          <a:spcPct val="83000"/>
                        </a:lnSpc>
                        <a:spcBef>
                          <a:spcPts val="73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归纳核心问题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55980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明确问题边界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897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90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500" b="1" kern="0" spc="-40" dirty="0">
                          <a:solidFill>
                            <a:srgbClr val="104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需求洞察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47725" algn="l" rtl="0" eaLnBrk="0">
                        <a:lnSpc>
                          <a:spcPct val="83000"/>
                        </a:lnSpc>
                        <a:spcBef>
                          <a:spcPts val="684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理解用户需求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47725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挖掘深层原因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59155"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b="1" kern="0" spc="0" dirty="0">
                          <a:solidFill>
                            <a:srgbClr val="104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机会形成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5980" algn="l" rtl="0" eaLnBrk="0">
                        <a:lnSpc>
                          <a:spcPct val="11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问题转化为机会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明确创新方向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862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8" name="textbox 228"/>
          <p:cNvSpPr/>
          <p:nvPr/>
        </p:nvSpPr>
        <p:spPr>
          <a:xfrm>
            <a:off x="6934239" y="2900045"/>
            <a:ext cx="2155825" cy="1847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问题是创新的源头；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7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好问题来自真实场景；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1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问题发现需要观察与追问；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问题越清晰，方案越有效。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6664248" y="5391792"/>
            <a:ext cx="3370579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</a:t>
            </a:r>
            <a:r>
              <a:rPr sz="1800" b="1" kern="0" spc="-6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</a:t>
            </a:r>
            <a:r>
              <a:rPr sz="18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出发，比从</a:t>
            </a:r>
            <a:r>
              <a:rPr sz="1800" b="1" kern="0" spc="-60" dirty="0">
                <a:solidFill>
                  <a:srgbClr val="209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点子</a:t>
            </a:r>
            <a:r>
              <a:rPr sz="18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出发更</a:t>
            </a:r>
            <a:r>
              <a:rPr sz="1800" b="1" kern="0" spc="-6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稳健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698546" y="3179486"/>
            <a:ext cx="853439" cy="72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5"/>
              </a:lnSpc>
              <a:tabLst/>
            </a:pPr>
            <a:r>
              <a:rPr sz="900" kern="0" spc="3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现象记录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67"/>
              </a:lnSpc>
              <a:spcBef>
                <a:spcPts val="308"/>
              </a:spcBef>
              <a:tabLst/>
            </a:pPr>
            <a:r>
              <a:rPr sz="8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800" kern="0" spc="-3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快递取件排队长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70"/>
              </a:lnSpc>
              <a:spcBef>
                <a:spcPts val="386"/>
              </a:spcBef>
              <a:tabLst/>
            </a:pPr>
            <a:r>
              <a:rPr sz="800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800" kern="0" spc="-1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自习室难预约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96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10308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·食堂浪费严重</a:t>
            </a:r>
            <a:endParaRPr sz="900" dirty="0">
              <a:latin typeface="FangSong"/>
              <a:ea typeface="FangSong"/>
              <a:cs typeface="FangSong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6445212" y="3375265"/>
            <a:ext cx="35179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2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600" kern="0" spc="-10" dirty="0">
                <a:solidFill>
                  <a:srgbClr val="80B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endParaRPr sz="26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79000"/>
              </a:lnSpc>
              <a:spcBef>
                <a:spcPts val="2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634949" y="2801596"/>
            <a:ext cx="1126489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22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校园问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题观察记录</a:t>
            </a:r>
            <a:endParaRPr sz="1100" dirty="0">
              <a:latin typeface="LiSu"/>
              <a:ea typeface="LiSu"/>
              <a:cs typeface="LiSu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1943094" y="3166539"/>
            <a:ext cx="442594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可能原因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1879603" y="3400393"/>
            <a:ext cx="421005" cy="133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2"/>
              </a:lnSpc>
              <a:tabLst/>
            </a:pPr>
            <a:r>
              <a:rPr sz="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信息不通明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981210" y="3723810"/>
            <a:ext cx="461009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38"/>
              </a:lnSpc>
              <a:tabLst/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流程不便捷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2406641" y="3349156"/>
            <a:ext cx="371475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38"/>
              </a:lnSpc>
              <a:tabLst/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资源分配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12037" y="3448075"/>
            <a:ext cx="393686" cy="304802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7080227" y="1511313"/>
            <a:ext cx="2665729" cy="3342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44500" algn="l" rtl="0" eaLnBrk="0">
              <a:lnSpc>
                <a:spcPct val="95000"/>
              </a:lnSpc>
              <a:spcBef>
                <a:spcPts val="1"/>
              </a:spcBef>
              <a:tabLst>
                <a:tab pos="580390" algn="l"/>
              </a:tabLst>
            </a:pPr>
            <a:r>
              <a:rPr sz="1700" kern="0" spc="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-3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影响明确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15265" indent="-183514" algn="l" rtl="0" eaLnBrk="0">
              <a:lnSpc>
                <a:spcPct val="111000"/>
              </a:lnSpc>
              <a:spcBef>
                <a:spcPts val="1548"/>
              </a:spcBef>
              <a:tabLst/>
            </a:pPr>
            <a:r>
              <a:rPr sz="1200" kern="0" spc="-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2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问题带来的影响清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晰、具体，能说明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对谁产生了什么不良后果。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15265" indent="-183514" algn="l" rtl="0" eaLnBrk="0">
              <a:lnSpc>
                <a:spcPct val="109000"/>
              </a:lnSpc>
              <a:spcBef>
                <a:spcPts val="911"/>
              </a:spcBef>
              <a:tabLst/>
            </a:pPr>
            <a:r>
              <a:rPr sz="1200" kern="0" spc="-3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2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影响范围、程度或频次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可被描述，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体现出解决的必要性与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1600" algn="l" rtl="0" eaLnBrk="0">
              <a:lnSpc>
                <a:spcPct val="96000"/>
              </a:lnSpc>
              <a:spcBef>
                <a:spcPts val="517"/>
              </a:spcBef>
              <a:tabLst/>
            </a:pPr>
            <a:r>
              <a:rPr sz="15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04     </a:t>
            </a:r>
            <a:r>
              <a:rPr sz="17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具有改进空间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15265" indent="-183514" algn="l" rtl="0" eaLnBrk="0">
              <a:lnSpc>
                <a:spcPct val="114000"/>
              </a:lnSpc>
              <a:spcBef>
                <a:spcPts val="1139"/>
              </a:spcBef>
              <a:tabLst/>
            </a:pPr>
            <a:r>
              <a:rPr sz="1200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19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问题并非无解，存在可改进的点或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优化的方向。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5265" indent="-183514" algn="l" rtl="0" eaLnBrk="0">
              <a:lnSpc>
                <a:spcPct val="114000"/>
              </a:lnSpc>
              <a:spcBef>
                <a:spcPts val="4"/>
              </a:spcBef>
              <a:tabLst/>
            </a:pPr>
            <a:r>
              <a:rPr sz="1200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24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有可行的干预手段或技术、方法可以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尝试，具备探索与创新的空间。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92927" y="1524013"/>
            <a:ext cx="431801" cy="342865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20891" y="3448075"/>
            <a:ext cx="393685" cy="311136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27262" y="1543074"/>
            <a:ext cx="387315" cy="304802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2108191" y="1573327"/>
            <a:ext cx="2611120" cy="3294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ts val="2140"/>
              </a:lnSpc>
              <a:tabLst/>
            </a:pPr>
            <a:r>
              <a:rPr sz="2300" kern="0" spc="-10" baseline="-144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01</a:t>
            </a:r>
            <a:r>
              <a:rPr sz="14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700" b="1" kern="0" spc="-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真实存在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96850" indent="-184150" algn="l" rtl="0" eaLnBrk="0">
              <a:lnSpc>
                <a:spcPct val="110000"/>
              </a:lnSpc>
              <a:spcBef>
                <a:spcPts val="1368"/>
              </a:spcBef>
              <a:tabLst/>
            </a:pPr>
            <a:r>
              <a:rPr sz="1200" kern="0" spc="-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2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问题来源于真实的场景或用户经历，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而非凭空想象或假设。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96850" indent="-184150" algn="l" rtl="0" eaLnBrk="0">
              <a:lnSpc>
                <a:spcPct val="120000"/>
              </a:lnSpc>
              <a:spcBef>
                <a:spcPts val="876"/>
              </a:spcBef>
              <a:tabLst/>
            </a:pPr>
            <a:r>
              <a:rPr sz="1100" kern="0" spc="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有事实、数据或用户反馈作为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支撑，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能够被持续观察和记录。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ct val="98000"/>
              </a:lnSpc>
              <a:spcBef>
                <a:spcPts val="518"/>
              </a:spcBef>
              <a:tabLst/>
            </a:pPr>
            <a:r>
              <a:rPr sz="2500" kern="0" spc="-30" baseline="-8334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03</a:t>
            </a:r>
            <a:r>
              <a:rPr sz="16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700" b="1" kern="0" spc="-3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可被验证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96850" indent="-184150" algn="l" rtl="0" eaLnBrk="0">
              <a:lnSpc>
                <a:spcPct val="115000"/>
              </a:lnSpc>
              <a:spcBef>
                <a:spcPts val="1324"/>
              </a:spcBef>
              <a:tabLst/>
            </a:pPr>
            <a:r>
              <a:rPr sz="1200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19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问题本身可以通过调研、实验、数据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分析等方法进行验证。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96850" indent="-184150" algn="l" rtl="0" eaLnBrk="0">
              <a:lnSpc>
                <a:spcPct val="111000"/>
              </a:lnSpc>
              <a:spcBef>
                <a:spcPts val="6"/>
              </a:spcBef>
              <a:tabLst/>
            </a:pPr>
            <a:r>
              <a:rPr sz="1200" kern="0" spc="-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2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有明确的验证路径和可获取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的信息来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支持研究与判断。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2601" y="101581"/>
            <a:ext cx="520667" cy="520691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133392" y="186926"/>
            <a:ext cx="8500109" cy="998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000" kern="0" spc="10" baseline="-6511" dirty="0">
                <a:solidFill>
                  <a:srgbClr val="A0D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2600" kern="0" spc="10" dirty="0">
                <a:solidFill>
                  <a:srgbClr val="A0D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优质问题的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判断标准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307589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700" b="1" kern="0" spc="-60" dirty="0">
                <a:solidFill>
                  <a:srgbClr val="1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不是所有现象都值得解决，优质问题需要同时具备</a:t>
            </a:r>
            <a:r>
              <a:rPr sz="1700" b="1" kern="0" spc="-60" dirty="0">
                <a:solidFill>
                  <a:srgbClr val="005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价值与</a:t>
            </a:r>
            <a:r>
              <a:rPr sz="1700" b="1" kern="0" spc="-70" dirty="0">
                <a:solidFill>
                  <a:srgbClr val="005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可行性。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88922" y="5162523"/>
            <a:ext cx="9594869" cy="571542"/>
            <a:chOff x="0" y="0"/>
            <a:chExt cx="9594869" cy="571542"/>
          </a:xfrm>
        </p:grpSpPr>
        <p:pic>
          <p:nvPicPr>
            <p:cNvPr id="262" name="picture 2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9594869" cy="571542"/>
            </a:xfrm>
            <a:prstGeom prst="rect">
              <a:avLst/>
            </a:prstGeom>
          </p:spPr>
        </p:pic>
        <p:sp>
          <p:nvSpPr>
            <p:cNvPr id="264" name="textbox 264"/>
            <p:cNvSpPr/>
            <p:nvPr/>
          </p:nvSpPr>
          <p:spPr>
            <a:xfrm>
              <a:off x="-12700" y="-12700"/>
              <a:ext cx="9620884" cy="6153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31339" algn="l" rtl="0" eaLnBrk="0">
                <a:lnSpc>
                  <a:spcPct val="92000"/>
                </a:lnSpc>
                <a:spcBef>
                  <a:spcPts val="4"/>
                </a:spcBef>
                <a:tabLst/>
              </a:pPr>
              <a:r>
                <a:rPr sz="1600" b="1" kern="0" spc="5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能被持续观察、被清晰描述、被用户感知的问题，更值得进入</a:t>
              </a:r>
              <a:r>
                <a:rPr sz="1600" b="1" kern="0" spc="4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项目研究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66" name="picture 2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81674" y="1625594"/>
            <a:ext cx="1142941" cy="1187481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75303" y="3536929"/>
            <a:ext cx="1136677" cy="1187481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96898" y="3543322"/>
            <a:ext cx="1117566" cy="1174753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03269" y="1625593"/>
            <a:ext cx="1104932" cy="11810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2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5570" y="1212876"/>
            <a:ext cx="9867944" cy="3549597"/>
          </a:xfrm>
          <a:prstGeom prst="rect">
            <a:avLst/>
          </a:prstGeom>
        </p:spPr>
      </p:pic>
      <p:sp>
        <p:nvSpPr>
          <p:cNvPr id="276" name="textbox 276"/>
          <p:cNvSpPr/>
          <p:nvPr/>
        </p:nvSpPr>
        <p:spPr>
          <a:xfrm>
            <a:off x="44420" y="50817"/>
            <a:ext cx="6990080" cy="965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96900" algn="l" rtl="0" eaLnBrk="0">
              <a:lnSpc>
                <a:spcPct val="96000"/>
              </a:lnSpc>
              <a:spcBef>
                <a:spcPts val="4"/>
              </a:spcBef>
              <a:tabLst>
                <a:tab pos="766444" algn="l"/>
              </a:tabLst>
            </a:pPr>
            <a:r>
              <a:rPr sz="2600" kern="0" spc="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600" b="1" kern="0" spc="-10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问题从哪里来?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真实场景是发现问题与机会的第一现场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120" y="63517"/>
            <a:ext cx="584264" cy="577816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393685" y="4940300"/>
            <a:ext cx="9778972" cy="590543"/>
            <a:chOff x="0" y="0"/>
            <a:chExt cx="9778972" cy="590543"/>
          </a:xfrm>
        </p:grpSpPr>
        <p:pic>
          <p:nvPicPr>
            <p:cNvPr id="280" name="picture 28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9778972" cy="590543"/>
            </a:xfrm>
            <a:prstGeom prst="rect">
              <a:avLst/>
            </a:prstGeom>
          </p:spPr>
        </p:pic>
        <p:sp>
          <p:nvSpPr>
            <p:cNvPr id="282" name="textbox 282"/>
            <p:cNvSpPr/>
            <p:nvPr/>
          </p:nvSpPr>
          <p:spPr>
            <a:xfrm>
              <a:off x="-12700" y="-12700"/>
              <a:ext cx="9804400" cy="6394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643504" algn="l" rtl="0" eaLnBrk="0">
                <a:lnSpc>
                  <a:spcPct val="95000"/>
                </a:lnSpc>
                <a:tabLst/>
              </a:pPr>
              <a:r>
                <a:rPr sz="1400" b="1" kern="0" spc="-8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请从你熟悉的专业或生活中寻找一个最想</a:t>
              </a:r>
              <a:r>
                <a:rPr sz="1400" b="1" kern="0" spc="-9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改善的场景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84" name="textbox 284"/>
          <p:cNvSpPr/>
          <p:nvPr/>
        </p:nvSpPr>
        <p:spPr>
          <a:xfrm>
            <a:off x="8410056" y="2099285"/>
            <a:ext cx="1617980" cy="2323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-1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专业与产业场景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9879" algn="l" rtl="0" eaLnBrk="0">
              <a:lnSpc>
                <a:spcPts val="1361"/>
              </a:lnSpc>
              <a:spcBef>
                <a:spcPts val="330"/>
              </a:spcBef>
              <a:tabLst/>
            </a:pPr>
            <a:r>
              <a:rPr sz="1100" b="1" kern="0" spc="-40" dirty="0">
                <a:solidFill>
                  <a:srgbClr val="2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产业升级与智能化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07975" algn="l" rtl="0" eaLnBrk="0">
              <a:lnSpc>
                <a:spcPct val="134000"/>
              </a:lnSpc>
              <a:spcBef>
                <a:spcPts val="295"/>
              </a:spcBef>
              <a:tabLst/>
            </a:pPr>
            <a:r>
              <a:rPr sz="800" kern="0" spc="-2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如何提升生产效率、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质量控制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与设备运维的智能化水平?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9879" algn="l" rtl="0" eaLnBrk="0">
              <a:lnSpc>
                <a:spcPts val="1361"/>
              </a:lnSpc>
              <a:spcBef>
                <a:spcPts val="339"/>
              </a:spcBef>
              <a:tabLst/>
            </a:pPr>
            <a:r>
              <a:rPr sz="1100" b="1" kern="0" spc="-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新技术应用与创新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07975" algn="l" rtl="0" eaLnBrk="0">
              <a:lnSpc>
                <a:spcPts val="973"/>
              </a:lnSpc>
              <a:spcBef>
                <a:spcPts val="700"/>
              </a:spcBef>
              <a:tabLst/>
            </a:pPr>
            <a:r>
              <a:rPr sz="800" kern="0" spc="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如何将人工智能、大数据、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07975" algn="l" rtl="0" eaLnBrk="0">
              <a:lnSpc>
                <a:spcPts val="1085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物联网等技术落地应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用?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6314519" y="2118140"/>
            <a:ext cx="1568450" cy="228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社会服务场景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5579" algn="l" rtl="0" eaLnBrk="0">
              <a:lnSpc>
                <a:spcPct val="96000"/>
              </a:lnSpc>
              <a:spcBef>
                <a:spcPts val="334"/>
              </a:spcBef>
              <a:tabLst/>
            </a:pPr>
            <a:r>
              <a:rPr sz="1100" b="1" kern="0" spc="-7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人口与社会结构变化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93675" algn="l" rtl="0" eaLnBrk="0">
              <a:lnSpc>
                <a:spcPct val="130000"/>
              </a:lnSpc>
              <a:spcBef>
                <a:spcPts val="371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如何应对老龄化、儿童友好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残障关怀等社会需求?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5579" algn="l" rtl="0" eaLnBrk="0">
              <a:lnSpc>
                <a:spcPts val="1247"/>
              </a:lnSpc>
              <a:spcBef>
                <a:spcPts val="309"/>
              </a:spcBef>
              <a:tabLst/>
            </a:pPr>
            <a:r>
              <a:rPr sz="1000" b="1" kern="0" spc="-3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可持续发展与公共治理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3675" algn="l" rtl="0" eaLnBrk="0">
              <a:lnSpc>
                <a:spcPct val="150000"/>
              </a:lnSpc>
              <a:tabLst/>
            </a:pP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如何促进绿色低碳、</a:t>
            </a:r>
            <a:r>
              <a:rPr sz="800" kern="0" spc="-4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资源节约</a:t>
            </a:r>
            <a:r>
              <a:rPr sz="800" kern="0" spc="-5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800" kern="0" spc="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3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社区治理与公共安全?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904327" y="2111747"/>
            <a:ext cx="1492885" cy="2291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校园学习场景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5000"/>
              </a:lnSpc>
              <a:spcBef>
                <a:spcPts val="365"/>
              </a:spcBef>
              <a:tabLst/>
            </a:pPr>
            <a:r>
              <a:rPr sz="1200" b="1" kern="0" spc="-11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学习效率提升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57175" algn="l" rtl="0" eaLnBrk="0">
              <a:lnSpc>
                <a:spcPts val="967"/>
              </a:lnSpc>
              <a:spcBef>
                <a:spcPts val="631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如何帮助同学更高效地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257175" algn="l" rtl="0" eaLnBrk="0">
              <a:lnSpc>
                <a:spcPct val="96000"/>
              </a:lnSpc>
              <a:spcBef>
                <a:spcPts val="242"/>
              </a:spcBef>
              <a:tabLst/>
            </a:pPr>
            <a:r>
              <a:rPr sz="900" kern="0" spc="-10" dirty="0">
                <a:solidFill>
                  <a:srgbClr val="202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理解、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记忆和应用知识?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5000"/>
              </a:lnSpc>
              <a:spcBef>
                <a:spcPts val="335"/>
              </a:spcBef>
              <a:tabLst/>
            </a:pPr>
            <a:r>
              <a:rPr sz="11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校园服务优化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57175" algn="l" rtl="0" eaLnBrk="0">
              <a:lnSpc>
                <a:spcPct val="131000"/>
              </a:lnSpc>
              <a:spcBef>
                <a:spcPts val="4"/>
              </a:spcBef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如何让选课、图书借阅、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报修等流程更便捷高效?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3120574" y="2118140"/>
            <a:ext cx="1486535" cy="229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7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日常生活场景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95000"/>
              </a:lnSpc>
              <a:spcBef>
                <a:spcPts val="363"/>
              </a:spcBef>
              <a:tabLst/>
            </a:pPr>
            <a:r>
              <a:rPr sz="12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生活便利提升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38125" algn="l" rtl="0" eaLnBrk="0">
              <a:lnSpc>
                <a:spcPct val="143000"/>
              </a:lnSpc>
              <a:spcBef>
                <a:spcPts val="203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如何让出行、购物、点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餐、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家务等更省时省力?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96000"/>
              </a:lnSpc>
              <a:spcBef>
                <a:spcPts val="367"/>
              </a:spcBef>
              <a:tabLst/>
            </a:pPr>
            <a:r>
              <a:rPr sz="1200" b="1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健康与安全保障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38125" algn="l" rtl="0" eaLnBrk="0">
              <a:lnSpc>
                <a:spcPct val="154000"/>
              </a:lnSpc>
              <a:spcBef>
                <a:spcPts val="171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如何更好地关注个人健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康、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家人安全与生活品质?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4955095" y="3101665"/>
            <a:ext cx="614044" cy="592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01000"/>
              </a:lnSpc>
              <a:tabLst/>
            </a:pPr>
            <a:r>
              <a:rPr sz="12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多样场景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孕育问题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与机会</a:t>
            </a:r>
            <a:endParaRPr sz="1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1190" y="1066778"/>
            <a:ext cx="2247873" cy="3663965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342935" y="5086337"/>
            <a:ext cx="9918694" cy="558814"/>
            <a:chOff x="0" y="0"/>
            <a:chExt cx="9918694" cy="558814"/>
          </a:xfrm>
        </p:grpSpPr>
        <p:pic>
          <p:nvPicPr>
            <p:cNvPr id="298" name="picture 29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9918694" cy="558814"/>
            </a:xfrm>
            <a:prstGeom prst="rect">
              <a:avLst/>
            </a:prstGeom>
          </p:spPr>
        </p:pic>
        <p:sp>
          <p:nvSpPr>
            <p:cNvPr id="300" name="textbox 300"/>
            <p:cNvSpPr/>
            <p:nvPr/>
          </p:nvSpPr>
          <p:spPr>
            <a:xfrm>
              <a:off x="-12700" y="-12700"/>
              <a:ext cx="9944100" cy="6057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76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68625" algn="l" rtl="0" eaLnBrk="0">
                <a:lnSpc>
                  <a:spcPct val="94000"/>
                </a:lnSpc>
                <a:tabLst/>
              </a:pPr>
              <a:r>
                <a:rPr sz="1900" b="1" kern="0" spc="3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观察不是看热闹，而是发现行为背后的原因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2946379" y="4140200"/>
            <a:ext cx="7213644" cy="615939"/>
            <a:chOff x="0" y="0"/>
            <a:chExt cx="7213644" cy="615939"/>
          </a:xfrm>
        </p:grpSpPr>
        <p:pic>
          <p:nvPicPr>
            <p:cNvPr id="302" name="picture 30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7213644" cy="615939"/>
            </a:xfrm>
            <a:prstGeom prst="rect">
              <a:avLst/>
            </a:prstGeom>
          </p:spPr>
        </p:pic>
        <p:sp>
          <p:nvSpPr>
            <p:cNvPr id="304" name="textbox 304"/>
            <p:cNvSpPr/>
            <p:nvPr/>
          </p:nvSpPr>
          <p:spPr>
            <a:xfrm>
              <a:off x="-12700" y="-12700"/>
              <a:ext cx="7239634" cy="662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3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19455" algn="l" rtl="0" eaLnBrk="0">
                <a:lnSpc>
                  <a:spcPct val="95000"/>
                </a:lnSpc>
                <a:tabLst/>
              </a:pPr>
              <a:r>
                <a:rPr sz="1300" b="1" kern="0" spc="-4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痛点定义：</a:t>
              </a:r>
              <a:r>
                <a:rPr sz="1300" kern="0" spc="-4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3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痛点是用户在完成某项任务时反复遇到的高频、不便、低效或情绪压</a:t>
              </a:r>
              <a:r>
                <a:rPr sz="13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力问题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06" name="textbox 306"/>
          <p:cNvSpPr/>
          <p:nvPr/>
        </p:nvSpPr>
        <p:spPr>
          <a:xfrm>
            <a:off x="6051525" y="1215184"/>
            <a:ext cx="1167130" cy="264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0050" algn="l" rtl="0" eaLnBrk="0">
              <a:lnSpc>
                <a:spcPct val="96000"/>
              </a:lnSpc>
              <a:tabLst/>
            </a:pPr>
            <a:r>
              <a:rPr sz="2300" kern="0" spc="-10" dirty="0">
                <a:solidFill>
                  <a:srgbClr val="308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349250" algn="l" rtl="0" eaLnBrk="0">
              <a:lnSpc>
                <a:spcPts val="6015"/>
              </a:lnSpc>
              <a:spcBef>
                <a:spcPts val="926"/>
              </a:spcBef>
              <a:tabLst/>
            </a:pPr>
            <a:r>
              <a:rPr sz="4800" kern="0" spc="-10" dirty="0">
                <a:solidFill>
                  <a:srgbClr val="50E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?</a:t>
            </a:r>
            <a:endParaRPr sz="4800" dirty="0">
              <a:latin typeface="SimSun"/>
              <a:ea typeface="SimSun"/>
              <a:cs typeface="SimSun"/>
            </a:endParaRPr>
          </a:p>
          <a:p>
            <a:pPr marL="205740" algn="l" rtl="0" eaLnBrk="0">
              <a:lnSpc>
                <a:spcPct val="96000"/>
              </a:lnSpc>
              <a:spcBef>
                <a:spcPts val="1203"/>
              </a:spcBef>
              <a:tabLst/>
            </a:pPr>
            <a:r>
              <a:rPr sz="1500" b="1" kern="0" spc="-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追问原因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100000"/>
              </a:lnSpc>
              <a:spcBef>
                <a:spcPts val="281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通过“为什么”层层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723"/>
              </a:spcBef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追问，探索用户行为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752"/>
              </a:spcBef>
              <a:tabLst/>
            </a:pPr>
            <a:r>
              <a:rPr sz="900" kern="0" spc="4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背后的动机、</a:t>
            </a:r>
            <a:r>
              <a:rPr sz="900" kern="0" spc="4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需求与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66700" algn="l" rtl="0" eaLnBrk="0">
              <a:lnSpc>
                <a:spcPts val="1085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心理预期。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7423162" y="2576076"/>
            <a:ext cx="1431925" cy="1280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ct val="96000"/>
              </a:lnSpc>
              <a:tabLst/>
            </a:pPr>
            <a:r>
              <a:rPr sz="1500" b="1" kern="0" spc="-6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识别障碍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100000"/>
              </a:lnSpc>
              <a:spcBef>
                <a:spcPts val="281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找出阻碍用户顺利完成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02564" algn="l" rtl="0" eaLnBrk="0">
              <a:lnSpc>
                <a:spcPct val="97000"/>
              </a:lnSpc>
              <a:spcBef>
                <a:spcPts val="723"/>
              </a:spcBef>
              <a:tabLst/>
            </a:pPr>
            <a:r>
              <a:rPr sz="900" kern="0" spc="4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任务的关键因素，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indent="12700" algn="l" rtl="0" eaLnBrk="0">
              <a:lnSpc>
                <a:spcPct val="165000"/>
              </a:lnSpc>
              <a:spcBef>
                <a:spcPts val="116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如流程复杂、信息缺失、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规则不清或资源不足等。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4508528" y="2582410"/>
            <a:ext cx="1286510" cy="1289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2090" algn="l" rtl="0" eaLnBrk="0">
              <a:lnSpc>
                <a:spcPct val="96000"/>
              </a:lnSpc>
              <a:tabLst/>
            </a:pPr>
            <a:r>
              <a:rPr sz="1500" b="1" kern="0" spc="-6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记录现象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5"/>
              </a:lnSpc>
              <a:spcBef>
                <a:spcPts val="281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客观记录用户的行为、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ts val="1085"/>
              </a:lnSpc>
              <a:spcBef>
                <a:spcPts val="865"/>
              </a:spcBef>
              <a:tabLst/>
            </a:pPr>
            <a:r>
              <a:rPr sz="900" kern="0" spc="3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动作、表情、时间、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ts val="1085"/>
              </a:lnSpc>
              <a:spcBef>
                <a:spcPts val="664"/>
              </a:spcBef>
              <a:tabLst/>
            </a:pPr>
            <a:r>
              <a:rPr sz="900" kern="0" spc="5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等待、</a:t>
            </a:r>
            <a:r>
              <a:rPr sz="900" kern="0" spc="-23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操作路径等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ts val="1247"/>
              </a:lnSpc>
              <a:spcBef>
                <a:spcPts val="4"/>
              </a:spcBef>
              <a:tabLst/>
            </a:pPr>
            <a:r>
              <a:rPr sz="1000" kern="0" spc="-6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可见信息。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2927309" y="2581648"/>
            <a:ext cx="1267460" cy="1274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7490" algn="l" rtl="0" eaLnBrk="0">
              <a:lnSpc>
                <a:spcPct val="95000"/>
              </a:lnSpc>
              <a:tabLst/>
            </a:pPr>
            <a:r>
              <a:rPr sz="1500" b="1" kern="0" spc="-6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进入场景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89000"/>
              </a:lnSpc>
              <a:spcBef>
                <a:spcPts val="275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选择真实使用场景，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899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以用户视角融入环境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0650" algn="l" rtl="0" eaLnBrk="0">
              <a:lnSpc>
                <a:spcPct val="97000"/>
              </a:lnSpc>
              <a:spcBef>
                <a:spcPts val="782"/>
              </a:spcBef>
              <a:tabLst/>
            </a:pPr>
            <a:r>
              <a:rPr sz="900" kern="0" spc="3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减少干扰与引导，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100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自然观察行为流程。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14" name="rect 314"/>
          <p:cNvSpPr/>
          <p:nvPr/>
        </p:nvSpPr>
        <p:spPr>
          <a:xfrm>
            <a:off x="82601" y="101581"/>
            <a:ext cx="571417" cy="635000"/>
          </a:xfrm>
          <a:prstGeom prst="rect">
            <a:avLst/>
          </a:prstGeom>
          <a:solidFill>
            <a:srgbClr val="043FB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6" name="textbox 316"/>
          <p:cNvSpPr/>
          <p:nvPr/>
        </p:nvSpPr>
        <p:spPr>
          <a:xfrm>
            <a:off x="158767" y="285547"/>
            <a:ext cx="4203700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300" b="1" kern="0" spc="40" dirty="0">
                <a:solidFill>
                  <a:srgbClr val="C0E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</a:t>
            </a:r>
            <a:r>
              <a:rPr sz="2300" b="1" kern="0" spc="90" dirty="0">
                <a:solidFill>
                  <a:srgbClr val="C0E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600" b="1" kern="0" spc="4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观察法：发现真实痛点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9023386" y="2576076"/>
            <a:ext cx="1136014" cy="1281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1289" algn="l" rtl="0" eaLnBrk="0">
              <a:lnSpc>
                <a:spcPct val="96000"/>
              </a:lnSpc>
              <a:tabLst/>
            </a:pPr>
            <a:r>
              <a:rPr sz="1500" b="1" kern="0" spc="-60" dirty="0">
                <a:solidFill>
                  <a:srgbClr val="105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提炼痛点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ts val="1088"/>
              </a:lnSpc>
              <a:spcBef>
                <a:spcPts val="274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将核心障碍归纳为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756"/>
              </a:spcBef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高频、不便、低效或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14300" algn="l" rtl="0" eaLnBrk="0">
              <a:lnSpc>
                <a:spcPts val="1085"/>
              </a:lnSpc>
              <a:spcBef>
                <a:spcPts val="722"/>
              </a:spcBef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带来情绪压力的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34315" algn="l" rtl="0" eaLnBrk="0">
              <a:lnSpc>
                <a:spcPts val="1085"/>
              </a:lnSpc>
              <a:tabLst/>
            </a:pPr>
            <a:r>
              <a:rPr sz="900" kern="0" spc="-1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真实痛点。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 320"/>
          <p:cNvSpPr/>
          <p:nvPr/>
        </p:nvSpPr>
        <p:spPr>
          <a:xfrm>
            <a:off x="0" y="0"/>
            <a:ext cx="10617200" cy="5975350"/>
          </a:xfrm>
          <a:prstGeom prst="rect">
            <a:avLst/>
          </a:prstGeom>
          <a:solidFill>
            <a:srgbClr val="F7F8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40345" y="698518"/>
            <a:ext cx="4991145" cy="4464004"/>
          </a:xfrm>
          <a:prstGeom prst="rect">
            <a:avLst/>
          </a:prstGeom>
        </p:spPr>
      </p:pic>
      <p:sp>
        <p:nvSpPr>
          <p:cNvPr id="324" name="textbox 324"/>
          <p:cNvSpPr/>
          <p:nvPr/>
        </p:nvSpPr>
        <p:spPr>
          <a:xfrm>
            <a:off x="1822482" y="2170822"/>
            <a:ext cx="3536950" cy="278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1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以用户为中心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855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从用户的真实需求出发，关注他们的体验与价值。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90"/>
              </a:spcBef>
              <a:tabLst/>
            </a:pPr>
            <a:r>
              <a:rPr sz="1300" kern="0" spc="1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强调同理心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836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设身处地理解用户的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情境、情感与痛点，建立深层洞察。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9"/>
              </a:spcBef>
              <a:tabLst/>
            </a:pPr>
            <a:r>
              <a:rPr sz="1300" kern="0" spc="3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鼓励发散与迭代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806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广泛探索多种可能，快速验证与优化，持续迭代改进。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8"/>
              </a:spcBef>
              <a:tabLst/>
            </a:pPr>
            <a:r>
              <a:rPr sz="1300" b="1" kern="0" spc="1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面向真实问题提出解决方案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聚焦有意义的真实问题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，提出可落地、可衡量的解决方案。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438171" y="920741"/>
            <a:ext cx="4845684" cy="1060450"/>
          </a:xfrm>
          <a:prstGeom prst="rect">
            <a:avLst/>
          </a:prstGeom>
          <a:solidFill>
            <a:srgbClr val="F2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9715" indent="1905" algn="l" rtl="0" eaLnBrk="0">
              <a:lnSpc>
                <a:spcPct val="126000"/>
              </a:lnSpc>
              <a:spcBef>
                <a:spcPts val="2"/>
              </a:spcBef>
              <a:tabLst/>
            </a:pPr>
            <a:r>
              <a:rPr sz="1300" b="1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</a:t>
            </a:r>
            <a:r>
              <a:rPr sz="1300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b="1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</a:t>
            </a:r>
            <a:r>
              <a:rPr sz="1300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b="1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</a:t>
            </a:r>
            <a:r>
              <a:rPr sz="1300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b="1" kern="0" spc="0" dirty="0">
                <a:solidFill>
                  <a:srgbClr val="0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是一种以人为本的创新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方法论，通过理解用户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需求、激发创造力、快速原型与迭代，连接“需求一创意一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实现”,最终提出可行且有价值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的解决方案。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450806" y="5238768"/>
            <a:ext cx="9664731" cy="514358"/>
            <a:chOff x="0" y="0"/>
            <a:chExt cx="9664731" cy="514358"/>
          </a:xfrm>
        </p:grpSpPr>
        <p:pic>
          <p:nvPicPr>
            <p:cNvPr id="328" name="picture 3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9664731" cy="514358"/>
            </a:xfrm>
            <a:prstGeom prst="rect">
              <a:avLst/>
            </a:prstGeom>
          </p:spPr>
        </p:pic>
        <p:sp>
          <p:nvSpPr>
            <p:cNvPr id="330" name="textbox 330"/>
            <p:cNvSpPr/>
            <p:nvPr/>
          </p:nvSpPr>
          <p:spPr>
            <a:xfrm>
              <a:off x="-12700" y="-12700"/>
              <a:ext cx="9690734" cy="558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96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36114" algn="l" rtl="0" eaLnBrk="0">
                <a:lnSpc>
                  <a:spcPct val="92000"/>
                </a:lnSpc>
                <a:tabLst/>
              </a:pPr>
              <a:r>
                <a:rPr sz="1700" kern="0" spc="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设计思维不是凭空想象，</a:t>
              </a:r>
              <a:r>
                <a:rPr sz="1700" b="1" kern="0" spc="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而是在理解用户基础上的创造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21600000">
            <a:off x="463546" y="2146286"/>
            <a:ext cx="1231913" cy="2863865"/>
            <a:chOff x="0" y="0"/>
            <a:chExt cx="1231913" cy="2863865"/>
          </a:xfrm>
        </p:grpSpPr>
        <p:pic>
          <p:nvPicPr>
            <p:cNvPr id="332" name="picture 3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231913" cy="2863865"/>
            </a:xfrm>
            <a:prstGeom prst="rect">
              <a:avLst/>
            </a:prstGeom>
          </p:spPr>
        </p:pic>
        <p:sp>
          <p:nvSpPr>
            <p:cNvPr id="334" name="textbox 334"/>
            <p:cNvSpPr/>
            <p:nvPr/>
          </p:nvSpPr>
          <p:spPr>
            <a:xfrm>
              <a:off x="-12700" y="-12700"/>
              <a:ext cx="1257935" cy="29356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51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4300" algn="l" rtl="0" eaLnBrk="0">
                <a:lnSpc>
                  <a:spcPct val="77000"/>
                </a:lnSpc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0964" algn="l" rtl="0" eaLnBrk="0">
                <a:lnSpc>
                  <a:spcPct val="77000"/>
                </a:lnSpc>
                <a:spcBef>
                  <a:spcPts val="666"/>
                </a:spcBef>
                <a:tabLst/>
              </a:pPr>
              <a:r>
                <a:rPr sz="22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  <a:endParaRPr sz="22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79000"/>
                </a:lnSpc>
                <a:spcBef>
                  <a:spcPts val="3"/>
                </a:spcBef>
                <a:tabLst/>
              </a:pP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  <a:endParaRPr sz="15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336" name="picture 3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347" y="139703"/>
            <a:ext cx="596898" cy="577875"/>
          </a:xfrm>
          <a:prstGeom prst="rect">
            <a:avLst/>
          </a:prstGeom>
        </p:spPr>
      </p:pic>
      <p:sp>
        <p:nvSpPr>
          <p:cNvPr id="338" name="textbox 338"/>
          <p:cNvSpPr/>
          <p:nvPr/>
        </p:nvSpPr>
        <p:spPr>
          <a:xfrm>
            <a:off x="190513" y="311002"/>
            <a:ext cx="2783839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3000" kern="0" spc="0" dirty="0">
                <a:solidFill>
                  <a:srgbClr val="D0F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    </a:t>
            </a: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设计思维基础</a:t>
            </a:r>
            <a:endParaRPr sz="2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 rot="21600000">
            <a:off x="279444" y="1797026"/>
            <a:ext cx="7899303" cy="1879606"/>
            <a:chOff x="0" y="0"/>
            <a:chExt cx="7899303" cy="1879606"/>
          </a:xfrm>
        </p:grpSpPr>
        <p:pic>
          <p:nvPicPr>
            <p:cNvPr id="340" name="picture 3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899303" cy="1879606"/>
            </a:xfrm>
            <a:prstGeom prst="rect">
              <a:avLst/>
            </a:prstGeom>
          </p:spPr>
        </p:pic>
        <p:sp>
          <p:nvSpPr>
            <p:cNvPr id="342" name="textbox 342"/>
            <p:cNvSpPr/>
            <p:nvPr/>
          </p:nvSpPr>
          <p:spPr>
            <a:xfrm>
              <a:off x="-12700" y="-12700"/>
              <a:ext cx="7924800" cy="19329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8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09164" algn="l" rtl="0" eaLnBrk="0">
                <a:lnSpc>
                  <a:spcPct val="94000"/>
                </a:lnSpc>
                <a:spcBef>
                  <a:spcPts val="1"/>
                </a:spcBef>
                <a:tabLst/>
              </a:pPr>
              <a:r>
                <a:rPr sz="2400" kern="0" spc="-10" dirty="0">
                  <a:solidFill>
                    <a:srgbClr val="5080F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②</a:t>
              </a:r>
              <a:endParaRPr sz="24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488315" algn="l" rtl="0" eaLnBrk="0">
                <a:lnSpc>
                  <a:spcPts val="1944"/>
                </a:lnSpc>
                <a:tabLst/>
              </a:pPr>
              <a:r>
                <a:rPr sz="1600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共情</a:t>
              </a:r>
              <a:r>
                <a:rPr sz="1600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</a:t>
              </a: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</a:t>
              </a: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定义</a:t>
              </a:r>
              <a:r>
                <a:rPr sz="16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</a:t>
              </a:r>
              <a:r>
                <a:rPr sz="15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创意</a:t>
              </a:r>
              <a:r>
                <a:rPr sz="15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</a:t>
              </a:r>
              <a:r>
                <a:rPr sz="15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原型</a:t>
              </a:r>
              <a:r>
                <a:rPr sz="1500" kern="0" spc="5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</a:t>
              </a:r>
              <a:r>
                <a:rPr sz="1500" kern="0" spc="-20" dirty="0">
                  <a:solidFill>
                    <a:srgbClr val="D0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测</a:t>
              </a:r>
              <a:r>
                <a:rPr sz="15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试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349199" y="5156189"/>
            <a:ext cx="10001296" cy="596937"/>
            <a:chOff x="0" y="0"/>
            <a:chExt cx="10001296" cy="596937"/>
          </a:xfrm>
        </p:grpSpPr>
        <p:pic>
          <p:nvPicPr>
            <p:cNvPr id="344" name="picture 3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001296" cy="596937"/>
            </a:xfrm>
            <a:prstGeom prst="rect">
              <a:avLst/>
            </a:prstGeom>
          </p:spPr>
        </p:pic>
        <p:sp>
          <p:nvSpPr>
            <p:cNvPr id="346" name="textbox 346"/>
            <p:cNvSpPr/>
            <p:nvPr/>
          </p:nvSpPr>
          <p:spPr>
            <a:xfrm>
              <a:off x="-12700" y="-12700"/>
              <a:ext cx="10027284" cy="6394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4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74700" algn="l" rtl="0" eaLnBrk="0">
                <a:lnSpc>
                  <a:spcPct val="92000"/>
                </a:lnSpc>
                <a:tabLst/>
              </a:pPr>
              <a:r>
                <a:rPr sz="1500" kern="0" spc="-30" dirty="0">
                  <a:solidFill>
                    <a:srgbClr val="003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从理解用户到验证方案，设计思维帮助</a:t>
              </a:r>
              <a:r>
                <a:rPr sz="1500" kern="0" spc="-40" dirty="0">
                  <a:solidFill>
                    <a:srgbClr val="003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团队更高效推进创新项目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48" name="textbox 348"/>
          <p:cNvSpPr/>
          <p:nvPr/>
        </p:nvSpPr>
        <p:spPr>
          <a:xfrm>
            <a:off x="8547058" y="1689112"/>
            <a:ext cx="1804035" cy="3220085"/>
          </a:xfrm>
          <a:prstGeom prst="rect">
            <a:avLst/>
          </a:prstGeom>
          <a:solidFill>
            <a:srgbClr val="F3F5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404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500" b="1" kern="0" spc="-1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迭代而非线性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85000"/>
              </a:lnSpc>
              <a:spcBef>
                <a:spcPts val="368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设计思维不是严格的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52400" algn="l" rtl="0" eaLnBrk="0">
              <a:lnSpc>
                <a:spcPts val="1793"/>
              </a:lnSpc>
              <a:tabLst/>
            </a:pP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线性流程，</a:t>
            </a:r>
            <a:r>
              <a:rPr sz="1200" kern="0" spc="-8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而是一个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52400" algn="l" rtl="0" eaLnBrk="0">
              <a:lnSpc>
                <a:spcPct val="96000"/>
              </a:lnSpc>
              <a:spcBef>
                <a:spcPts val="585"/>
              </a:spcBef>
              <a:tabLst/>
            </a:pPr>
            <a:r>
              <a:rPr sz="1200" kern="0" spc="-10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不断迭代的循环过程。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9565" indent="-177164" algn="l" rtl="0" eaLnBrk="0">
              <a:lnSpc>
                <a:spcPct val="112000"/>
              </a:lnSpc>
              <a:spcBef>
                <a:spcPts val="333"/>
              </a:spcBef>
              <a:tabLst/>
            </a:pPr>
            <a:r>
              <a:rPr sz="1100" kern="0" spc="-7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-7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在任意阶段都可能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回到前一步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29565" indent="-177164" algn="l" rtl="0" eaLnBrk="0">
              <a:lnSpc>
                <a:spcPct val="112000"/>
              </a:lnSpc>
              <a:spcBef>
                <a:spcPts val="835"/>
              </a:spcBef>
              <a:tabLst/>
            </a:pPr>
            <a:r>
              <a:rPr sz="1100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通过反馈发现新问题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与新机会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29565" indent="-177164" algn="l" rtl="0" eaLnBrk="0">
              <a:lnSpc>
                <a:spcPct val="115000"/>
              </a:lnSpc>
              <a:spcBef>
                <a:spcPts val="3"/>
              </a:spcBef>
              <a:tabLst/>
            </a:pPr>
            <a:r>
              <a:rPr sz="1100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持续迭代，直到找到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最优解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342935" y="831828"/>
            <a:ext cx="7581849" cy="723913"/>
            <a:chOff x="0" y="0"/>
            <a:chExt cx="7581849" cy="723913"/>
          </a:xfrm>
        </p:grpSpPr>
        <p:pic>
          <p:nvPicPr>
            <p:cNvPr id="350" name="picture 3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7581849" cy="723913"/>
            </a:xfrm>
            <a:prstGeom prst="rect">
              <a:avLst/>
            </a:prstGeom>
          </p:spPr>
        </p:pic>
        <p:sp>
          <p:nvSpPr>
            <p:cNvPr id="352" name="textbox 352"/>
            <p:cNvSpPr/>
            <p:nvPr/>
          </p:nvSpPr>
          <p:spPr>
            <a:xfrm>
              <a:off x="-12700" y="-12700"/>
              <a:ext cx="7607300" cy="7708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70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16280" indent="-12064" algn="l" rtl="0" eaLnBrk="0">
                <a:lnSpc>
                  <a:spcPct val="121000"/>
                </a:lnSpc>
                <a:tabLst/>
              </a:pPr>
              <a:r>
                <a:rPr sz="1300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设计思维以用户为中心，强调共情、定义问题</a:t>
              </a:r>
              <a:r>
                <a:rPr sz="1300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、激发创意、快速原型与持续测试，</a:t>
              </a:r>
              <a:r>
                <a:rPr sz="13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   </a:t>
              </a:r>
              <a:r>
                <a:rPr sz="1300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通过迭代优化找到真正有价值、可行且可持续的解决方案。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54" name="picture 3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1606" y="101581"/>
            <a:ext cx="596898" cy="603271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165138" y="230887"/>
            <a:ext cx="351282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600" b="1" kern="0" spc="30" baseline="-3397" dirty="0">
                <a:solidFill>
                  <a:srgbClr val="D0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</a:t>
            </a:r>
            <a:r>
              <a:rPr sz="2900" b="1" kern="0" spc="30" dirty="0">
                <a:solidFill>
                  <a:srgbClr val="D0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3000" b="1" kern="0" spc="3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设计思维五步法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6889753" y="3808576"/>
            <a:ext cx="1421764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2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8915" indent="-196214" algn="l" rtl="0" eaLnBrk="0">
              <a:lnSpc>
                <a:spcPct val="125000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收集用户反馈，</a:t>
            </a:r>
            <a:r>
              <a:rPr sz="1000" kern="0" spc="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</a:t>
            </a:r>
            <a:r>
              <a:rPr sz="1000" kern="0" spc="-1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</a:t>
            </a:r>
            <a:r>
              <a:rPr sz="1000" kern="0" spc="-1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并持续优化迭代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342870" y="3815562"/>
            <a:ext cx="1327785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700" indent="-254000" algn="l" rtl="0" eaLnBrk="0">
              <a:lnSpc>
                <a:spcPct val="117000"/>
              </a:lnSpc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深入理解用户的需求、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动机与痛点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3670300" y="3814970"/>
            <a:ext cx="1326514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100" kern="0" spc="-7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发散思维，产生多样化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2385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的解决方案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5302270" y="3821304"/>
            <a:ext cx="1320800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20" rIns="0" bIns="0"/>
          <a:lstStyle/>
          <a:p>
            <a:pPr marL="227965" indent="-215265" algn="l" rtl="0" eaLnBrk="0">
              <a:lnSpc>
                <a:spcPct val="116000"/>
              </a:lnSpc>
              <a:spcBef>
                <a:spcPts val="4"/>
              </a:spcBef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快速构建低保真原型，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将想法可视化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2038330" y="3808576"/>
            <a:ext cx="1186814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确核心问题，聚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焦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100" kern="0" spc="-9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</a:t>
            </a:r>
            <a:r>
              <a:rPr sz="1100" kern="0" spc="-8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正值得解决的机</a:t>
            </a:r>
            <a:r>
              <a:rPr sz="1100" kern="0" spc="-7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3111517" y="4792737"/>
            <a:ext cx="224853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kern="0" spc="-3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基于反馈不断迭代，持续改</a:t>
            </a:r>
            <a:r>
              <a:rPr sz="1200" kern="0" spc="-4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进方案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picture 3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097" y="3149607"/>
            <a:ext cx="3371810" cy="1847817"/>
          </a:xfrm>
          <a:prstGeom prst="rect">
            <a:avLst/>
          </a:prstGeom>
        </p:spPr>
      </p:pic>
      <p:graphicFrame>
        <p:nvGraphicFramePr>
          <p:cNvPr id="374" name="table 374"/>
          <p:cNvGraphicFramePr>
            <a:graphicFrameLocks noGrp="1"/>
          </p:cNvGraphicFramePr>
          <p:nvPr/>
        </p:nvGraphicFramePr>
        <p:xfrm>
          <a:off x="269899" y="993752"/>
          <a:ext cx="3282314" cy="3016249"/>
        </p:xfrm>
        <a:graphic>
          <a:graphicData uri="http://schemas.openxmlformats.org/drawingml/2006/table">
            <a:tbl>
              <a:tblPr/>
              <a:tblGrid>
                <a:gridCol w="593090"/>
                <a:gridCol w="2689225"/>
              </a:tblGrid>
              <a:tr h="593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17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b="1" kern="0" spc="4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食堂排队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b="1" kern="0" spc="1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现象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用餐高峰期学生集中排队，队</a:t>
                      </a:r>
                      <a:r>
                        <a:rPr sz="900" kern="0" spc="2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伍长、等待久。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104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痛点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耗时较长，体验差；错</a:t>
                      </a:r>
                      <a:r>
                        <a:rPr sz="900" kern="0" spc="2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峰就餐信息不透明。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机会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ct val="12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通过预测、预约与错峰引导，</a:t>
                      </a:r>
                      <a:r>
                        <a:rPr sz="900" kern="0" spc="3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</a:t>
                      </a:r>
                      <a:r>
                        <a:rPr sz="900" kern="0" spc="2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化就餐流程，</a:t>
                      </a:r>
                      <a:r>
                        <a:rPr sz="900" kern="0" spc="-1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900" kern="0" spc="4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提升效率与体验。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6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3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76" name="picture 3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92927" y="3143273"/>
            <a:ext cx="3276572" cy="1771631"/>
          </a:xfrm>
          <a:prstGeom prst="rect">
            <a:avLst/>
          </a:prstGeom>
        </p:spPr>
      </p:pic>
      <p:graphicFrame>
        <p:nvGraphicFramePr>
          <p:cNvPr id="378" name="table 378"/>
          <p:cNvGraphicFramePr>
            <a:graphicFrameLocks noGrp="1"/>
          </p:cNvGraphicFramePr>
          <p:nvPr/>
        </p:nvGraphicFramePr>
        <p:xfrm>
          <a:off x="7115126" y="993752"/>
          <a:ext cx="3187700" cy="3028949"/>
        </p:xfrm>
        <a:graphic>
          <a:graphicData uri="http://schemas.openxmlformats.org/drawingml/2006/table">
            <a:tbl>
              <a:tblPr/>
              <a:tblGrid>
                <a:gridCol w="612775"/>
                <a:gridCol w="1670050"/>
                <a:gridCol w="904875"/>
              </a:tblGrid>
              <a:tr h="593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b="1" kern="0" spc="2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校园快递领取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1040D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现象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000" kern="0" spc="-30" dirty="0">
                          <a:solidFill>
                            <a:srgbClr val="2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快递数量大、分布散，取件流程繁琐。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痛点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000" kern="0" spc="-3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排队久、易错取漏取，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通知不及时</a:t>
                      </a:r>
                      <a:r>
                        <a:rPr sz="1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9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机会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11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整合通知、导航、</a:t>
                      </a:r>
                      <a:r>
                        <a:rPr sz="1000" kern="0" spc="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预约与自助</a:t>
                      </a:r>
                      <a:r>
                        <a:rPr sz="1000" kern="0" spc="-1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取件，提高取  </a:t>
                      </a:r>
                      <a:r>
                        <a:rPr sz="1000" kern="0" spc="-10" dirty="0">
                          <a:solidFill>
                            <a:srgbClr val="202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件效率与准确率。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 gridSpan="2"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650"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75"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0" name="picture 3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46491" y="3149606"/>
            <a:ext cx="3086101" cy="1765297"/>
          </a:xfrm>
          <a:prstGeom prst="rect">
            <a:avLst/>
          </a:prstGeom>
        </p:spPr>
      </p:pic>
      <p:graphicFrame>
        <p:nvGraphicFramePr>
          <p:cNvPr id="382" name="table 382"/>
          <p:cNvGraphicFramePr>
            <a:graphicFrameLocks noGrp="1"/>
          </p:cNvGraphicFramePr>
          <p:nvPr/>
        </p:nvGraphicFramePr>
        <p:xfrm>
          <a:off x="3749686" y="993752"/>
          <a:ext cx="3155314" cy="2965449"/>
        </p:xfrm>
        <a:graphic>
          <a:graphicData uri="http://schemas.openxmlformats.org/drawingml/2006/table">
            <a:tbl>
              <a:tblPr/>
              <a:tblGrid>
                <a:gridCol w="625475"/>
                <a:gridCol w="82550"/>
                <a:gridCol w="1479550"/>
                <a:gridCol w="742950"/>
                <a:gridCol w="224790"/>
              </a:tblGrid>
              <a:tr h="5937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400" b="1" kern="0" spc="4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图书馆找座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82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现象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图书馆座位紧张，找</a:t>
                      </a:r>
                      <a:r>
                        <a:rPr sz="900" kern="0" spc="2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座难，</a:t>
                      </a:r>
                      <a:r>
                        <a:rPr sz="900" kern="0" spc="2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信息更新不及时。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82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2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痛点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反复寻找浪费时间，学习计划被打断。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5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82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b="1" kern="0" spc="-30" dirty="0">
                          <a:solidFill>
                            <a:srgbClr val="104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机会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提供座位查询、预约与导航服</a:t>
                      </a:r>
                      <a:r>
                        <a:rPr sz="900" kern="0" spc="4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务，提高座位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利用率与学习专注度</a:t>
                      </a:r>
                      <a:r>
                        <a:rPr sz="900" kern="0" spc="-1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 gridSpan="3"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可用虚位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group 32"/>
          <p:cNvGrpSpPr/>
          <p:nvPr/>
        </p:nvGrpSpPr>
        <p:grpSpPr>
          <a:xfrm rot="21600000">
            <a:off x="196842" y="5175250"/>
            <a:ext cx="10223513" cy="546087"/>
            <a:chOff x="0" y="0"/>
            <a:chExt cx="10223513" cy="546087"/>
          </a:xfrm>
        </p:grpSpPr>
        <p:pic>
          <p:nvPicPr>
            <p:cNvPr id="384" name="picture 38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0223513" cy="546087"/>
            </a:xfrm>
            <a:prstGeom prst="rect">
              <a:avLst/>
            </a:prstGeom>
          </p:spPr>
        </p:pic>
        <p:sp>
          <p:nvSpPr>
            <p:cNvPr id="386" name="textbox 386"/>
            <p:cNvSpPr/>
            <p:nvPr/>
          </p:nvSpPr>
          <p:spPr>
            <a:xfrm>
              <a:off x="-12700" y="-12700"/>
              <a:ext cx="10249534" cy="5981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428239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600" b="1" kern="0" spc="-60" dirty="0">
                  <a:solidFill>
                    <a:srgbClr val="1040C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案例分析帮助我们把模糊感受转化为可描述、可讨论、可验证的问题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88" name="picture 3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2601" y="101581"/>
            <a:ext cx="482551" cy="412777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152397" y="170666"/>
            <a:ext cx="7088505" cy="702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100" kern="0" spc="10" dirty="0">
                <a:solidFill>
                  <a:srgbClr val="A0D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2100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300" b="1" kern="0" spc="1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案例拆解：从校园场景</a:t>
            </a:r>
            <a:r>
              <a:rPr sz="2300" b="1" kern="0" spc="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发现创新机会</a:t>
            </a:r>
            <a:r>
              <a:rPr sz="2300" kern="0" spc="-42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&gt;&gt;&gt;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spcBef>
                <a:spcPts val="6"/>
              </a:spcBef>
              <a:tabLst/>
            </a:pPr>
            <a:r>
              <a:rPr sz="1300" kern="0" spc="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将日常不便转化为项目机会，是双创学习的</a:t>
            </a:r>
            <a:r>
              <a:rPr sz="1300" kern="0" spc="2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重要起点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30699" y="1035050"/>
            <a:ext cx="514297" cy="514358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00056" y="1041384"/>
            <a:ext cx="444542" cy="514358"/>
          </a:xfrm>
          <a:prstGeom prst="rect">
            <a:avLst/>
          </a:prstGeom>
        </p:spPr>
      </p:pic>
      <p:pic>
        <p:nvPicPr>
          <p:cNvPr id="396" name="picture 3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270764" y="1047777"/>
            <a:ext cx="425431" cy="5016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picture 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86437" y="895347"/>
            <a:ext cx="4775192" cy="4070348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279444" y="889012"/>
            <a:ext cx="3352805" cy="4076682"/>
            <a:chOff x="0" y="0"/>
            <a:chExt cx="3352805" cy="4076682"/>
          </a:xfrm>
        </p:grpSpPr>
        <p:pic>
          <p:nvPicPr>
            <p:cNvPr id="400" name="picture 4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352805" cy="4076682"/>
            </a:xfrm>
            <a:prstGeom prst="rect">
              <a:avLst/>
            </a:prstGeom>
          </p:spPr>
        </p:pic>
        <p:sp>
          <p:nvSpPr>
            <p:cNvPr id="402" name="textbox 402"/>
            <p:cNvSpPr/>
            <p:nvPr/>
          </p:nvSpPr>
          <p:spPr>
            <a:xfrm>
              <a:off x="-12700" y="-12700"/>
              <a:ext cx="3378834" cy="41160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4965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200" kern="0" spc="-30" dirty="0">
                  <a:solidFill>
                    <a:srgbClr val="0040D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200" kern="0" spc="-3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帮你理清思路，聚焦真正有价值的问题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21600000">
            <a:off x="165097" y="5187978"/>
            <a:ext cx="10287004" cy="654002"/>
            <a:chOff x="0" y="0"/>
            <a:chExt cx="10287004" cy="654002"/>
          </a:xfrm>
        </p:grpSpPr>
        <p:pic>
          <p:nvPicPr>
            <p:cNvPr id="404" name="picture 4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287004" cy="654002"/>
            </a:xfrm>
            <a:prstGeom prst="rect">
              <a:avLst/>
            </a:prstGeom>
          </p:spPr>
        </p:pic>
        <p:sp>
          <p:nvSpPr>
            <p:cNvPr id="406" name="textbox 406"/>
            <p:cNvSpPr/>
            <p:nvPr/>
          </p:nvSpPr>
          <p:spPr>
            <a:xfrm>
              <a:off x="-12700" y="-12700"/>
              <a:ext cx="10313034" cy="6965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43300" algn="l" rtl="0" eaLnBrk="0">
                <a:lnSpc>
                  <a:spcPct val="92000"/>
                </a:lnSpc>
                <a:spcBef>
                  <a:spcPts val="6"/>
                </a:spcBef>
                <a:tabLst/>
              </a:pPr>
              <a:r>
                <a:rPr sz="1500" b="1" kern="0" spc="0" dirty="0">
                  <a:solidFill>
                    <a:srgbClr val="0040D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500" b="1" kern="0" spc="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是辅助工具，不替代真实观察与判断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408" name="textbox 408"/>
          <p:cNvSpPr/>
          <p:nvPr/>
        </p:nvSpPr>
        <p:spPr>
          <a:xfrm>
            <a:off x="5854683" y="1362944"/>
            <a:ext cx="1725295" cy="3363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400" b="1" kern="0" spc="-8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问题收集与提炼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0000"/>
              </a:lnSpc>
              <a:spcBef>
                <a:spcPts val="333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从大量观察记录中提炼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出关键问题点，去除冗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余信息，聚焦核心问题。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392"/>
              </a:spcBef>
              <a:tabLst/>
            </a:pPr>
            <a:r>
              <a:rPr sz="1300" b="1" kern="0" spc="1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需求关键词总结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2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提取并总结高频关键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词，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洞察用户关注点，帮助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快速把握需求本质。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8197898" y="1362233"/>
            <a:ext cx="1619885" cy="3362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400" b="1" kern="0" spc="-7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相似问题归类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2000"/>
              </a:lnSpc>
              <a:spcBef>
                <a:spcPts val="332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识别问题之间的相似性，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自动归类整理，形成清晰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的问题结构与分组。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430"/>
              </a:spcBef>
              <a:tabLst/>
            </a:pPr>
            <a:r>
              <a:rPr sz="1400" b="1" kern="0" spc="-6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机会方向生成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36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基于问题与需求，智能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31000"/>
              </a:lnSpc>
              <a:spcBef>
                <a:spcPts val="86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生成潜在机会方向，激发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创新思路与解决方案。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3930699" y="831829"/>
            <a:ext cx="1162052" cy="4121198"/>
            <a:chOff x="0" y="0"/>
            <a:chExt cx="1162052" cy="4121198"/>
          </a:xfrm>
        </p:grpSpPr>
        <p:pic>
          <p:nvPicPr>
            <p:cNvPr id="412" name="picture 4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162052" cy="4121198"/>
            </a:xfrm>
            <a:prstGeom prst="rect">
              <a:avLst/>
            </a:prstGeom>
          </p:spPr>
        </p:pic>
        <p:sp>
          <p:nvSpPr>
            <p:cNvPr id="414" name="textbox 414"/>
            <p:cNvSpPr/>
            <p:nvPr/>
          </p:nvSpPr>
          <p:spPr>
            <a:xfrm>
              <a:off x="-12700" y="-12700"/>
              <a:ext cx="1188085" cy="41662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27355" algn="l" rtl="0" eaLnBrk="0">
                <a:lnSpc>
                  <a:spcPct val="96000"/>
                </a:lnSpc>
                <a:spcBef>
                  <a:spcPts val="7"/>
                </a:spcBef>
                <a:tabLst/>
              </a:pPr>
              <a:r>
                <a:rPr sz="1400" b="1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输入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291465" algn="l" rtl="0" eaLnBrk="0">
                <a:lnSpc>
                  <a:spcPct val="96000"/>
                </a:lnSpc>
                <a:spcBef>
                  <a:spcPts val="100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观察记录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02564" algn="l" rtl="0" eaLnBrk="0">
                <a:lnSpc>
                  <a:spcPct val="96000"/>
                </a:lnSpc>
                <a:spcBef>
                  <a:spcPts val="391"/>
                </a:spcBef>
                <a:tabLst/>
              </a:pPr>
              <a:r>
                <a:rPr sz="1300" b="1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300" b="1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整理分析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21005" algn="l" rtl="0" eaLnBrk="0">
                <a:lnSpc>
                  <a:spcPct val="96000"/>
                </a:lnSpc>
                <a:spcBef>
                  <a:spcPts val="390"/>
                </a:spcBef>
                <a:tabLst/>
              </a:pPr>
              <a:r>
                <a:rPr sz="1300" b="1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输出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04165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1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问题清单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16" name="picture 4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750" y="88913"/>
            <a:ext cx="603269" cy="603211"/>
          </a:xfrm>
          <a:prstGeom prst="rect">
            <a:avLst/>
          </a:prstGeom>
        </p:spPr>
      </p:pic>
      <p:sp>
        <p:nvSpPr>
          <p:cNvPr id="418" name="textbox 418"/>
          <p:cNvSpPr/>
          <p:nvPr/>
        </p:nvSpPr>
        <p:spPr>
          <a:xfrm>
            <a:off x="114281" y="216225"/>
            <a:ext cx="4332604" cy="439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3000" b="1" kern="0" spc="0" dirty="0">
                <a:solidFill>
                  <a:srgbClr val="A0D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r>
              <a:rPr sz="3000" b="1" kern="0" spc="160" dirty="0">
                <a:solidFill>
                  <a:srgbClr val="A0D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辅助问题整理与归类</a:t>
            </a:r>
            <a:endParaRPr sz="2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606" y="101580"/>
            <a:ext cx="615903" cy="539753"/>
          </a:xfrm>
          <a:prstGeom prst="rect">
            <a:avLst/>
          </a:prstGeom>
        </p:spPr>
      </p:pic>
      <p:sp>
        <p:nvSpPr>
          <p:cNvPr id="424" name="textbox 424"/>
          <p:cNvSpPr/>
          <p:nvPr/>
        </p:nvSpPr>
        <p:spPr>
          <a:xfrm>
            <a:off x="196883" y="164905"/>
            <a:ext cx="6449695" cy="1094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4000" kern="0" spc="-60" baseline="-11719" dirty="0">
                <a:solidFill>
                  <a:srgbClr val="A0D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</a:t>
            </a:r>
            <a:r>
              <a:rPr sz="2600" kern="0" spc="-60" dirty="0">
                <a:solidFill>
                  <a:srgbClr val="A0D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6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课堂讨论：你最想解决什么问题?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64515" algn="l" rtl="0" eaLnBrk="0">
              <a:lnSpc>
                <a:spcPct val="92000"/>
              </a:lnSpc>
              <a:spcBef>
                <a:spcPts val="4"/>
              </a:spcBef>
              <a:tabLst>
                <a:tab pos="75120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围绕真实学习与生活场景，发现问题、分析问题、提出可能的改进与创新方向。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426" name="picture 4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9060" y="920741"/>
            <a:ext cx="342935" cy="311136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37535" y="285741"/>
            <a:ext cx="387315" cy="203221"/>
          </a:xfrm>
          <a:prstGeom prst="rect">
            <a:avLst/>
          </a:prstGeom>
        </p:spPr>
      </p:pic>
      <p:sp>
        <p:nvSpPr>
          <p:cNvPr id="430" name="textbox 430"/>
          <p:cNvSpPr/>
          <p:nvPr/>
        </p:nvSpPr>
        <p:spPr>
          <a:xfrm>
            <a:off x="1513722" y="2175711"/>
            <a:ext cx="2052954" cy="2358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你最近在校园或生活中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693"/>
              </a:spcBef>
              <a:tabLst/>
            </a:pP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遇到过哪些高频低效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问题?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4"/>
              </a:spcBef>
              <a:tabLst/>
            </a:pPr>
            <a:r>
              <a:rPr sz="1400" b="1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如果从你的专业视角出发，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260"/>
              </a:lnSpc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你能提出什么改进方向?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432" name="picture 4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75584" y="3416286"/>
            <a:ext cx="2724160" cy="1676384"/>
          </a:xfrm>
          <a:prstGeom prst="rect">
            <a:avLst/>
          </a:prstGeom>
        </p:spPr>
      </p:pic>
      <p:sp>
        <p:nvSpPr>
          <p:cNvPr id="434" name="textbox 434"/>
          <p:cNvSpPr/>
          <p:nvPr/>
        </p:nvSpPr>
        <p:spPr>
          <a:xfrm>
            <a:off x="5111797" y="2176244"/>
            <a:ext cx="1735454" cy="2358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哪个问题最值得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96000"/>
              </a:lnSpc>
              <a:spcBef>
                <a:spcPts val="688"/>
              </a:spcBef>
              <a:tabLst/>
            </a:pP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优先解决?为什么?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1"/>
              </a:spcBef>
              <a:tabLst/>
            </a:pP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工具可以在哪些环节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ts val="2355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提供帮助?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8293134" y="1552462"/>
            <a:ext cx="1574800" cy="1725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tabLst/>
            </a:pPr>
            <a:r>
              <a:rPr sz="1300" b="1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聚焦真实场景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5000"/>
              </a:lnSpc>
              <a:spcBef>
                <a:spcPts val="629"/>
              </a:spcBef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学习、校园、生活中选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题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401"/>
              </a:spcBef>
              <a:tabLst/>
            </a:pPr>
            <a:r>
              <a:rPr sz="1300" b="1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说清问题对象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679"/>
              </a:spcBef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明确影响人群与具体情境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4604" algn="l" rtl="0" eaLnBrk="0">
              <a:lnSpc>
                <a:spcPct val="95000"/>
              </a:lnSpc>
              <a:spcBef>
                <a:spcPts val="1586"/>
              </a:spcBef>
              <a:tabLst/>
            </a:pPr>
            <a:r>
              <a:rPr sz="1300" b="1" kern="0" spc="-7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尝试提出原因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思考问题背后的关键因素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1282704" y="5443997"/>
            <a:ext cx="8345169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800" kern="0" spc="0" baseline="2893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分享与倾听</a:t>
            </a:r>
            <a:r>
              <a:rPr sz="11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100" kern="0" spc="-1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baseline="2893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多角度交流</a:t>
            </a:r>
            <a:r>
              <a:rPr sz="1100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800" kern="0" spc="-10" baseline="2893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汇聚思路</a:t>
            </a:r>
            <a:r>
              <a:rPr sz="1100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200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激发创新</a:t>
            </a:r>
            <a:r>
              <a:rPr sz="1200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</a:t>
            </a:r>
            <a:r>
              <a:rPr sz="1400" b="1" kern="0" spc="-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每一个好问题，都是创新的起点!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102060" y="1619260"/>
            <a:ext cx="882714" cy="1174754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102060" y="3467077"/>
            <a:ext cx="869973" cy="1174753"/>
          </a:xfrm>
          <a:prstGeom prst="rect">
            <a:avLst/>
          </a:prstGeom>
        </p:spPr>
      </p:pic>
      <p:pic>
        <p:nvPicPr>
          <p:cNvPr id="444" name="picture 4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0667" y="1625593"/>
            <a:ext cx="863603" cy="1168420"/>
          </a:xfrm>
          <a:prstGeom prst="rect">
            <a:avLst/>
          </a:prstGeom>
        </p:spPr>
      </p:pic>
      <p:pic>
        <p:nvPicPr>
          <p:cNvPr id="446" name="picture 4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20667" y="3467077"/>
            <a:ext cx="850968" cy="1181147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8051766" y="927075"/>
            <a:ext cx="1778062" cy="393715"/>
            <a:chOff x="0" y="0"/>
            <a:chExt cx="1778062" cy="393715"/>
          </a:xfrm>
        </p:grpSpPr>
        <p:pic>
          <p:nvPicPr>
            <p:cNvPr id="448" name="picture 44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778062" cy="393715"/>
            </a:xfrm>
            <a:prstGeom prst="rect">
              <a:avLst/>
            </a:prstGeom>
          </p:spPr>
        </p:pic>
        <p:sp>
          <p:nvSpPr>
            <p:cNvPr id="450" name="textbox 450"/>
            <p:cNvSpPr/>
            <p:nvPr/>
          </p:nvSpPr>
          <p:spPr>
            <a:xfrm>
              <a:off x="-12700" y="-12700"/>
              <a:ext cx="1804035" cy="4432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13740" algn="l" rtl="0" eaLnBrk="0">
                <a:lnSpc>
                  <a:spcPct val="96000"/>
                </a:lnSpc>
                <a:spcBef>
                  <a:spcPts val="7"/>
                </a:spcBef>
                <a:tabLst/>
              </a:pPr>
              <a:r>
                <a:rPr sz="1400" b="1" kern="0" spc="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讨论提示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52" name="picture 4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708936" y="1536680"/>
            <a:ext cx="457176" cy="450840"/>
          </a:xfrm>
          <a:prstGeom prst="rect">
            <a:avLst/>
          </a:prstGeom>
        </p:spPr>
      </p:pic>
      <p:pic>
        <p:nvPicPr>
          <p:cNvPr id="454" name="picture 45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715200" y="2152679"/>
            <a:ext cx="450912" cy="450840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715200" y="2781286"/>
            <a:ext cx="450912" cy="4445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60" name="textbox 460"/>
          <p:cNvSpPr/>
          <p:nvPr/>
        </p:nvSpPr>
        <p:spPr>
          <a:xfrm>
            <a:off x="171402" y="193344"/>
            <a:ext cx="4408170" cy="467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475"/>
              </a:lnSpc>
              <a:tabLst/>
            </a:pPr>
            <a:r>
              <a:rPr sz="3900" kern="0" spc="60" baseline="-15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2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实践任务：问题卡与机会卡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462" name="textbox 462"/>
          <p:cNvSpPr/>
          <p:nvPr/>
        </p:nvSpPr>
        <p:spPr>
          <a:xfrm>
            <a:off x="1968469" y="1000776"/>
            <a:ext cx="2698114" cy="600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600" b="1" kern="0" spc="-1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任务目标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6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围绕真实场景，形成1张问题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卡和1张机会卡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464" name="textbox 464"/>
          <p:cNvSpPr/>
          <p:nvPr/>
        </p:nvSpPr>
        <p:spPr>
          <a:xfrm>
            <a:off x="8210532" y="780119"/>
            <a:ext cx="1774189" cy="593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-80" dirty="0">
                <a:solidFill>
                  <a:srgbClr val="80A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项目任务板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66"/>
              </a:lnSpc>
              <a:spcBef>
                <a:spcPts val="1"/>
              </a:spcBef>
              <a:tabLst/>
            </a:pPr>
            <a:r>
              <a:rPr sz="1600" kern="0" spc="-40" baseline="-2726" dirty="0">
                <a:solidFill>
                  <a:srgbClr val="80A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问题卡</a:t>
            </a:r>
            <a:r>
              <a:rPr sz="1000" kern="0" spc="30" dirty="0">
                <a:solidFill>
                  <a:srgbClr val="80A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600" kern="0" spc="-40" baseline="3784" dirty="0">
                <a:solidFill>
                  <a:srgbClr val="80A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机会卡</a:t>
            </a:r>
            <a:endParaRPr sz="1600" baseline="3784" dirty="0">
              <a:latin typeface="SimHei"/>
              <a:ea typeface="SimHei"/>
              <a:cs typeface="SimHei"/>
            </a:endParaRPr>
          </a:p>
        </p:txBody>
      </p:sp>
      <p:sp>
        <p:nvSpPr>
          <p:cNvPr id="466" name="textbox 466"/>
          <p:cNvSpPr/>
          <p:nvPr/>
        </p:nvSpPr>
        <p:spPr>
          <a:xfrm>
            <a:off x="3495947" y="5302598"/>
            <a:ext cx="3916679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从观察到表达，是项目启动的第一步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468" name="textbox 468"/>
          <p:cNvSpPr/>
          <p:nvPr/>
        </p:nvSpPr>
        <p:spPr>
          <a:xfrm>
            <a:off x="1968469" y="3427892"/>
            <a:ext cx="1833245" cy="497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6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提交形式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小组提交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页或表单1份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470" name="textbox 470"/>
          <p:cNvSpPr/>
          <p:nvPr/>
        </p:nvSpPr>
        <p:spPr>
          <a:xfrm>
            <a:off x="7531137" y="4276712"/>
            <a:ext cx="91186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1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可行性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spcBef>
                <a:spcPts val="2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机会具备落地思路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或初步方案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72" name="textbox 472"/>
          <p:cNvSpPr/>
          <p:nvPr/>
        </p:nvSpPr>
        <p:spPr>
          <a:xfrm>
            <a:off x="3492462" y="2575352"/>
            <a:ext cx="899794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ct val="96000"/>
              </a:lnSpc>
              <a:tabLst/>
            </a:pPr>
            <a:r>
              <a:rPr sz="11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问题描述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ct val="97000"/>
              </a:lnSpc>
              <a:spcBef>
                <a:spcPts val="746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提炼关键问题，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0"/>
              </a:lnSpc>
              <a:spcBef>
                <a:spcPts val="2"/>
              </a:spcBef>
              <a:tabLst/>
            </a:pPr>
            <a:r>
              <a:rPr sz="800" kern="0" spc="5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用一句话清晰表达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2127302" y="2574933"/>
            <a:ext cx="815975" cy="562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5570" algn="l" rtl="0" eaLnBrk="0">
              <a:lnSpc>
                <a:spcPct val="96000"/>
              </a:lnSpc>
              <a:tabLst/>
            </a:pPr>
            <a:r>
              <a:rPr sz="1100" b="1" kern="0" spc="-5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观察记录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indent="5714" algn="l" rtl="0" eaLnBrk="0">
              <a:lnSpc>
                <a:spcPct val="122000"/>
              </a:lnSpc>
              <a:spcBef>
                <a:spcPts val="2"/>
              </a:spcBef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观察真实场景，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记录现象与细节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76" name="textbox 476"/>
          <p:cNvSpPr/>
          <p:nvPr/>
        </p:nvSpPr>
        <p:spPr>
          <a:xfrm>
            <a:off x="4235453" y="4264045"/>
            <a:ext cx="791209" cy="568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1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清晰度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43000"/>
              </a:lnSpc>
              <a:spcBef>
                <a:spcPts val="1"/>
              </a:spcBef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问题与机会表述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简洁明确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78" name="textbox 478"/>
          <p:cNvSpPr/>
          <p:nvPr/>
        </p:nvSpPr>
        <p:spPr>
          <a:xfrm>
            <a:off x="4902214" y="2575352"/>
            <a:ext cx="796925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8904" algn="l" rtl="0" eaLnBrk="0">
              <a:lnSpc>
                <a:spcPct val="96000"/>
              </a:lnSpc>
              <a:tabLst/>
            </a:pPr>
            <a:r>
              <a:rPr sz="1100" b="1" kern="0" spc="-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原因分析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76529" indent="-164464" algn="l" rtl="0" eaLnBrk="0">
              <a:lnSpc>
                <a:spcPct val="118000"/>
              </a:lnSpc>
              <a:spcBef>
                <a:spcPts val="5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分析问题背后的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可能原因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80" name="textbox 480"/>
          <p:cNvSpPr/>
          <p:nvPr/>
        </p:nvSpPr>
        <p:spPr>
          <a:xfrm>
            <a:off x="2616224" y="4264045"/>
            <a:ext cx="784859" cy="568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1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真实性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48000"/>
              </a:lnSpc>
              <a:spcBef>
                <a:spcPts val="171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基于真实观察，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有具体依据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5911803" y="2593912"/>
            <a:ext cx="794384" cy="543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3670" algn="l" rtl="0" eaLnBrk="0">
              <a:lnSpc>
                <a:spcPts val="1088"/>
              </a:lnSpc>
              <a:tabLst/>
            </a:pPr>
            <a:r>
              <a:rPr sz="900" b="1" kern="0" spc="1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机会表达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2000"/>
              </a:lnSpc>
              <a:spcBef>
                <a:spcPts val="4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基于洞察，提出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可转化的机会点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5911803" y="4270378"/>
            <a:ext cx="784859" cy="549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100" b="1" kern="0" spc="-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逻辑性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spcBef>
                <a:spcPts val="4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原因分析合理，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推导过程清晰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5346650" y="4353576"/>
            <a:ext cx="410844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4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tabLst/>
            </a:pPr>
            <a:r>
              <a:rPr sz="3300" kern="0" spc="-280" dirty="0">
                <a:solidFill>
                  <a:srgbClr val="C0E0FF">
                    <a:alpha val="100000"/>
                  </a:srgbClr>
                </a:solidFill>
                <a:latin typeface="LiSu"/>
                <a:ea typeface="LiSu"/>
                <a:cs typeface="LiSu"/>
              </a:rPr>
              <a:t>品</a:t>
            </a:r>
            <a:endParaRPr sz="3300" dirty="0">
              <a:latin typeface="LiSu"/>
              <a:ea typeface="LiSu"/>
              <a:cs typeface="LiSu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picture 4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 rot="21600000">
            <a:off x="4089426" y="857223"/>
            <a:ext cx="6254699" cy="2597186"/>
            <a:chOff x="0" y="0"/>
            <a:chExt cx="6254699" cy="2597186"/>
          </a:xfrm>
        </p:grpSpPr>
        <p:pic>
          <p:nvPicPr>
            <p:cNvPr id="490" name="picture 49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254699" cy="2597186"/>
            </a:xfrm>
            <a:prstGeom prst="rect">
              <a:avLst/>
            </a:prstGeom>
          </p:spPr>
        </p:pic>
        <p:sp>
          <p:nvSpPr>
            <p:cNvPr id="492" name="textbox 492"/>
            <p:cNvSpPr/>
            <p:nvPr/>
          </p:nvSpPr>
          <p:spPr>
            <a:xfrm>
              <a:off x="-12700" y="-12700"/>
              <a:ext cx="6280150" cy="26454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75204" algn="l" rtl="0" eaLnBrk="0">
                <a:lnSpc>
                  <a:spcPct val="96000"/>
                </a:lnSpc>
                <a:spcBef>
                  <a:spcPts val="7"/>
                </a:spcBef>
                <a:tabLst/>
              </a:pPr>
              <a:r>
                <a:rPr sz="1300" b="1" kern="0" spc="70" dirty="0">
                  <a:solidFill>
                    <a:srgbClr val="003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问题观察记录表示例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494" name="textbox 494"/>
          <p:cNvSpPr/>
          <p:nvPr/>
        </p:nvSpPr>
        <p:spPr>
          <a:xfrm>
            <a:off x="1377940" y="917991"/>
            <a:ext cx="2418079" cy="3933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500" b="1" kern="0" spc="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任务目标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4464" indent="-151764" algn="l" rtl="0" eaLnBrk="0">
              <a:lnSpc>
                <a:spcPct val="118000"/>
              </a:lnSpc>
              <a:spcBef>
                <a:spcPts val="277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●通过观察校园、学习与生活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场景，发现并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记录真实问题；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1000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●为后续问题分析与机会表达形成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基础材料。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454"/>
              </a:spcBef>
              <a:tabLst/>
            </a:pPr>
            <a:r>
              <a:rPr sz="1500" b="1" kern="0" spc="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任务内容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278"/>
              </a:spcBef>
              <a:tabLst/>
            </a:pPr>
            <a:r>
              <a:rPr sz="900" kern="0" spc="3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①</a:t>
            </a:r>
            <a:r>
              <a:rPr sz="900" kern="0" spc="39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选择一个你最熟悉的场景；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853"/>
              </a:spcBef>
              <a:tabLst/>
            </a:pPr>
            <a:r>
              <a:rPr sz="900" kern="0" spc="30" dirty="0">
                <a:solidFill>
                  <a:srgbClr val="005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②</a:t>
            </a:r>
            <a:r>
              <a:rPr sz="900" kern="0" spc="380" dirty="0">
                <a:solidFill>
                  <a:srgbClr val="005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记录至少5个你观察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到的问题；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852"/>
              </a:spcBef>
              <a:tabLst/>
            </a:pPr>
            <a:r>
              <a:rPr sz="900" kern="0" spc="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③</a:t>
            </a:r>
            <a:r>
              <a:rPr sz="900" kern="0" spc="3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拍照或截图记录现象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942"/>
              </a:spcBef>
              <a:tabLst/>
            </a:pPr>
            <a:r>
              <a:rPr sz="900" kern="0" spc="10" dirty="0">
                <a:solidFill>
                  <a:srgbClr val="005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④</a:t>
            </a:r>
            <a:r>
              <a:rPr sz="900" kern="0" spc="10" dirty="0">
                <a:solidFill>
                  <a:srgbClr val="005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用简短语句完成观察记录表。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453"/>
              </a:spcBef>
              <a:tabLst/>
            </a:pPr>
            <a:r>
              <a:rPr sz="1500" b="1" kern="0" spc="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任务要求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41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●真实、具体、可感知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●避免主观臆断。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496" name="table 496"/>
          <p:cNvGraphicFramePr>
            <a:graphicFrameLocks noGrp="1"/>
          </p:cNvGraphicFramePr>
          <p:nvPr/>
        </p:nvGraphicFramePr>
        <p:xfrm>
          <a:off x="4098885" y="3546481"/>
          <a:ext cx="6191250" cy="1416049"/>
        </p:xfrm>
        <a:graphic>
          <a:graphicData uri="http://schemas.openxmlformats.org/drawingml/2006/table">
            <a:tbl>
              <a:tblPr/>
              <a:tblGrid>
                <a:gridCol w="1000125"/>
                <a:gridCol w="1320800"/>
                <a:gridCol w="1308100"/>
                <a:gridCol w="1257300"/>
                <a:gridCol w="1304925"/>
              </a:tblGrid>
              <a:tr h="320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92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场景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9404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发现问题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054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影响对象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可能原因(初步)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6704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证据或照片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图书馆自习区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0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座位紧张，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8900" algn="l" rtl="0" eaLnBrk="0">
                        <a:lnSpc>
                          <a:spcPct val="95000"/>
                        </a:lnSpc>
                        <a:spcBef>
                          <a:spcPts val="26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高峰时难以找到座位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同学(尤其是考试周)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indent="-62864" algn="l" rtl="0" eaLnBrk="0">
                        <a:lnSpc>
                          <a:spcPct val="107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座位数量有限；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学习时段集中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4975" algn="l" rtl="0" eaLnBrk="0">
                        <a:lnSpc>
                          <a:spcPts val="72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1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900" algn="l" rtl="0" eaLnBrk="0">
                        <a:lnSpc>
                          <a:spcPts val="72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0" algn="l" rtl="0" eaLnBrk="0">
                        <a:lnSpc>
                          <a:spcPts val="72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5150" algn="l" rtl="0" eaLnBrk="0">
                        <a:lnSpc>
                          <a:spcPts val="72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4" name="group 44"/>
          <p:cNvGrpSpPr/>
          <p:nvPr/>
        </p:nvGrpSpPr>
        <p:grpSpPr>
          <a:xfrm rot="21600000">
            <a:off x="190472" y="5168916"/>
            <a:ext cx="10185398" cy="615939"/>
            <a:chOff x="0" y="0"/>
            <a:chExt cx="10185398" cy="615939"/>
          </a:xfrm>
        </p:grpSpPr>
        <p:pic>
          <p:nvPicPr>
            <p:cNvPr id="498" name="picture 49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185398" cy="615939"/>
            </a:xfrm>
            <a:prstGeom prst="rect">
              <a:avLst/>
            </a:prstGeom>
          </p:spPr>
        </p:pic>
        <p:sp>
          <p:nvSpPr>
            <p:cNvPr id="500" name="textbox 500"/>
            <p:cNvSpPr/>
            <p:nvPr/>
          </p:nvSpPr>
          <p:spPr>
            <a:xfrm>
              <a:off x="-12700" y="-12699"/>
              <a:ext cx="10210800" cy="6642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146425" algn="l" rtl="0" eaLnBrk="0">
                <a:lnSpc>
                  <a:spcPct val="94000"/>
                </a:lnSpc>
                <a:spcBef>
                  <a:spcPts val="5"/>
                </a:spcBef>
                <a:tabLst/>
              </a:pPr>
              <a:r>
                <a:rPr sz="2000" b="1" kern="0" spc="-1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从真实场景出发，问题发现始于细致观察</a:t>
              </a:r>
              <a:endParaRPr sz="20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502" name="picture 5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7976" y="120642"/>
            <a:ext cx="558783" cy="508024"/>
          </a:xfrm>
          <a:prstGeom prst="rect">
            <a:avLst/>
          </a:prstGeom>
        </p:spPr>
      </p:pic>
      <p:sp>
        <p:nvSpPr>
          <p:cNvPr id="504" name="textbox 504"/>
          <p:cNvSpPr/>
          <p:nvPr/>
        </p:nvSpPr>
        <p:spPr>
          <a:xfrm>
            <a:off x="190513" y="204013"/>
            <a:ext cx="4386579" cy="383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6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3600" kern="0" spc="100" baseline="-13022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</a:t>
            </a:r>
            <a:r>
              <a:rPr sz="2300" kern="0" spc="1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实践任务：问题观察与记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录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506" name="picture 5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7454" y="2540001"/>
            <a:ext cx="895348" cy="908073"/>
          </a:xfrm>
          <a:prstGeom prst="rect">
            <a:avLst/>
          </a:prstGeom>
        </p:spPr>
      </p:pic>
      <p:pic>
        <p:nvPicPr>
          <p:cNvPr id="508" name="picture 5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0194" y="1035050"/>
            <a:ext cx="908088" cy="889012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93206" y="3879854"/>
            <a:ext cx="1117566" cy="673123"/>
          </a:xfrm>
          <a:prstGeom prst="rect">
            <a:avLst/>
          </a:prstGeom>
        </p:spPr>
      </p:pic>
      <p:pic>
        <p:nvPicPr>
          <p:cNvPr id="512" name="picture 5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23824" y="4000496"/>
            <a:ext cx="869973" cy="8636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picture 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516" name="textbox 516"/>
          <p:cNvSpPr/>
          <p:nvPr/>
        </p:nvSpPr>
        <p:spPr>
          <a:xfrm>
            <a:off x="666760" y="666729"/>
            <a:ext cx="7950200" cy="432434"/>
          </a:xfrm>
          <a:prstGeom prst="rect">
            <a:avLst/>
          </a:prstGeom>
          <a:solidFill>
            <a:srgbClr val="F2F6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088639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700" b="1" kern="0" spc="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将观察到的问题进行提炼与分析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18" name="textbox 518"/>
          <p:cNvSpPr/>
          <p:nvPr/>
        </p:nvSpPr>
        <p:spPr>
          <a:xfrm>
            <a:off x="660430" y="3833263"/>
            <a:ext cx="3028950" cy="1077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kern="0" spc="-50" dirty="0">
                <a:solidFill>
                  <a:srgbClr val="0040FF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200" kern="0" spc="-5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</a:t>
            </a:r>
            <a:r>
              <a:rPr sz="1200" kern="0" spc="-20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题</a:t>
            </a:r>
            <a:r>
              <a:rPr sz="1200" kern="0" spc="-23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200" kern="0" spc="-5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打印机少，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高峰期打印时间长；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968"/>
              </a:spcBef>
              <a:tabLst/>
            </a:pP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200" kern="0" spc="240" dirty="0">
                <a:solidFill>
                  <a:srgbClr val="0030D0">
                    <a:alpha val="100000"/>
                  </a:srgbClr>
                </a:solidFill>
                <a:latin typeface="Dotum"/>
                <a:ea typeface="Dotum"/>
                <a:cs typeface="Dotum"/>
              </a:rPr>
              <a:t> 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原因：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设备数量少，分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布不合理；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925"/>
              </a:spcBef>
              <a:tabLst/>
            </a:pP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200" kern="0" spc="290" dirty="0">
                <a:solidFill>
                  <a:srgbClr val="0030D0">
                    <a:alpha val="100000"/>
                  </a:srgbClr>
                </a:solidFill>
                <a:latin typeface="Dotum"/>
                <a:ea typeface="Dotum"/>
                <a:cs typeface="Dotum"/>
              </a:rPr>
              <a:t> 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影响：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学生排队时间长，影响学习效率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6"/>
              </a:spcBef>
              <a:tabLst/>
            </a:pPr>
            <a:r>
              <a:rPr sz="1200" kern="0" spc="-50" dirty="0">
                <a:solidFill>
                  <a:srgbClr val="0040C0">
                    <a:alpha val="100000"/>
                  </a:srgbClr>
                </a:solidFill>
                <a:latin typeface="Dotum"/>
                <a:ea typeface="Dotum"/>
                <a:cs typeface="Dotum"/>
              </a:rPr>
              <a:t>▶</a:t>
            </a:r>
            <a:r>
              <a:rPr sz="1200" kern="0" spc="190" dirty="0">
                <a:solidFill>
                  <a:srgbClr val="0040C0">
                    <a:alpha val="100000"/>
                  </a:srgbClr>
                </a:solidFill>
                <a:latin typeface="Dotum"/>
                <a:ea typeface="Dotum"/>
                <a:cs typeface="Dotum"/>
              </a:rPr>
              <a:t> </a:t>
            </a:r>
            <a:r>
              <a:rPr sz="1200" kern="0" spc="-5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需求：</a:t>
            </a:r>
            <a:r>
              <a:rPr sz="1200" kern="0" spc="-5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更便捷、高效的打印服务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520" name="textbox 520"/>
          <p:cNvSpPr/>
          <p:nvPr/>
        </p:nvSpPr>
        <p:spPr>
          <a:xfrm>
            <a:off x="31786" y="25422"/>
            <a:ext cx="5333365" cy="641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6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2615" algn="l" rtl="0" eaLnBrk="0">
              <a:lnSpc>
                <a:spcPct val="96000"/>
              </a:lnSpc>
              <a:tabLst>
                <a:tab pos="791844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从问题到需求：问题分析四步法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522" name="picture 5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486" y="38122"/>
            <a:ext cx="590528" cy="571482"/>
          </a:xfrm>
          <a:prstGeom prst="rect">
            <a:avLst/>
          </a:prstGeom>
        </p:spPr>
      </p:pic>
      <p:sp>
        <p:nvSpPr>
          <p:cNvPr id="524" name="textbox 524"/>
          <p:cNvSpPr/>
          <p:nvPr/>
        </p:nvSpPr>
        <p:spPr>
          <a:xfrm>
            <a:off x="1377940" y="1252612"/>
            <a:ext cx="7295515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tabLst/>
            </a:pPr>
            <a:r>
              <a:rPr sz="2000" kern="0" spc="-10" baseline="20757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01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</a:t>
            </a:r>
            <a:r>
              <a:rPr sz="1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02                                          </a:t>
            </a:r>
            <a:r>
              <a:rPr sz="2600" kern="0" spc="-10" baseline="-10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</a:t>
            </a:r>
            <a:r>
              <a:rPr sz="2000" b="1" kern="0" spc="-20" baseline="20757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2000" baseline="20757" dirty="0">
              <a:latin typeface="Arial"/>
              <a:ea typeface="Arial"/>
              <a:cs typeface="Arial"/>
            </a:endParaRPr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533408" y="3175002"/>
            <a:ext cx="4387876" cy="469901"/>
            <a:chOff x="0" y="0"/>
            <a:chExt cx="4387876" cy="469901"/>
          </a:xfrm>
        </p:grpSpPr>
        <p:pic>
          <p:nvPicPr>
            <p:cNvPr id="526" name="picture 5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387876" cy="469901"/>
            </a:xfrm>
            <a:prstGeom prst="rect">
              <a:avLst/>
            </a:prstGeom>
          </p:spPr>
        </p:pic>
        <p:sp>
          <p:nvSpPr>
            <p:cNvPr id="528" name="textbox 528"/>
            <p:cNvSpPr/>
            <p:nvPr/>
          </p:nvSpPr>
          <p:spPr>
            <a:xfrm>
              <a:off x="-12700" y="-12700"/>
              <a:ext cx="4413884" cy="5213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69290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500" b="1" kern="0" spc="10" dirty="0">
                  <a:solidFill>
                    <a:srgbClr val="003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案例示例：校园打印问</a:t>
              </a:r>
              <a:r>
                <a:rPr sz="1500" b="1" kern="0" spc="0" dirty="0">
                  <a:solidFill>
                    <a:srgbClr val="003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题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530" name="textbox 530"/>
          <p:cNvSpPr/>
          <p:nvPr/>
        </p:nvSpPr>
        <p:spPr>
          <a:xfrm>
            <a:off x="1310803" y="5392866"/>
            <a:ext cx="4481195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b="1" kern="0" spc="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需求不是抱怨，而是问题</a:t>
            </a:r>
            <a:r>
              <a:rPr sz="1500" b="1" kern="0" spc="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背后尚未被满足的真实期待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5441992" y="2500147"/>
            <a:ext cx="1727835" cy="497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3390" algn="l" rtl="0" eaLnBrk="0">
              <a:lnSpc>
                <a:spcPct val="96000"/>
              </a:lnSpc>
              <a:tabLst/>
            </a:pPr>
            <a:r>
              <a:rPr sz="1600" b="1" kern="0" spc="3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影响评估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评估问题影响的人群和程度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5538591" y="3285389"/>
            <a:ext cx="2187575" cy="37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8"/>
              </a:lnSpc>
              <a:tabLst/>
            </a:pPr>
            <a:r>
              <a:rPr sz="700" b="1" kern="0" spc="4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校园打印问题分析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819"/>
              </a:lnSpc>
              <a:tabLst/>
            </a:pPr>
            <a:r>
              <a:rPr sz="1000" kern="0" spc="30" baseline="-4208" dirty="0">
                <a:solidFill>
                  <a:srgbClr val="203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高峰期排队时长(分钟</a:t>
            </a:r>
            <a:r>
              <a:rPr sz="1000" kern="0" spc="20" baseline="-4208" dirty="0">
                <a:solidFill>
                  <a:srgbClr val="203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r>
              <a:rPr sz="600" kern="0" spc="20" dirty="0">
                <a:solidFill>
                  <a:srgbClr val="203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000" b="1" kern="0" spc="20" baseline="6209" dirty="0">
                <a:solidFill>
                  <a:srgbClr val="203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打印机分布情况</a:t>
            </a:r>
            <a:endParaRPr sz="1000" baseline="6209" dirty="0">
              <a:latin typeface="SimHei"/>
              <a:ea typeface="SimHei"/>
              <a:cs typeface="SimHei"/>
            </a:endParaRPr>
          </a:p>
        </p:txBody>
      </p:sp>
      <p:sp>
        <p:nvSpPr>
          <p:cNvPr id="536" name="textbox 536"/>
          <p:cNvSpPr/>
          <p:nvPr/>
        </p:nvSpPr>
        <p:spPr>
          <a:xfrm>
            <a:off x="3149633" y="2500757"/>
            <a:ext cx="1595119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7190" algn="l" rtl="0" eaLnBrk="0">
              <a:lnSpc>
                <a:spcPct val="96000"/>
              </a:lnSpc>
              <a:tabLst/>
            </a:pPr>
            <a:r>
              <a:rPr sz="1600" b="1" kern="0" spc="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分析原因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探究产生问题的根本原因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711180" y="2500757"/>
            <a:ext cx="1586864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0840" algn="l" rtl="0" eaLnBrk="0">
              <a:lnSpc>
                <a:spcPct val="96000"/>
              </a:lnSpc>
              <a:tabLst/>
            </a:pPr>
            <a:r>
              <a:rPr sz="1600" b="1" kern="0" spc="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描述问题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客观记录现象，不做评价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540" name="textbox 540"/>
          <p:cNvSpPr/>
          <p:nvPr/>
        </p:nvSpPr>
        <p:spPr>
          <a:xfrm>
            <a:off x="7893079" y="2500147"/>
            <a:ext cx="1456055" cy="478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7340" algn="l" rtl="0" eaLnBrk="0">
              <a:lnSpc>
                <a:spcPct val="96000"/>
              </a:lnSpc>
              <a:tabLst/>
            </a:pPr>
            <a:r>
              <a:rPr sz="1600" b="1" kern="0" spc="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需求提炼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将问题转化为真实需求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542" name="textbox 542"/>
          <p:cNvSpPr/>
          <p:nvPr/>
        </p:nvSpPr>
        <p:spPr>
          <a:xfrm>
            <a:off x="7118341" y="4409601"/>
            <a:ext cx="583565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38"/>
              </a:lnSpc>
              <a:tabLst/>
            </a:pPr>
            <a:r>
              <a:rPr sz="600" kern="0" spc="20" dirty="0">
                <a:solidFill>
                  <a:srgbClr val="203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学生反馈关键词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ts val="627"/>
              </a:lnSpc>
              <a:spcBef>
                <a:spcPts val="6"/>
              </a:spcBef>
              <a:tabLst/>
            </a:pPr>
            <a:r>
              <a:rPr sz="500" kern="0" spc="8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排队时间长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544" name="textbox 544"/>
          <p:cNvSpPr/>
          <p:nvPr/>
        </p:nvSpPr>
        <p:spPr>
          <a:xfrm>
            <a:off x="5911804" y="4670855"/>
            <a:ext cx="98107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5"/>
              </a:lnSpc>
              <a:tabLst/>
            </a:pPr>
            <a:r>
              <a:rPr sz="600" kern="0" spc="30" dirty="0">
                <a:solidFill>
                  <a:srgbClr val="2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周二</a:t>
            </a:r>
            <a:r>
              <a:rPr sz="600" kern="0" spc="130" dirty="0">
                <a:solidFill>
                  <a:srgbClr val="2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600" kern="0" spc="30" dirty="0">
                <a:solidFill>
                  <a:srgbClr val="5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周三</a:t>
            </a:r>
            <a:r>
              <a:rPr sz="600" kern="0" spc="80" dirty="0">
                <a:solidFill>
                  <a:srgbClr val="5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600" kern="0" spc="30" dirty="0">
                <a:solidFill>
                  <a:srgbClr val="2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周四</a:t>
            </a:r>
            <a:r>
              <a:rPr sz="600" kern="0" spc="120" dirty="0">
                <a:solidFill>
                  <a:srgbClr val="2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600" kern="0" spc="30" dirty="0">
                <a:solidFill>
                  <a:srgbClr val="2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周五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46" name="textbox 546"/>
          <p:cNvSpPr/>
          <p:nvPr/>
        </p:nvSpPr>
        <p:spPr>
          <a:xfrm>
            <a:off x="8464497" y="4600095"/>
            <a:ext cx="250825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38"/>
              </a:lnSpc>
              <a:tabLst/>
            </a:pPr>
            <a:r>
              <a:rPr sz="600" kern="0" spc="-10" dirty="0">
                <a:solidFill>
                  <a:srgbClr val="004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效率低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picture 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550" name="table 550"/>
          <p:cNvGraphicFramePr>
            <a:graphicFrameLocks noGrp="1"/>
          </p:cNvGraphicFramePr>
          <p:nvPr/>
        </p:nvGraphicFramePr>
        <p:xfrm>
          <a:off x="1301773" y="900882"/>
          <a:ext cx="8419465" cy="3931284"/>
        </p:xfrm>
        <a:graphic>
          <a:graphicData uri="http://schemas.openxmlformats.org/drawingml/2006/table">
            <a:tbl>
              <a:tblPr/>
              <a:tblGrid>
                <a:gridCol w="3638550"/>
                <a:gridCol w="4780915"/>
              </a:tblGrid>
              <a:tr h="410209">
                <a:tc>
                  <a:txBody>
                    <a:bodyPr/>
                    <a:lstStyle/>
                    <a:p>
                      <a:pPr marL="904239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机会卡结构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33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6439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机会卡示例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88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500" kern="0" spc="-9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1.</a:t>
                      </a:r>
                      <a:r>
                        <a:rPr sz="1500" kern="0" spc="42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5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问题描述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713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500" b="1" kern="0" spc="-9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问题描述</a:t>
                      </a:r>
                      <a:r>
                        <a:rPr sz="1500" kern="0" spc="-9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1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校园</a:t>
                      </a:r>
                      <a:r>
                        <a:rPr sz="13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内快递高峰期排队时间长；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2.</a:t>
                      </a:r>
                      <a:r>
                        <a:rPr sz="1500" kern="0" spc="28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5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目标人群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7139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目标人群</a:t>
                      </a:r>
                      <a:r>
                        <a:rPr sz="1400" kern="0" spc="2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在校取件的</a:t>
                      </a: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学生；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15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400" kern="0" spc="1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3.</a:t>
                      </a:r>
                      <a:r>
                        <a:rPr sz="1400" kern="0" spc="45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痛点程度(可用1-5星示意)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7139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500" b="1" kern="0" spc="-3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痛点程度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8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4.</a:t>
                      </a:r>
                      <a:r>
                        <a:rPr sz="1500" kern="0" spc="29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5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现有解决方式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650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400" b="1" kern="0" spc="-11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现有解决方式</a:t>
                      </a:r>
                      <a:r>
                        <a:rPr sz="1400" kern="0" spc="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</a:t>
                      </a:r>
                      <a:r>
                        <a:rPr sz="13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增加取件</a:t>
                      </a:r>
                      <a:r>
                        <a:rPr sz="13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柜、延长配送时间；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400" b="1" kern="0" spc="1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5.</a:t>
                      </a:r>
                      <a:r>
                        <a:rPr sz="1400" kern="0" spc="38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机会点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7139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6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机会点</a:t>
                      </a:r>
                      <a:r>
                        <a:rPr sz="1500" kern="0" spc="6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</a:t>
                      </a: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智能取件提醒+分区取件优化；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08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-6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6.</a:t>
                      </a:r>
                      <a:r>
                        <a:rPr sz="1500" kern="0" spc="24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5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价值方向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7139" algn="l" rtl="0" eaLnBrk="0">
                        <a:lnSpc>
                          <a:spcPts val="171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价值方向</a:t>
                      </a:r>
                      <a:r>
                        <a:rPr sz="1400" kern="0" spc="-20" dirty="0">
                          <a:solidFill>
                            <a:srgbClr val="004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提升效率、减少等待、改善体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验。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52" name="picture 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72483" y="12727"/>
            <a:ext cx="2235133" cy="1028656"/>
          </a:xfrm>
          <a:prstGeom prst="rect">
            <a:avLst/>
          </a:prstGeom>
        </p:spPr>
      </p:pic>
      <p:sp>
        <p:nvSpPr>
          <p:cNvPr id="554" name="textbox 554"/>
          <p:cNvSpPr/>
          <p:nvPr/>
        </p:nvSpPr>
        <p:spPr>
          <a:xfrm>
            <a:off x="804874" y="172619"/>
            <a:ext cx="5304154" cy="405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机会卡设计：从问题中寻找机会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556" name="picture 5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55652" y="273074"/>
            <a:ext cx="406320" cy="196827"/>
          </a:xfrm>
          <a:prstGeom prst="rect">
            <a:avLst/>
          </a:prstGeom>
        </p:spPr>
      </p:pic>
      <p:sp>
        <p:nvSpPr>
          <p:cNvPr id="558" name="textbox 558"/>
          <p:cNvSpPr/>
          <p:nvPr/>
        </p:nvSpPr>
        <p:spPr>
          <a:xfrm>
            <a:off x="3350181" y="5384496"/>
            <a:ext cx="468185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好机会，往往来自对真实问题</a:t>
            </a: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的重新定义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101606" y="107974"/>
            <a:ext cx="533408" cy="476235"/>
            <a:chOff x="0" y="0"/>
            <a:chExt cx="533408" cy="476235"/>
          </a:xfrm>
        </p:grpSpPr>
        <p:pic>
          <p:nvPicPr>
            <p:cNvPr id="560" name="picture 56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33408" cy="476235"/>
            </a:xfrm>
            <a:prstGeom prst="rect">
              <a:avLst/>
            </a:prstGeom>
          </p:spPr>
        </p:pic>
        <p:sp>
          <p:nvSpPr>
            <p:cNvPr id="562" name="textbox 562"/>
            <p:cNvSpPr/>
            <p:nvPr/>
          </p:nvSpPr>
          <p:spPr>
            <a:xfrm>
              <a:off x="-12700" y="-12700"/>
              <a:ext cx="559434" cy="5829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2550" algn="l" rtl="0" eaLnBrk="0">
                <a:lnSpc>
                  <a:spcPct val="78000"/>
                </a:lnSpc>
                <a:tabLst/>
              </a:pPr>
              <a:r>
                <a:rPr sz="2800" kern="0" spc="-10" dirty="0">
                  <a:solidFill>
                    <a:srgbClr val="D0F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23</a:t>
              </a:r>
              <a:endParaRPr sz="2800" dirty="0">
                <a:latin typeface="Times New Roman"/>
                <a:ea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picture 5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06881" y="1562075"/>
            <a:ext cx="5029260" cy="1320851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 rot="21600000">
            <a:off x="4191034" y="3619508"/>
            <a:ext cx="5797521" cy="1136631"/>
            <a:chOff x="0" y="0"/>
            <a:chExt cx="5797521" cy="1136631"/>
          </a:xfrm>
        </p:grpSpPr>
        <p:pic>
          <p:nvPicPr>
            <p:cNvPr id="566" name="picture 5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797521" cy="1136631"/>
            </a:xfrm>
            <a:prstGeom prst="rect">
              <a:avLst/>
            </a:prstGeom>
          </p:spPr>
        </p:pic>
        <p:sp>
          <p:nvSpPr>
            <p:cNvPr id="568" name="textbox 568"/>
            <p:cNvSpPr/>
            <p:nvPr/>
          </p:nvSpPr>
          <p:spPr>
            <a:xfrm>
              <a:off x="-12700" y="-12700"/>
              <a:ext cx="5822950" cy="1162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681990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500" b="1" kern="0" spc="-2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提示词参考</a:t>
              </a:r>
              <a:endParaRPr sz="1500" dirty="0">
                <a:latin typeface="SimHei"/>
                <a:ea typeface="SimHei"/>
                <a:cs typeface="SimHei"/>
              </a:endParaRPr>
            </a:p>
            <a:p>
              <a:pPr marL="208915" algn="l" rtl="0" eaLnBrk="0">
                <a:lnSpc>
                  <a:spcPct val="85000"/>
                </a:lnSpc>
                <a:spcBef>
                  <a:spcPts val="1124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请根据以下问题描述，帮助我识别核心问题、分析可能原因，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208915" algn="l" rtl="0" eaLnBrk="0">
                <a:lnSpc>
                  <a:spcPts val="2251"/>
                </a:lnSpc>
                <a:tabLst/>
              </a:pP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并提出可行的解决方向：{粘贴你的问题列表或观察记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录}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570" name="textbox 570"/>
          <p:cNvSpPr/>
          <p:nvPr/>
        </p:nvSpPr>
        <p:spPr>
          <a:xfrm>
            <a:off x="1358935" y="995220"/>
            <a:ext cx="1708150" cy="2973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-20" dirty="0">
                <a:solidFill>
                  <a:srgbClr val="004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9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可以帮助我们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96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提炼问题关键词；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93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归类相似问题；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95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分析可能原因；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394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生成改进建议；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拓展更多解决思路。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572" name="picture 5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76517" y="4025892"/>
            <a:ext cx="616010" cy="584209"/>
          </a:xfrm>
          <a:prstGeom prst="rect">
            <a:avLst/>
          </a:prstGeom>
        </p:spPr>
      </p:pic>
      <p:pic>
        <p:nvPicPr>
          <p:cNvPr id="574" name="picture 5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7699" y="4070348"/>
            <a:ext cx="2730425" cy="1714507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 rot="21600000">
            <a:off x="3174967" y="5156189"/>
            <a:ext cx="7035806" cy="577876"/>
            <a:chOff x="0" y="0"/>
            <a:chExt cx="7035806" cy="577876"/>
          </a:xfrm>
        </p:grpSpPr>
        <p:pic>
          <p:nvPicPr>
            <p:cNvPr id="576" name="picture 57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7035806" cy="577876"/>
            </a:xfrm>
            <a:prstGeom prst="rect">
              <a:avLst/>
            </a:prstGeom>
          </p:spPr>
        </p:pic>
        <p:sp>
          <p:nvSpPr>
            <p:cNvPr id="578" name="textbox 578"/>
            <p:cNvSpPr/>
            <p:nvPr/>
          </p:nvSpPr>
          <p:spPr>
            <a:xfrm>
              <a:off x="-12700" y="-12700"/>
              <a:ext cx="7061834" cy="622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08100" algn="l" rtl="0" eaLnBrk="0">
                <a:lnSpc>
                  <a:spcPct val="92000"/>
                </a:lnSpc>
                <a:spcBef>
                  <a:spcPts val="1"/>
                </a:spcBef>
                <a:tabLst/>
              </a:pPr>
              <a:r>
                <a:rPr sz="1700" b="1" kern="0" spc="0" dirty="0">
                  <a:solidFill>
                    <a:srgbClr val="0040E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700" b="1" kern="0" spc="-110" dirty="0">
                  <a:solidFill>
                    <a:srgbClr val="0040E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10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是辅助工具，不替代真实观察</a:t>
              </a:r>
              <a:r>
                <a:rPr sz="1700" b="1" kern="0" spc="9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与判断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580" name="textbox 580"/>
          <p:cNvSpPr/>
          <p:nvPr/>
        </p:nvSpPr>
        <p:spPr>
          <a:xfrm>
            <a:off x="4159222" y="882646"/>
            <a:ext cx="3935095" cy="58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52450" algn="l" rtl="0" eaLnBrk="0">
              <a:lnSpc>
                <a:spcPct val="95000"/>
              </a:lnSpc>
              <a:spcBef>
                <a:spcPts val="4"/>
              </a:spcBef>
              <a:tabLst>
                <a:tab pos="692150" algn="l"/>
              </a:tabLst>
            </a:pPr>
            <a:r>
              <a:rPr sz="1700" b="1" kern="0" spc="0" dirty="0">
                <a:solidFill>
                  <a:srgbClr val="004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700" b="1" kern="0" spc="0" dirty="0">
                <a:solidFill>
                  <a:srgbClr val="004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-20" dirty="0">
                <a:solidFill>
                  <a:srgbClr val="004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7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工具示例流程(以大模型为例)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582" name="picture 5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171922" y="895346"/>
            <a:ext cx="539778" cy="527025"/>
          </a:xfrm>
          <a:prstGeom prst="rect">
            <a:avLst/>
          </a:prstGeom>
        </p:spPr>
      </p:pic>
      <p:sp>
        <p:nvSpPr>
          <p:cNvPr id="584" name="textbox 584"/>
          <p:cNvSpPr/>
          <p:nvPr/>
        </p:nvSpPr>
        <p:spPr>
          <a:xfrm>
            <a:off x="4483047" y="2965188"/>
            <a:ext cx="4947920" cy="443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0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550" indent="-69850" algn="l" rtl="0" eaLnBrk="0">
              <a:lnSpc>
                <a:spcPct val="108000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输入问题描述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分析与归纳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输出结论与建议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或观察记录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586" name="picture 5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3490" y="82579"/>
            <a:ext cx="527037" cy="520691"/>
          </a:xfrm>
          <a:prstGeom prst="rect">
            <a:avLst/>
          </a:prstGeom>
        </p:spPr>
      </p:pic>
      <p:sp>
        <p:nvSpPr>
          <p:cNvPr id="588" name="textbox 588"/>
          <p:cNvSpPr/>
          <p:nvPr/>
        </p:nvSpPr>
        <p:spPr>
          <a:xfrm>
            <a:off x="114281" y="167216"/>
            <a:ext cx="5626100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5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3600" b="1" kern="0" spc="-20" baseline="-11575" dirty="0">
                <a:solidFill>
                  <a:srgbClr val="D0F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24</a:t>
            </a:r>
            <a:r>
              <a:rPr sz="2300" b="1" kern="0" spc="180" dirty="0">
                <a:solidFill>
                  <a:srgbClr val="D0F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26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辅助：用</a:t>
            </a: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2600" b="1" kern="0" spc="-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整理与分析问题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590" name="picture 5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72111" y="279407"/>
            <a:ext cx="431801" cy="177766"/>
          </a:xfrm>
          <a:prstGeom prst="rect">
            <a:avLst/>
          </a:prstGeom>
        </p:spPr>
      </p:pic>
      <p:pic>
        <p:nvPicPr>
          <p:cNvPr id="592" name="picture 59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98505" y="895346"/>
            <a:ext cx="533408" cy="31686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picture 5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57793" y="819161"/>
            <a:ext cx="5473696" cy="4121138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 rot="21600000">
            <a:off x="336565" y="863617"/>
            <a:ext cx="4387876" cy="3892521"/>
            <a:chOff x="0" y="0"/>
            <a:chExt cx="4387876" cy="3892521"/>
          </a:xfrm>
        </p:grpSpPr>
        <p:pic>
          <p:nvPicPr>
            <p:cNvPr id="596" name="picture 59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387876" cy="3892521"/>
            </a:xfrm>
            <a:prstGeom prst="rect">
              <a:avLst/>
            </a:prstGeom>
          </p:spPr>
        </p:pic>
        <p:sp>
          <p:nvSpPr>
            <p:cNvPr id="598" name="textbox 598"/>
            <p:cNvSpPr/>
            <p:nvPr/>
          </p:nvSpPr>
          <p:spPr>
            <a:xfrm>
              <a:off x="-12700" y="-12700"/>
              <a:ext cx="4413884" cy="3930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10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55039" algn="l" rtl="0" eaLnBrk="0">
                <a:lnSpc>
                  <a:spcPct val="95000"/>
                </a:lnSpc>
                <a:tabLst/>
              </a:pPr>
              <a:r>
                <a:rPr sz="1700" b="1" kern="0" spc="9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常用发散方法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9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52855" algn="l" rtl="0" eaLnBrk="0">
                <a:lnSpc>
                  <a:spcPct val="95000"/>
                </a:lnSpc>
                <a:spcBef>
                  <a:spcPts val="401"/>
                </a:spcBef>
                <a:tabLst/>
              </a:pPr>
              <a:r>
                <a:rPr sz="1300" b="1" kern="0" spc="-1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头脑风暴法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1250950" algn="l" rtl="0" eaLnBrk="0">
                <a:lnSpc>
                  <a:spcPct val="92000"/>
                </a:lnSpc>
                <a:spcBef>
                  <a:spcPts val="674"/>
                </a:spcBef>
                <a:tabLst/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自由联想，重质不如重量；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50950" algn="l" rtl="0" eaLnBrk="0">
                <a:lnSpc>
                  <a:spcPts val="1721"/>
                </a:lnSpc>
                <a:spcBef>
                  <a:spcPts val="431"/>
                </a:spcBef>
                <a:tabLst/>
              </a:pPr>
              <a:r>
                <a:rPr sz="1400" b="1" kern="0" spc="-100" dirty="0">
                  <a:solidFill>
                    <a:srgbClr val="0040D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SCAMPER</a:t>
              </a:r>
              <a:r>
                <a:rPr sz="1400" b="1" kern="0" spc="-10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法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50950" algn="l" rtl="0" eaLnBrk="0">
                <a:lnSpc>
                  <a:spcPct val="92000"/>
                </a:lnSpc>
                <a:spcBef>
                  <a:spcPts val="621"/>
                </a:spcBef>
                <a:tabLst/>
              </a:pP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替代、合并、改造、调整、用</a:t>
              </a: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途、去除、重组；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52855" algn="l" rtl="0" eaLnBrk="0">
                <a:lnSpc>
                  <a:spcPct val="95000"/>
                </a:lnSpc>
                <a:spcBef>
                  <a:spcPts val="394"/>
                </a:spcBef>
                <a:tabLst/>
              </a:pPr>
              <a:r>
                <a:rPr sz="1300" b="1" kern="0" spc="-1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六顶思考帽法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1250950" algn="l" rtl="0" eaLnBrk="0">
                <a:lnSpc>
                  <a:spcPct val="92000"/>
                </a:lnSpc>
                <a:spcBef>
                  <a:spcPts val="674"/>
                </a:spcBef>
                <a:tabLst/>
              </a:pP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从多角度思考问题；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52855" algn="l" rtl="0" eaLnBrk="0">
                <a:lnSpc>
                  <a:spcPct val="96000"/>
                </a:lnSpc>
                <a:spcBef>
                  <a:spcPts val="396"/>
                </a:spcBef>
                <a:tabLst/>
              </a:pPr>
              <a:r>
                <a:rPr sz="1300" b="1" kern="0" spc="-3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逆向思考法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1250950" algn="l" rtl="0" eaLnBrk="0">
                <a:lnSpc>
                  <a:spcPct val="92000"/>
                </a:lnSpc>
                <a:spcBef>
                  <a:spcPts val="505"/>
                </a:spcBef>
                <a:tabLst/>
              </a:pP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反向思考，发现新机会</a:t>
              </a:r>
              <a:r>
                <a:rPr sz="1100" kern="0" spc="-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。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672465" algn="l" rtl="0" eaLnBrk="0">
                <a:lnSpc>
                  <a:spcPct val="92000"/>
                </a:lnSpc>
                <a:spcBef>
                  <a:spcPts val="1"/>
                </a:spcBef>
                <a:tabLst/>
              </a:pPr>
              <a:r>
                <a:rPr sz="1100" kern="0" spc="1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创意发散阶段先求多样性，再</a:t>
              </a:r>
              <a:r>
                <a:rPr sz="1100" kern="0" spc="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做筛选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21600000">
            <a:off x="336565" y="5022879"/>
            <a:ext cx="9988555" cy="704792"/>
            <a:chOff x="0" y="0"/>
            <a:chExt cx="9988555" cy="704792"/>
          </a:xfrm>
        </p:grpSpPr>
        <p:pic>
          <p:nvPicPr>
            <p:cNvPr id="600" name="picture 6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9988555" cy="704792"/>
            </a:xfrm>
            <a:prstGeom prst="rect">
              <a:avLst/>
            </a:prstGeom>
          </p:spPr>
        </p:pic>
        <p:sp>
          <p:nvSpPr>
            <p:cNvPr id="602" name="textbox 602"/>
            <p:cNvSpPr/>
            <p:nvPr/>
          </p:nvSpPr>
          <p:spPr>
            <a:xfrm>
              <a:off x="-12700" y="-12700"/>
              <a:ext cx="10014584" cy="7537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64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534409" algn="l" rtl="0" eaLnBrk="0">
                <a:lnSpc>
                  <a:spcPct val="94000"/>
                </a:lnSpc>
                <a:tabLst/>
              </a:pPr>
              <a:r>
                <a:rPr sz="2100" b="1" kern="0" spc="1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多想一步，可能多一</a:t>
              </a:r>
              <a:r>
                <a:rPr sz="2100" b="1" kern="0" spc="1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个机会!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604" name="picture 6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861" y="88913"/>
            <a:ext cx="628644" cy="577816"/>
          </a:xfrm>
          <a:prstGeom prst="rect">
            <a:avLst/>
          </a:prstGeom>
        </p:spPr>
      </p:pic>
      <p:sp>
        <p:nvSpPr>
          <p:cNvPr id="606" name="textbox 606"/>
          <p:cNvSpPr/>
          <p:nvPr/>
        </p:nvSpPr>
        <p:spPr>
          <a:xfrm>
            <a:off x="158767" y="209362"/>
            <a:ext cx="5106670" cy="410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4300" kern="0" spc="-150" baseline="-6056" dirty="0">
                <a:solidFill>
                  <a:srgbClr val="C0F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</a:t>
            </a:r>
            <a:r>
              <a:rPr sz="2700" kern="0" spc="70" dirty="0">
                <a:solidFill>
                  <a:srgbClr val="C0F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6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创意发散：如何产生更多可能</a:t>
            </a:r>
            <a:r>
              <a:rPr sz="2600" b="1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608" name="textbox 608"/>
          <p:cNvSpPr/>
          <p:nvPr/>
        </p:nvSpPr>
        <p:spPr>
          <a:xfrm>
            <a:off x="8077180" y="3477627"/>
            <a:ext cx="779780" cy="701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ts val="848"/>
              </a:lnSpc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顺</a:t>
            </a:r>
            <a:endParaRPr sz="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1800" algn="l" rtl="0" eaLnBrk="0">
              <a:lnSpc>
                <a:spcPts val="365"/>
              </a:lnSpc>
              <a:spcBef>
                <a:spcPts val="97"/>
              </a:spcBef>
              <a:tabLst/>
            </a:pP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9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.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砍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恍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蚀</a:t>
            </a:r>
            <a:endParaRPr sz="3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ts val="1140"/>
              </a:lnSpc>
              <a:spcBef>
                <a:spcPts val="3"/>
              </a:spcBef>
              <a:tabLst>
                <a:tab pos="10096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400" kern="0" spc="-90" baseline="-10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日厉</a:t>
            </a:r>
            <a:endParaRPr sz="1400" baseline="-1000" dirty="0">
              <a:latin typeface="KaiTi"/>
              <a:ea typeface="KaiTi"/>
              <a:cs typeface="KaiTi"/>
            </a:endParaRPr>
          </a:p>
        </p:txBody>
      </p:sp>
      <p:sp>
        <p:nvSpPr>
          <p:cNvPr id="610" name="textbox 610"/>
          <p:cNvSpPr/>
          <p:nvPr/>
        </p:nvSpPr>
        <p:spPr>
          <a:xfrm>
            <a:off x="8327931" y="4001620"/>
            <a:ext cx="91439" cy="60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00" kern="0" spc="-3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活动</a:t>
            </a:r>
            <a:endParaRPr sz="3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612" name="textbox 612"/>
          <p:cNvSpPr/>
          <p:nvPr/>
        </p:nvSpPr>
        <p:spPr>
          <a:xfrm>
            <a:off x="8077180" y="3995334"/>
            <a:ext cx="145414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" kern="0" spc="-20" dirty="0">
                <a:solidFill>
                  <a:srgbClr val="90303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杜</a:t>
            </a:r>
            <a:r>
              <a:rPr sz="300" kern="0" spc="60" dirty="0">
                <a:solidFill>
                  <a:srgbClr val="90303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 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国</a:t>
            </a:r>
            <a:endParaRPr sz="3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614" name="textbox 614"/>
          <p:cNvSpPr/>
          <p:nvPr/>
        </p:nvSpPr>
        <p:spPr>
          <a:xfrm>
            <a:off x="6311860" y="3690887"/>
            <a:ext cx="621665" cy="539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400" kern="0" spc="-20" dirty="0">
                <a:solidFill>
                  <a:srgbClr val="A0C0B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</a:t>
            </a:r>
            <a:r>
              <a:rPr sz="400" kern="0" spc="130" dirty="0">
                <a:solidFill>
                  <a:srgbClr val="A0C0B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墟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报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</a:t>
            </a:r>
            <a:endParaRPr sz="400" dirty="0">
              <a:latin typeface="KaiTi"/>
              <a:ea typeface="KaiTi"/>
              <a:cs typeface="KaiTi"/>
            </a:endParaRPr>
          </a:p>
          <a:p>
            <a:pPr marL="196850" algn="l" rtl="0" eaLnBrk="0">
              <a:lnSpc>
                <a:spcPts val="629"/>
              </a:lnSpc>
              <a:spcBef>
                <a:spcPts val="1235"/>
              </a:spcBef>
              <a:tabLst/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二</a:t>
            </a:r>
            <a:r>
              <a:rPr sz="500" kern="0" spc="1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手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交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易</a:t>
            </a:r>
            <a:endParaRPr sz="500" dirty="0">
              <a:latin typeface="FangSong"/>
              <a:ea typeface="FangSong"/>
              <a:cs typeface="FangSong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tabLst/>
            </a:pP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失</a:t>
            </a:r>
            <a:endParaRPr sz="4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616" name="textbox 616"/>
          <p:cNvSpPr/>
          <p:nvPr/>
        </p:nvSpPr>
        <p:spPr>
          <a:xfrm>
            <a:off x="7226319" y="3523504"/>
            <a:ext cx="618490" cy="28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indent="-31115" algn="l" rtl="0" eaLnBrk="0">
              <a:lnSpc>
                <a:spcPct val="102000"/>
              </a:lnSpc>
              <a:tabLst/>
            </a:pPr>
            <a:r>
              <a:rPr sz="800" kern="0" spc="0" dirty="0">
                <a:solidFill>
                  <a:srgbClr val="004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校</a:t>
            </a:r>
            <a:r>
              <a:rPr sz="800" kern="0" spc="30" dirty="0">
                <a:solidFill>
                  <a:srgbClr val="004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</a:t>
            </a:r>
            <a:r>
              <a:rPr sz="800" kern="0" spc="0" dirty="0">
                <a:solidFill>
                  <a:srgbClr val="004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园  便</a:t>
            </a:r>
            <a:r>
              <a:rPr sz="800" kern="0" spc="170" dirty="0">
                <a:solidFill>
                  <a:srgbClr val="004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800" kern="0" spc="0" dirty="0">
                <a:solidFill>
                  <a:srgbClr val="004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捷   </a:t>
            </a:r>
            <a:r>
              <a:rPr sz="900" kern="0" spc="90" dirty="0">
                <a:solidFill>
                  <a:srgbClr val="0040D0">
                    <a:alpha val="100000"/>
                  </a:srgbClr>
                </a:solidFill>
                <a:latin typeface="LiSu"/>
                <a:ea typeface="LiSu"/>
                <a:cs typeface="LiSu"/>
              </a:rPr>
              <a:t>服</a:t>
            </a:r>
            <a:r>
              <a:rPr sz="900" kern="0" spc="-10" dirty="0">
                <a:solidFill>
                  <a:srgbClr val="0040D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900" kern="0" spc="90" dirty="0">
                <a:solidFill>
                  <a:srgbClr val="0040D0">
                    <a:alpha val="100000"/>
                  </a:srgbClr>
                </a:solidFill>
                <a:latin typeface="KaiTi"/>
                <a:ea typeface="KaiTi"/>
                <a:cs typeface="KaiTi"/>
              </a:rPr>
              <a:t>务平台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sp>
        <p:nvSpPr>
          <p:cNvPr id="618" name="textbox 618"/>
          <p:cNvSpPr/>
          <p:nvPr/>
        </p:nvSpPr>
        <p:spPr>
          <a:xfrm>
            <a:off x="7486653" y="4053342"/>
            <a:ext cx="414019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650" indent="-107950" algn="l" rtl="0" eaLnBrk="0">
              <a:lnSpc>
                <a:spcPct val="121000"/>
              </a:lnSpc>
              <a:tabLst/>
            </a:pP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校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回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地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国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号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 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航</a:t>
            </a:r>
            <a:endParaRPr sz="600" dirty="0">
              <a:latin typeface="FangSong"/>
              <a:ea typeface="FangSong"/>
              <a:cs typeface="FangSong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6990102" y="4136328"/>
            <a:ext cx="272415" cy="97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5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物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</a:t>
            </a:r>
            <a:r>
              <a:rPr sz="5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拍</a:t>
            </a:r>
            <a:r>
              <a:rPr sz="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领</a:t>
            </a:r>
            <a:endParaRPr sz="500" dirty="0">
              <a:latin typeface="SimSun"/>
              <a:ea typeface="SimSun"/>
              <a:cs typeface="SimSun"/>
            </a:endParaRPr>
          </a:p>
        </p:txBody>
      </p:sp>
      <p:sp>
        <p:nvSpPr>
          <p:cNvPr id="622" name="textbox 622"/>
          <p:cNvSpPr/>
          <p:nvPr/>
        </p:nvSpPr>
        <p:spPr>
          <a:xfrm>
            <a:off x="6832633" y="3372773"/>
            <a:ext cx="302259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" kern="0" spc="-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硬         根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    </a:t>
            </a:r>
            <a:r>
              <a:rPr sz="300" kern="0" spc="-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修</a:t>
            </a:r>
            <a:endParaRPr sz="300" dirty="0">
              <a:latin typeface="STXingkai"/>
              <a:ea typeface="STXingkai"/>
              <a:cs typeface="STXingka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picture 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626" name="textbox 626"/>
          <p:cNvSpPr/>
          <p:nvPr/>
        </p:nvSpPr>
        <p:spPr>
          <a:xfrm>
            <a:off x="101647" y="57152"/>
            <a:ext cx="8580119" cy="1313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8815" algn="l" rtl="0" eaLnBrk="0">
              <a:lnSpc>
                <a:spcPct val="95000"/>
              </a:lnSpc>
              <a:spcBef>
                <a:spcPts val="3"/>
              </a:spcBef>
              <a:tabLst>
                <a:tab pos="938530" algn="l"/>
              </a:tabLst>
            </a:pP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30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问题-需求-解决方案-价值链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000" kern="0" spc="-50" dirty="0">
                <a:solidFill>
                  <a:srgbClr val="306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&gt;&gt;&gt;</a:t>
            </a:r>
            <a:r>
              <a:rPr sz="3000" kern="0" spc="-60" dirty="0">
                <a:solidFill>
                  <a:srgbClr val="306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3000" kern="0" spc="-80" baseline="-3472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3000" kern="0" spc="-80" baseline="5208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</a:t>
            </a:r>
            <a:r>
              <a:rPr sz="3000" kern="0" spc="-80" baseline="-3472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2400" b="1" kern="0" spc="-80" baseline="6511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2400" baseline="6511" dirty="0">
              <a:latin typeface="Arial"/>
              <a:ea typeface="Arial"/>
              <a:cs typeface="Arial"/>
            </a:endParaRPr>
          </a:p>
        </p:txBody>
      </p:sp>
      <p:pic>
        <p:nvPicPr>
          <p:cNvPr id="628" name="picture 6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47" y="69852"/>
            <a:ext cx="666653" cy="654061"/>
          </a:xfrm>
          <a:prstGeom prst="rect">
            <a:avLst/>
          </a:prstGeom>
        </p:spPr>
      </p:pic>
      <p:sp>
        <p:nvSpPr>
          <p:cNvPr id="630" name="textbox 630"/>
          <p:cNvSpPr/>
          <p:nvPr/>
        </p:nvSpPr>
        <p:spPr>
          <a:xfrm>
            <a:off x="1841487" y="4115553"/>
            <a:ext cx="6544309" cy="153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你的问题可以解决谁的需求?你的方案能够带来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什么价值?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3057"/>
              </a:lnSpc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这个价值对用户、社会、商业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有什么意义?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23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从问题走向价值，是创新项目</a:t>
            </a:r>
            <a:r>
              <a:rPr sz="23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形成的核心逻辑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632" name="table 632"/>
          <p:cNvGraphicFramePr>
            <a:graphicFrameLocks noGrp="1"/>
          </p:cNvGraphicFramePr>
          <p:nvPr/>
        </p:nvGraphicFramePr>
        <p:xfrm>
          <a:off x="1346153" y="2715459"/>
          <a:ext cx="8107044" cy="843914"/>
        </p:xfrm>
        <a:graphic>
          <a:graphicData uri="http://schemas.openxmlformats.org/drawingml/2006/table">
            <a:tbl>
              <a:tblPr/>
              <a:tblGrid>
                <a:gridCol w="1598294"/>
                <a:gridCol w="2265045"/>
                <a:gridCol w="2137410"/>
                <a:gridCol w="2106295"/>
              </a:tblGrid>
              <a:tr h="438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836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发现问题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45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310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7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洞察需求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9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2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7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解决方案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904239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创造价值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35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51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观察与记录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135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分析与提炼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7859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创意与设计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满足需求，带来改变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34" name="textbox 634"/>
          <p:cNvSpPr/>
          <p:nvPr/>
        </p:nvSpPr>
        <p:spPr>
          <a:xfrm>
            <a:off x="927134" y="4630173"/>
            <a:ext cx="40385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</a:t>
            </a: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考</a:t>
            </a:r>
            <a:endParaRPr sz="1500" dirty="0">
              <a:latin typeface="LiSu"/>
              <a:ea typeface="LiSu"/>
              <a:cs typeface="LiSu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8"/>
          <p:cNvGrpSpPr/>
          <p:nvPr/>
        </p:nvGrpSpPr>
        <p:grpSpPr>
          <a:xfrm rot="21600000">
            <a:off x="4356131" y="1536680"/>
            <a:ext cx="5765776" cy="2819409"/>
            <a:chOff x="0" y="0"/>
            <a:chExt cx="5765776" cy="2819409"/>
          </a:xfrm>
        </p:grpSpPr>
        <p:pic>
          <p:nvPicPr>
            <p:cNvPr id="636" name="picture 6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765776" cy="2819409"/>
            </a:xfrm>
            <a:prstGeom prst="rect">
              <a:avLst/>
            </a:prstGeom>
          </p:spPr>
        </p:pic>
        <p:sp>
          <p:nvSpPr>
            <p:cNvPr id="638" name="textbox 638"/>
            <p:cNvSpPr/>
            <p:nvPr/>
          </p:nvSpPr>
          <p:spPr>
            <a:xfrm>
              <a:off x="749296" y="201451"/>
              <a:ext cx="2491104" cy="22948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11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604" algn="l" rtl="0" eaLnBrk="0">
                <a:lnSpc>
                  <a:spcPct val="96000"/>
                </a:lnSpc>
                <a:tabLst/>
              </a:pPr>
              <a:r>
                <a:rPr sz="1400" b="1" kern="0" spc="-50" dirty="0">
                  <a:solidFill>
                    <a:srgbClr val="003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问题是什么?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85000"/>
                </a:lnSpc>
                <a:spcBef>
                  <a:spcPts val="688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你们观察到的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ts val="1893"/>
                </a:lnSpc>
                <a:tabLst/>
              </a:pP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真实问题；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793875" indent="-120014" algn="l" rtl="0" eaLnBrk="0">
                <a:lnSpc>
                  <a:spcPct val="107000"/>
                </a:lnSpc>
                <a:spcBef>
                  <a:spcPts val="1359"/>
                </a:spcBef>
                <a:tabLst/>
              </a:pPr>
              <a:r>
                <a:rPr sz="2100" b="1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我们的</a:t>
              </a:r>
              <a:r>
                <a:rPr sz="2100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2300" b="1" kern="0" spc="-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机会</a:t>
              </a:r>
              <a:endParaRPr sz="23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604" algn="l" rtl="0" eaLnBrk="0">
                <a:lnSpc>
                  <a:spcPct val="96000"/>
                </a:lnSpc>
                <a:spcBef>
                  <a:spcPts val="428"/>
                </a:spcBef>
                <a:tabLst/>
              </a:pPr>
              <a:r>
                <a:rPr sz="1400" b="1" kern="0" spc="-50" dirty="0">
                  <a:solidFill>
                    <a:srgbClr val="003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解决思路呢?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0000"/>
                </a:lnSpc>
                <a:spcBef>
                  <a:spcPts val="4"/>
                </a:spcBef>
                <a:tabLst/>
              </a:pPr>
              <a:r>
                <a:rPr sz="11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初步创新方向；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640" name="textbox 640"/>
          <p:cNvSpPr/>
          <p:nvPr/>
        </p:nvSpPr>
        <p:spPr>
          <a:xfrm>
            <a:off x="1358936" y="994383"/>
            <a:ext cx="2540000" cy="344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600" b="1" kern="0" spc="-3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任务目标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384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用简洁清晰的方式表达你们的机会点。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481"/>
              </a:spcBef>
              <a:tabLst/>
            </a:pPr>
            <a:r>
              <a:rPr sz="1600" b="1" kern="0" spc="-3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任务内容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65"/>
              </a:spcBef>
              <a:tabLst/>
            </a:pPr>
            <a:r>
              <a:rPr sz="1200" kern="0" spc="-4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1.</a:t>
            </a:r>
            <a:r>
              <a:rPr sz="1200" kern="0" spc="-4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选择1个最有价值的问题；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225"/>
              </a:spcBef>
              <a:tabLst/>
            </a:pPr>
            <a:r>
              <a:rPr sz="1200" kern="0" spc="-5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2.</a:t>
            </a:r>
            <a:r>
              <a:rPr sz="1200" kern="0" spc="-5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完成1张机会卡；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275"/>
              </a:spcBef>
              <a:tabLst/>
            </a:pPr>
            <a:r>
              <a:rPr sz="1200" kern="0" spc="-4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3.</a:t>
            </a:r>
            <a:r>
              <a:rPr sz="1200" kern="0" spc="-4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用1页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进行机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会表达；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085"/>
              </a:spcBef>
              <a:tabLst/>
            </a:pPr>
            <a:r>
              <a:rPr sz="1200" kern="0" spc="-4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4.</a:t>
            </a:r>
            <a:r>
              <a:rPr sz="1200" kern="0" spc="-4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3分钟口头展示。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600" b="1" kern="0" spc="-3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准备建议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grpSp>
        <p:nvGrpSpPr>
          <p:cNvPr id="60" name="group 60"/>
          <p:cNvGrpSpPr/>
          <p:nvPr/>
        </p:nvGrpSpPr>
        <p:grpSpPr>
          <a:xfrm rot="21600000">
            <a:off x="330194" y="5124460"/>
            <a:ext cx="9931435" cy="654061"/>
            <a:chOff x="0" y="0"/>
            <a:chExt cx="9931435" cy="654061"/>
          </a:xfrm>
        </p:grpSpPr>
        <p:pic>
          <p:nvPicPr>
            <p:cNvPr id="642" name="picture 6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9931435" cy="654061"/>
            </a:xfrm>
            <a:prstGeom prst="rect">
              <a:avLst/>
            </a:prstGeom>
          </p:spPr>
        </p:pic>
        <p:sp>
          <p:nvSpPr>
            <p:cNvPr id="644" name="textbox 644"/>
            <p:cNvSpPr/>
            <p:nvPr/>
          </p:nvSpPr>
          <p:spPr>
            <a:xfrm>
              <a:off x="-12700" y="-12700"/>
              <a:ext cx="9957434" cy="7029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489959" algn="l" rtl="0" eaLnBrk="0">
                <a:lnSpc>
                  <a:spcPct val="94000"/>
                </a:lnSpc>
                <a:tabLst/>
              </a:pPr>
              <a:r>
                <a:rPr sz="2100" b="1" kern="0" spc="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说清问题，才更容易说</a:t>
              </a:r>
              <a:r>
                <a:rPr sz="2100" b="1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清机会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646" name="textbox 646"/>
          <p:cNvSpPr/>
          <p:nvPr/>
        </p:nvSpPr>
        <p:spPr>
          <a:xfrm>
            <a:off x="69901" y="57151"/>
            <a:ext cx="4957445" cy="652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2615" algn="l" rtl="0" eaLnBrk="0">
              <a:lnSpc>
                <a:spcPct val="95000"/>
              </a:lnSpc>
              <a:spcBef>
                <a:spcPts val="5"/>
              </a:spcBef>
              <a:tabLst>
                <a:tab pos="810894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6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小组任务：机会表达与展示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648" name="picture 6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601" y="69851"/>
            <a:ext cx="590528" cy="584209"/>
          </a:xfrm>
          <a:prstGeom prst="rect">
            <a:avLst/>
          </a:prstGeom>
        </p:spPr>
      </p:pic>
      <p:sp>
        <p:nvSpPr>
          <p:cNvPr id="650" name="textbox 650"/>
          <p:cNvSpPr/>
          <p:nvPr/>
        </p:nvSpPr>
        <p:spPr>
          <a:xfrm>
            <a:off x="1358936" y="4614910"/>
            <a:ext cx="6245225" cy="218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18"/>
              </a:lnSpc>
              <a:tabLst/>
            </a:pPr>
            <a:r>
              <a:rPr sz="1800" kern="0" spc="-40" baseline="-8410" dirty="0">
                <a:solidFill>
                  <a:srgbClr val="005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-40" dirty="0">
                <a:solidFill>
                  <a:srgbClr val="005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40" baseline="-8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简明表达；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800" kern="0" spc="-40" baseline="6058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170" dirty="0">
                <a:solidFill>
                  <a:srgbClr val="0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40" baseline="605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问题记录或机会卡随页展示；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200" kern="0" spc="-4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40" dirty="0">
                <a:solidFill>
                  <a:srgbClr val="0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工具可辅助；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页控制简洁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652" name="textbox 652"/>
          <p:cNvSpPr/>
          <p:nvPr/>
        </p:nvSpPr>
        <p:spPr>
          <a:xfrm>
            <a:off x="8972529" y="3433044"/>
            <a:ext cx="956310" cy="744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400" b="1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价值是什么?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4000"/>
              </a:lnSpc>
              <a:spcBef>
                <a:spcPts val="1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能带来的改变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与意义。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654" name="picture 6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3546" y="901680"/>
            <a:ext cx="774737" cy="793765"/>
          </a:xfrm>
          <a:prstGeom prst="rect">
            <a:avLst/>
          </a:prstGeom>
        </p:spPr>
      </p:pic>
      <p:pic>
        <p:nvPicPr>
          <p:cNvPr id="656" name="picture 6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3546" y="1974853"/>
            <a:ext cx="768366" cy="768370"/>
          </a:xfrm>
          <a:prstGeom prst="rect">
            <a:avLst/>
          </a:prstGeom>
        </p:spPr>
      </p:pic>
      <p:pic>
        <p:nvPicPr>
          <p:cNvPr id="658" name="picture 6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7176" y="4095744"/>
            <a:ext cx="749361" cy="761976"/>
          </a:xfrm>
          <a:prstGeom prst="rect">
            <a:avLst/>
          </a:prstGeom>
        </p:spPr>
      </p:pic>
      <p:sp>
        <p:nvSpPr>
          <p:cNvPr id="660" name="textbox 660"/>
          <p:cNvSpPr/>
          <p:nvPr/>
        </p:nvSpPr>
        <p:spPr>
          <a:xfrm>
            <a:off x="8972529" y="1737598"/>
            <a:ext cx="810894" cy="727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400" b="1" kern="0" spc="-4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它影响谁?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8000"/>
              </a:lnSpc>
              <a:spcBef>
                <a:spcPts val="234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目标人群与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痛点感受；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662" name="textbox 662"/>
          <p:cNvSpPr/>
          <p:nvPr/>
        </p:nvSpPr>
        <p:spPr>
          <a:xfrm>
            <a:off x="6473780" y="982783"/>
            <a:ext cx="1323975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b="1" kern="0" spc="-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展示结构建议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664" name="textbox 664"/>
          <p:cNvSpPr/>
          <p:nvPr/>
        </p:nvSpPr>
        <p:spPr>
          <a:xfrm>
            <a:off x="4654515" y="1854460"/>
            <a:ext cx="187960" cy="474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530"/>
              </a:lnSpc>
              <a:tabLst/>
            </a:pPr>
            <a:r>
              <a:rPr sz="2800" kern="0" spc="-140" dirty="0">
                <a:solidFill>
                  <a:srgbClr val="B0F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?</a:t>
            </a:r>
            <a:endParaRPr sz="28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7454" y="1028715"/>
            <a:ext cx="6273809" cy="558755"/>
          </a:xfrm>
          <a:prstGeom prst="rect">
            <a:avLst/>
          </a:prstGeom>
        </p:spPr>
      </p:pic>
      <p:sp>
        <p:nvSpPr>
          <p:cNvPr id="670" name="textbox 670"/>
          <p:cNvSpPr/>
          <p:nvPr/>
        </p:nvSpPr>
        <p:spPr>
          <a:xfrm>
            <a:off x="2813067" y="2036845"/>
            <a:ext cx="3328034" cy="2421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二手书交易信息分散，交易不便捷；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63"/>
              </a:spcBef>
              <a:tabLst/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学生需要一个安全、便捷、高效的二手书交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易平台；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69"/>
              </a:spcBef>
              <a:tabLst/>
            </a:pP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搭建平台，支持发布、搜索、沟通、交易；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节省成本，提升效率，促进资源循环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672" name="textbox 672"/>
          <p:cNvSpPr/>
          <p:nvPr/>
        </p:nvSpPr>
        <p:spPr>
          <a:xfrm>
            <a:off x="171402" y="222650"/>
            <a:ext cx="6062345" cy="1238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3900" b="1" kern="0" spc="120" baseline="-9349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28</a:t>
            </a:r>
            <a:r>
              <a:rPr sz="2500" b="1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案例分享：从校园问题到创业项目</a:t>
            </a:r>
            <a:r>
              <a:rPr sz="2300" kern="0" spc="-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12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&gt;&gt;&gt;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913889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700" b="1" kern="0" spc="1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案例：校园二手书交易平台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674" name="textbox 674"/>
          <p:cNvSpPr/>
          <p:nvPr/>
        </p:nvSpPr>
        <p:spPr>
          <a:xfrm>
            <a:off x="7404051" y="338825"/>
            <a:ext cx="1388110" cy="3930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86000"/>
              </a:lnSpc>
              <a:tabLst/>
            </a:pPr>
            <a:r>
              <a:rPr sz="6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9:41</a:t>
            </a: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159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校园二手书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481"/>
              </a:spcBef>
              <a:tabLst/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让知识流动，</a:t>
            </a:r>
            <a:r>
              <a:rPr sz="600" kern="0" spc="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</a:t>
            </a:r>
            <a:r>
              <a:rPr sz="600" kern="0" spc="-5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</a:t>
            </a:r>
            <a:r>
              <a:rPr sz="600" kern="0" spc="-1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</a:t>
            </a:r>
            <a:r>
              <a:rPr sz="600" kern="0" spc="-1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延</a:t>
            </a:r>
            <a:r>
              <a:rPr sz="600" kern="0" spc="-1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续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ts val="740"/>
              </a:lnSpc>
              <a:spcBef>
                <a:spcPts val="182"/>
              </a:spcBef>
              <a:tabLst/>
            </a:pPr>
            <a:r>
              <a:rPr sz="600" kern="0" spc="40" dirty="0">
                <a:solidFill>
                  <a:srgbClr val="909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r>
              <a:rPr sz="600" kern="0" spc="0" dirty="0">
                <a:solidFill>
                  <a:srgbClr val="909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600" kern="0" spc="40" dirty="0">
                <a:solidFill>
                  <a:srgbClr val="9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搜素书名、作者、</a:t>
            </a:r>
            <a:r>
              <a:rPr sz="600" kern="0" spc="0" dirty="0">
                <a:solidFill>
                  <a:srgbClr val="909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ISBN</a:t>
            </a:r>
            <a:r>
              <a:rPr sz="600" kern="0" spc="40" dirty="0">
                <a:solidFill>
                  <a:srgbClr val="9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ct val="85000"/>
              </a:lnSpc>
              <a:spcBef>
                <a:spcPts val="338"/>
              </a:spcBef>
              <a:tabLst/>
            </a:pPr>
            <a:r>
              <a:rPr sz="1100" kern="0" spc="-40" dirty="0">
                <a:solidFill>
                  <a:srgbClr val="206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买卖二手书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33350" algn="l" rtl="0" eaLnBrk="0">
              <a:lnSpc>
                <a:spcPts val="1028"/>
              </a:lnSpc>
              <a:tabLst/>
            </a:pPr>
            <a:r>
              <a:rPr sz="600" kern="0" spc="-50" dirty="0">
                <a:solidFill>
                  <a:srgbClr val="206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省钱</a:t>
            </a:r>
            <a:r>
              <a:rPr sz="600" kern="0" spc="-50" dirty="0">
                <a:solidFill>
                  <a:srgbClr val="206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-50" dirty="0">
                <a:solidFill>
                  <a:srgbClr val="206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·环保</a:t>
            </a:r>
            <a:r>
              <a:rPr sz="600" kern="0" spc="10" dirty="0">
                <a:solidFill>
                  <a:srgbClr val="206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-50" dirty="0">
                <a:solidFill>
                  <a:srgbClr val="206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·传递知识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ts val="844"/>
              </a:lnSpc>
              <a:spcBef>
                <a:spcPts val="206"/>
              </a:spcBef>
              <a:tabLst/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发布书箱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000" kern="0" spc="20" baseline="-3007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分类浏览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我的消息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3970" algn="l" rtl="0" eaLnBrk="0">
              <a:lnSpc>
                <a:spcPts val="858"/>
              </a:lnSpc>
              <a:spcBef>
                <a:spcPts val="1403"/>
              </a:spcBef>
              <a:tabLst/>
            </a:pPr>
            <a:r>
              <a:rPr sz="7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热门推荐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463550" algn="l" rtl="0" eaLnBrk="0">
              <a:lnSpc>
                <a:spcPct val="145000"/>
              </a:lnSpc>
              <a:spcBef>
                <a:spcPts val="654"/>
              </a:spcBef>
              <a:tabLst/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经济学原理(第7版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曼昆著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3550" indent="635" algn="l" rtl="0" eaLnBrk="0">
              <a:lnSpc>
                <a:spcPct val="143000"/>
              </a:lnSpc>
              <a:spcBef>
                <a:spcPts val="190"/>
              </a:spcBef>
              <a:tabLst/>
            </a:pPr>
            <a:r>
              <a:rPr sz="6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数据结构</a:t>
            </a:r>
            <a:r>
              <a:rPr sz="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(C </a:t>
            </a:r>
            <a:r>
              <a:rPr sz="6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语言版)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严肠败著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38"/>
              </a:lnSpc>
              <a:spcBef>
                <a:spcPts val="184"/>
              </a:spcBef>
              <a:tabLst/>
            </a:pP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高等数学(第7版)上册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63550" algn="l" rtl="0" eaLnBrk="0">
              <a:lnSpc>
                <a:spcPts val="738"/>
              </a:lnSpc>
              <a:spcBef>
                <a:spcPts val="2"/>
              </a:spcBef>
              <a:tabLst/>
            </a:pPr>
            <a:r>
              <a:rPr sz="600" kern="0" spc="0" dirty="0">
                <a:solidFill>
                  <a:srgbClr val="9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同济大学数学系编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76" name="textbox 676"/>
          <p:cNvSpPr/>
          <p:nvPr/>
        </p:nvSpPr>
        <p:spPr>
          <a:xfrm>
            <a:off x="1476039" y="1984976"/>
            <a:ext cx="995044" cy="2493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19"/>
              </a:lnSpc>
              <a:tabLst/>
            </a:pPr>
            <a:r>
              <a:rPr sz="1500" b="1" kern="0" spc="-10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发现问题：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25"/>
              </a:lnSpc>
              <a:spcBef>
                <a:spcPts val="461"/>
              </a:spcBef>
              <a:tabLst/>
            </a:pPr>
            <a:r>
              <a:rPr sz="1500" b="1" kern="0" spc="-1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需求洞察：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19"/>
              </a:lnSpc>
              <a:spcBef>
                <a:spcPts val="456"/>
              </a:spcBef>
              <a:tabLst/>
            </a:pPr>
            <a:r>
              <a:rPr sz="1500" b="1" kern="0" spc="-1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解决方案：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25"/>
              </a:lnSpc>
              <a:spcBef>
                <a:spcPts val="3"/>
              </a:spcBef>
              <a:tabLst/>
            </a:pPr>
            <a:r>
              <a:rPr sz="1500" b="1" kern="0" spc="-1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创造价值：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678" name="textbox 678"/>
          <p:cNvSpPr/>
          <p:nvPr/>
        </p:nvSpPr>
        <p:spPr>
          <a:xfrm>
            <a:off x="2740468" y="5327823"/>
            <a:ext cx="5447029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20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一个好项目，往往始于一个被认真对待的小问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题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680" name="textbox 680"/>
          <p:cNvSpPr/>
          <p:nvPr/>
        </p:nvSpPr>
        <p:spPr>
          <a:xfrm>
            <a:off x="8896298" y="1043571"/>
            <a:ext cx="425450" cy="281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8120" algn="l" rtl="0" eaLnBrk="0">
              <a:lnSpc>
                <a:spcPts val="855"/>
              </a:lnSpc>
              <a:tabLst/>
            </a:pPr>
            <a:r>
              <a:rPr sz="700" b="1" kern="0" spc="-3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搜索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ts val="623"/>
              </a:lnSpc>
              <a:spcBef>
                <a:spcPts val="156"/>
              </a:spcBef>
              <a:tabLst/>
            </a:pPr>
            <a:r>
              <a:rPr sz="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我的订单</a:t>
            </a:r>
            <a:endParaRPr sz="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ts val="740"/>
              </a:lnSpc>
              <a:spcBef>
                <a:spcPts val="191"/>
              </a:spcBef>
              <a:tabLst/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查看更多&gt;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7"/>
              </a:lnSpc>
              <a:spcBef>
                <a:spcPts val="152"/>
              </a:spcBef>
              <a:tabLst/>
            </a:pPr>
            <a:r>
              <a:rPr sz="500" kern="0" spc="50" dirty="0">
                <a:solidFill>
                  <a:srgbClr val="6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距离1.2</a:t>
            </a:r>
            <a:r>
              <a:rPr sz="500" kern="0" spc="0" dirty="0">
                <a:solidFill>
                  <a:srgbClr val="606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km</a:t>
            </a:r>
            <a:endParaRPr sz="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7"/>
              </a:lnSpc>
              <a:tabLst/>
            </a:pP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距离0.8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km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pic>
        <p:nvPicPr>
          <p:cNvPr id="682" name="picture 6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92135" y="2590792"/>
            <a:ext cx="514403" cy="520692"/>
          </a:xfrm>
          <a:prstGeom prst="rect">
            <a:avLst/>
          </a:prstGeom>
        </p:spPr>
      </p:pic>
      <p:pic>
        <p:nvPicPr>
          <p:cNvPr id="684" name="picture 6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2135" y="3340101"/>
            <a:ext cx="514403" cy="514358"/>
          </a:xfrm>
          <a:prstGeom prst="rect">
            <a:avLst/>
          </a:prstGeom>
        </p:spPr>
      </p:pic>
      <p:pic>
        <p:nvPicPr>
          <p:cNvPr id="686" name="picture 6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2135" y="1860544"/>
            <a:ext cx="514403" cy="508024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2135" y="4083076"/>
            <a:ext cx="514403" cy="5079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picture 6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692" name="picture 6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861" y="101581"/>
            <a:ext cx="622274" cy="596937"/>
          </a:xfrm>
          <a:prstGeom prst="rect">
            <a:avLst/>
          </a:prstGeom>
        </p:spPr>
      </p:pic>
      <p:sp>
        <p:nvSpPr>
          <p:cNvPr id="694" name="textbox 694"/>
          <p:cNvSpPr/>
          <p:nvPr/>
        </p:nvSpPr>
        <p:spPr>
          <a:xfrm>
            <a:off x="146027" y="287499"/>
            <a:ext cx="3892550" cy="410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8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29</a:t>
            </a:r>
            <a:r>
              <a:rPr sz="2800" kern="0" spc="1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8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章节小结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800" kern="0" spc="-40" dirty="0">
                <a:solidFill>
                  <a:srgbClr val="005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</a:t>
            </a:r>
            <a:r>
              <a:rPr sz="2800" kern="0" spc="-50" dirty="0">
                <a:solidFill>
                  <a:srgbClr val="408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800" algn="l" rtl="0" eaLnBrk="0">
              <a:lnSpc>
                <a:spcPct val="97000"/>
              </a:lnSpc>
              <a:spcBef>
                <a:spcPts val="641"/>
              </a:spcBef>
              <a:tabLst>
                <a:tab pos="1464310" algn="l"/>
              </a:tabLst>
            </a:pPr>
            <a:r>
              <a:rPr sz="2100" kern="0" spc="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100" b="1" kern="0" spc="7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本节课我们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93750" algn="l" rtl="0" eaLnBrk="0">
              <a:lnSpc>
                <a:spcPct val="92000"/>
              </a:lnSpc>
              <a:spcBef>
                <a:spcPts val="422"/>
              </a:spcBef>
              <a:tabLst>
                <a:tab pos="102235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了解了创新思维的内涵与特点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87400" algn="l" rtl="0" eaLnBrk="0">
              <a:lnSpc>
                <a:spcPct val="92000"/>
              </a:lnSpc>
              <a:spcBef>
                <a:spcPts val="425"/>
              </a:spcBef>
              <a:tabLst>
                <a:tab pos="102235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学习了问题发现的路径与方法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87400" algn="l" rtl="0" eaLnBrk="0">
              <a:lnSpc>
                <a:spcPct val="92000"/>
              </a:lnSpc>
              <a:spcBef>
                <a:spcPts val="423"/>
              </a:spcBef>
              <a:tabLst>
                <a:tab pos="102235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掌握了将问题转化为需求的思路；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87400" algn="l" rtl="0" eaLnBrk="0">
              <a:lnSpc>
                <a:spcPct val="92000"/>
              </a:lnSpc>
              <a:spcBef>
                <a:spcPts val="423"/>
              </a:spcBef>
              <a:tabLst>
                <a:tab pos="102235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体会了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辅助问题整理的方法；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787400" algn="l" rtl="0" eaLnBrk="0">
              <a:lnSpc>
                <a:spcPct val="94000"/>
              </a:lnSpc>
              <a:spcBef>
                <a:spcPts val="2"/>
              </a:spcBef>
              <a:tabLst>
                <a:tab pos="102235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完成了问题观察与机会表达的实践。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696" name="picture 6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3269" y="4025892"/>
            <a:ext cx="330194" cy="336531"/>
          </a:xfrm>
          <a:prstGeom prst="rect">
            <a:avLst/>
          </a:prstGeom>
        </p:spPr>
      </p:pic>
      <p:pic>
        <p:nvPicPr>
          <p:cNvPr id="698" name="picture 6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3269" y="3492472"/>
            <a:ext cx="330194" cy="336591"/>
          </a:xfrm>
          <a:prstGeom prst="rect">
            <a:avLst/>
          </a:prstGeom>
        </p:spPr>
      </p:pic>
      <p:pic>
        <p:nvPicPr>
          <p:cNvPr id="700" name="picture 7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3269" y="2952779"/>
            <a:ext cx="330194" cy="342865"/>
          </a:xfrm>
          <a:prstGeom prst="rect">
            <a:avLst/>
          </a:prstGeom>
        </p:spPr>
      </p:pic>
      <p:pic>
        <p:nvPicPr>
          <p:cNvPr id="702" name="picture 7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03269" y="2425693"/>
            <a:ext cx="330194" cy="336531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03269" y="1885939"/>
            <a:ext cx="336565" cy="336531"/>
          </a:xfrm>
          <a:prstGeom prst="rect">
            <a:avLst/>
          </a:prstGeom>
        </p:spPr>
      </p:pic>
      <p:pic>
        <p:nvPicPr>
          <p:cNvPr id="706" name="picture 7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65153" y="996927"/>
            <a:ext cx="774737" cy="793765"/>
          </a:xfrm>
          <a:prstGeom prst="rect">
            <a:avLst/>
          </a:prstGeom>
        </p:spPr>
      </p:pic>
      <p:sp>
        <p:nvSpPr>
          <p:cNvPr id="708" name="textbox 708"/>
          <p:cNvSpPr/>
          <p:nvPr/>
        </p:nvSpPr>
        <p:spPr>
          <a:xfrm>
            <a:off x="8915408" y="1922586"/>
            <a:ext cx="1085850" cy="2160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700" b="1" kern="0" spc="-7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锻炼思维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856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从问题到机会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spcBef>
                <a:spcPts val="482"/>
              </a:spcBef>
              <a:tabLst/>
            </a:pPr>
            <a:r>
              <a:rPr sz="1600" b="1" kern="0" spc="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勇于表达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让想法被看见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6241998" y="1948336"/>
            <a:ext cx="1049655" cy="2134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600" b="1" kern="0" spc="4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打开视角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864"/>
              </a:spcBef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发现身边问题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7000"/>
              </a:lnSpc>
              <a:spcBef>
                <a:spcPts val="480"/>
              </a:spcBef>
              <a:tabLst/>
            </a:pPr>
            <a:r>
              <a:rPr sz="1600" b="1" kern="0" spc="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善用工具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提升效率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712" name="textbox 712"/>
          <p:cNvSpPr/>
          <p:nvPr/>
        </p:nvSpPr>
        <p:spPr>
          <a:xfrm>
            <a:off x="2652413" y="5014821"/>
            <a:ext cx="6074409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2600" b="1" kern="0" spc="-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创新从发现问题开始</a:t>
            </a:r>
            <a:r>
              <a:rPr sz="2600" b="1" kern="0" spc="-1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，创业从解决问题出发!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714" name="picture 7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785062" y="1701779"/>
            <a:ext cx="977950" cy="984259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130761" y="3263915"/>
            <a:ext cx="977949" cy="984259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791432" y="3263915"/>
            <a:ext cx="971580" cy="984259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143502" y="1701779"/>
            <a:ext cx="965209" cy="984259"/>
          </a:xfrm>
          <a:prstGeom prst="rect">
            <a:avLst/>
          </a:prstGeom>
        </p:spPr>
      </p:pic>
      <p:sp>
        <p:nvSpPr>
          <p:cNvPr id="722" name="textbox 722"/>
          <p:cNvSpPr/>
          <p:nvPr/>
        </p:nvSpPr>
        <p:spPr>
          <a:xfrm>
            <a:off x="7089684" y="1066875"/>
            <a:ext cx="96202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b="1" kern="0" spc="1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关键收获</a:t>
            </a:r>
            <a:endParaRPr sz="1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textbox 724"/>
          <p:cNvSpPr/>
          <p:nvPr/>
        </p:nvSpPr>
        <p:spPr>
          <a:xfrm>
            <a:off x="6064266" y="1689080"/>
            <a:ext cx="3595370" cy="2115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95000"/>
              </a:lnSpc>
              <a:tabLst>
                <a:tab pos="58991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阅读书籍《创新思维的觉醒》《设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计思维》;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92000"/>
              </a:lnSpc>
              <a:spcBef>
                <a:spcPts val="367"/>
              </a:spcBef>
              <a:tabLst>
                <a:tab pos="58991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观看相关创新创业课程视频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92000"/>
              </a:lnSpc>
              <a:spcBef>
                <a:spcPts val="361"/>
              </a:spcBef>
              <a:tabLst>
                <a:tab pos="58991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实践1个真实场景观察任务；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95000"/>
              </a:lnSpc>
              <a:spcBef>
                <a:spcPts val="1"/>
              </a:spcBef>
              <a:tabLst>
                <a:tab pos="58991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思考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还能在哪些环节帮助创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新项目。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726" name="picture 7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76966" y="3359162"/>
            <a:ext cx="406426" cy="412717"/>
          </a:xfrm>
          <a:prstGeom prst="rect">
            <a:avLst/>
          </a:prstGeom>
        </p:spPr>
      </p:pic>
      <p:pic>
        <p:nvPicPr>
          <p:cNvPr id="728" name="picture 7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76966" y="2800347"/>
            <a:ext cx="406426" cy="406383"/>
          </a:xfrm>
          <a:prstGeom prst="rect">
            <a:avLst/>
          </a:prstGeom>
        </p:spPr>
      </p:pic>
      <p:pic>
        <p:nvPicPr>
          <p:cNvPr id="730" name="picture 7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83337" y="2254260"/>
            <a:ext cx="400055" cy="406383"/>
          </a:xfrm>
          <a:prstGeom prst="rect">
            <a:avLst/>
          </a:prstGeom>
        </p:spPr>
      </p:pic>
      <p:pic>
        <p:nvPicPr>
          <p:cNvPr id="732" name="picture 7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76966" y="1701780"/>
            <a:ext cx="406426" cy="406443"/>
          </a:xfrm>
          <a:prstGeom prst="rect">
            <a:avLst/>
          </a:prstGeom>
        </p:spPr>
      </p:pic>
      <p:sp>
        <p:nvSpPr>
          <p:cNvPr id="734" name="textbox 734"/>
          <p:cNvSpPr/>
          <p:nvPr/>
        </p:nvSpPr>
        <p:spPr>
          <a:xfrm>
            <a:off x="749296" y="2070127"/>
            <a:ext cx="4284345" cy="1668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ts val="1590"/>
              </a:lnSpc>
              <a:spcBef>
                <a:spcPts val="2"/>
              </a:spcBef>
              <a:tabLst>
                <a:tab pos="497205" algn="l"/>
              </a:tabLst>
            </a:pPr>
            <a:r>
              <a:rPr sz="1300" kern="0" spc="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13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任务要求：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805815" algn="l" rtl="0" eaLnBrk="0">
              <a:lnSpc>
                <a:spcPct val="153000"/>
              </a:lnSpc>
              <a:spcBef>
                <a:spcPts val="189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在校园、生活或社会场景中完成至少5个问题记录；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选取其中1个最有价值的问题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，完成机会卡；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805815" algn="l" rtl="0" eaLnBrk="0">
              <a:lnSpc>
                <a:spcPct val="92000"/>
              </a:lnSpc>
              <a:spcBef>
                <a:spcPts val="875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工具辅助分析问题并提出初步机会点；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ct val="91000"/>
              </a:lnSpc>
              <a:spcBef>
                <a:spcPts val="1"/>
              </a:spcBef>
              <a:tabLst>
                <a:tab pos="482600" algn="l"/>
              </a:tabLst>
            </a:pPr>
            <a:r>
              <a:rPr sz="1200" kern="0" spc="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提交形式：</a:t>
            </a:r>
            <a:r>
              <a:rPr sz="1200" kern="0" spc="-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问题记录表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Excel)+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会卡(</a:t>
            </a:r>
            <a:r>
              <a:rPr sz="1200" kern="0" spc="-3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PDF)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736" name="picture 7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68366" y="3460743"/>
            <a:ext cx="260333" cy="260346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61996" y="2082827"/>
            <a:ext cx="279444" cy="279347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 rot="21600000">
            <a:off x="330194" y="5143521"/>
            <a:ext cx="9944070" cy="622272"/>
            <a:chOff x="0" y="0"/>
            <a:chExt cx="9944070" cy="622272"/>
          </a:xfrm>
        </p:grpSpPr>
        <p:pic>
          <p:nvPicPr>
            <p:cNvPr id="740" name="picture 7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9944070" cy="622272"/>
            </a:xfrm>
            <a:prstGeom prst="rect">
              <a:avLst/>
            </a:prstGeom>
          </p:spPr>
        </p:pic>
        <p:sp>
          <p:nvSpPr>
            <p:cNvPr id="742" name="textbox 742"/>
            <p:cNvSpPr/>
            <p:nvPr/>
          </p:nvSpPr>
          <p:spPr>
            <a:xfrm>
              <a:off x="-12700" y="-12700"/>
              <a:ext cx="9969500" cy="6667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158489" algn="l" rtl="0" eaLnBrk="0">
                <a:lnSpc>
                  <a:spcPct val="92000"/>
                </a:lnSpc>
                <a:spcBef>
                  <a:spcPts val="5"/>
                </a:spcBef>
                <a:tabLst/>
              </a:pPr>
              <a:r>
                <a:rPr sz="1700" b="1" kern="0" spc="1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保持观察，持续思考，创新就</a:t>
              </a:r>
              <a:r>
                <a:rPr sz="1700" b="1" kern="0" spc="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在你身边!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744" name="textbox 744"/>
          <p:cNvSpPr/>
          <p:nvPr/>
        </p:nvSpPr>
        <p:spPr>
          <a:xfrm>
            <a:off x="1581154" y="1001554"/>
            <a:ext cx="1961514" cy="894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8275" algn="l" rtl="0" eaLnBrk="0">
              <a:lnSpc>
                <a:spcPct val="98000"/>
              </a:lnSpc>
              <a:tabLst/>
            </a:pPr>
            <a:r>
              <a:rPr sz="1900" b="1" kern="0" spc="4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课后作业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-3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作业名称：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问题观察与机会卡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746" name="picture 7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84158" y="774704"/>
            <a:ext cx="901718" cy="1085840"/>
          </a:xfrm>
          <a:prstGeom prst="rect">
            <a:avLst/>
          </a:prstGeom>
        </p:spPr>
      </p:pic>
      <p:pic>
        <p:nvPicPr>
          <p:cNvPr id="748" name="picture 7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8865" y="88913"/>
            <a:ext cx="603269" cy="539753"/>
          </a:xfrm>
          <a:prstGeom prst="rect">
            <a:avLst/>
          </a:prstGeom>
        </p:spPr>
      </p:pic>
      <p:sp>
        <p:nvSpPr>
          <p:cNvPr id="750" name="textbox 750"/>
          <p:cNvSpPr/>
          <p:nvPr/>
        </p:nvSpPr>
        <p:spPr>
          <a:xfrm>
            <a:off x="165138" y="183394"/>
            <a:ext cx="2915285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3900" b="1" kern="0" spc="100" baseline="-13355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2500" b="1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课后作业与拓展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752" name="picture 7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956249" y="819160"/>
            <a:ext cx="800112" cy="800099"/>
          </a:xfrm>
          <a:prstGeom prst="rect">
            <a:avLst/>
          </a:prstGeom>
        </p:spPr>
      </p:pic>
      <p:pic>
        <p:nvPicPr>
          <p:cNvPr id="754" name="picture 7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117846" y="4171929"/>
            <a:ext cx="647755" cy="704852"/>
          </a:xfrm>
          <a:prstGeom prst="rect">
            <a:avLst/>
          </a:prstGeom>
        </p:spPr>
      </p:pic>
      <p:sp>
        <p:nvSpPr>
          <p:cNvPr id="756" name="textbox 756"/>
          <p:cNvSpPr/>
          <p:nvPr/>
        </p:nvSpPr>
        <p:spPr>
          <a:xfrm>
            <a:off x="1475994" y="4271025"/>
            <a:ext cx="795655" cy="607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600" b="1" kern="0" spc="-8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问题发现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ts val="2317"/>
              </a:lnSpc>
              <a:spcBef>
                <a:spcPts val="428"/>
              </a:spcBef>
              <a:tabLst/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758" name="picture 7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185118" y="4178323"/>
            <a:ext cx="628644" cy="692124"/>
          </a:xfrm>
          <a:prstGeom prst="rect">
            <a:avLst/>
          </a:prstGeom>
        </p:spPr>
      </p:pic>
      <p:sp>
        <p:nvSpPr>
          <p:cNvPr id="760" name="textbox 760"/>
          <p:cNvSpPr/>
          <p:nvPr/>
        </p:nvSpPr>
        <p:spPr>
          <a:xfrm>
            <a:off x="3958733" y="4290583"/>
            <a:ext cx="816610" cy="574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4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分析深度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22225" algn="l" rtl="0" eaLnBrk="0">
              <a:lnSpc>
                <a:spcPts val="2317"/>
              </a:lnSpc>
              <a:spcBef>
                <a:spcPts val="283"/>
              </a:spcBef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762" name="textbox 762"/>
          <p:cNvSpPr/>
          <p:nvPr/>
        </p:nvSpPr>
        <p:spPr>
          <a:xfrm>
            <a:off x="9032375" y="4284250"/>
            <a:ext cx="801369" cy="58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1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表达呈现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ts val="2317"/>
              </a:lnSpc>
              <a:spcBef>
                <a:spcPts val="333"/>
              </a:spcBef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764" name="textbox 764"/>
          <p:cNvSpPr/>
          <p:nvPr/>
        </p:nvSpPr>
        <p:spPr>
          <a:xfrm>
            <a:off x="6505163" y="4290583"/>
            <a:ext cx="810259" cy="574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3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机会价值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28575" algn="l" rtl="0" eaLnBrk="0">
              <a:lnSpc>
                <a:spcPts val="2317"/>
              </a:lnSpc>
              <a:spcBef>
                <a:spcPts val="283"/>
              </a:spcBef>
              <a:tabLst/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766" name="picture 76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670540" y="4197324"/>
            <a:ext cx="616010" cy="673123"/>
          </a:xfrm>
          <a:prstGeom prst="rect">
            <a:avLst/>
          </a:prstGeom>
        </p:spPr>
      </p:pic>
      <p:pic>
        <p:nvPicPr>
          <p:cNvPr id="768" name="picture 76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35014" y="4210052"/>
            <a:ext cx="609533" cy="654061"/>
          </a:xfrm>
          <a:prstGeom prst="rect">
            <a:avLst/>
          </a:prstGeom>
        </p:spPr>
      </p:pic>
      <p:sp>
        <p:nvSpPr>
          <p:cNvPr id="770" name="textbox 770"/>
          <p:cNvSpPr/>
          <p:nvPr/>
        </p:nvSpPr>
        <p:spPr>
          <a:xfrm>
            <a:off x="7077398" y="1007948"/>
            <a:ext cx="1559560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9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拓展学习建议</a:t>
            </a:r>
            <a:endParaRPr sz="1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picture 7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774" name="picture 7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70315" y="869950"/>
            <a:ext cx="6318295" cy="3028965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 rot="21600000">
            <a:off x="196842" y="5073669"/>
            <a:ext cx="10204509" cy="685790"/>
            <a:chOff x="0" y="0"/>
            <a:chExt cx="10204509" cy="685790"/>
          </a:xfrm>
        </p:grpSpPr>
        <p:pic>
          <p:nvPicPr>
            <p:cNvPr id="776" name="picture 7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204509" cy="685790"/>
            </a:xfrm>
            <a:prstGeom prst="rect">
              <a:avLst/>
            </a:prstGeom>
          </p:spPr>
        </p:pic>
        <p:sp>
          <p:nvSpPr>
            <p:cNvPr id="778" name="textbox 778"/>
            <p:cNvSpPr/>
            <p:nvPr/>
          </p:nvSpPr>
          <p:spPr>
            <a:xfrm>
              <a:off x="-12700" y="-12700"/>
              <a:ext cx="10230484" cy="7372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31160" algn="l" rtl="0" eaLnBrk="0">
                <a:lnSpc>
                  <a:spcPct val="94000"/>
                </a:lnSpc>
                <a:tabLst/>
              </a:pPr>
              <a:r>
                <a:rPr sz="2300" b="1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带着问题去看视频，带着思</a:t>
              </a:r>
              <a:r>
                <a:rPr sz="2300" b="1" kern="0" spc="-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考回到课堂</a:t>
              </a:r>
              <a:endParaRPr sz="2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780" name="textbox 780"/>
          <p:cNvSpPr/>
          <p:nvPr/>
        </p:nvSpPr>
        <p:spPr>
          <a:xfrm>
            <a:off x="507967" y="1847344"/>
            <a:ext cx="2399664" cy="1961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5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创新思维与问题发现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96000"/>
              </a:lnSpc>
              <a:spcBef>
                <a:spcPts val="421"/>
              </a:spcBef>
              <a:tabLst>
                <a:tab pos="475615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设计思维入门与案例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427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如何辅助创新创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业学习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96000"/>
              </a:lnSpc>
              <a:spcBef>
                <a:spcPts val="3"/>
              </a:spcBef>
              <a:tabLst>
                <a:tab pos="475615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从校园问题到创业项目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782" name="picture 7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0667" y="3435348"/>
            <a:ext cx="342935" cy="336531"/>
          </a:xfrm>
          <a:prstGeom prst="rect">
            <a:avLst/>
          </a:prstGeom>
        </p:spPr>
      </p:pic>
      <p:pic>
        <p:nvPicPr>
          <p:cNvPr id="784" name="picture 7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0667" y="2330446"/>
            <a:ext cx="342935" cy="336531"/>
          </a:xfrm>
          <a:prstGeom prst="rect">
            <a:avLst/>
          </a:prstGeom>
        </p:spPr>
      </p:pic>
      <p:pic>
        <p:nvPicPr>
          <p:cNvPr id="786" name="picture 7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1606" y="120641"/>
            <a:ext cx="546042" cy="520692"/>
          </a:xfrm>
          <a:prstGeom prst="rect">
            <a:avLst/>
          </a:prstGeom>
        </p:spPr>
      </p:pic>
      <p:sp>
        <p:nvSpPr>
          <p:cNvPr id="788" name="textbox 788"/>
          <p:cNvSpPr/>
          <p:nvPr/>
        </p:nvSpPr>
        <p:spPr>
          <a:xfrm>
            <a:off x="171402" y="183966"/>
            <a:ext cx="2642870" cy="41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4000" kern="0" spc="-30" baseline="-10417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31</a:t>
            </a:r>
            <a:r>
              <a:rPr sz="2600" kern="0" spc="2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推荐视频学习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790" name="picture 7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38171" y="844555"/>
            <a:ext cx="863603" cy="869951"/>
          </a:xfrm>
          <a:prstGeom prst="rect">
            <a:avLst/>
          </a:prstGeom>
        </p:spPr>
      </p:pic>
      <p:sp>
        <p:nvSpPr>
          <p:cNvPr id="792" name="textbox 792"/>
          <p:cNvSpPr/>
          <p:nvPr/>
        </p:nvSpPr>
        <p:spPr>
          <a:xfrm>
            <a:off x="5384765" y="4330722"/>
            <a:ext cx="1988820" cy="351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95000"/>
              </a:lnSpc>
              <a:spcBef>
                <a:spcPts val="4"/>
              </a:spcBef>
              <a:tabLst>
                <a:tab pos="412750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提炼1个问题发现方法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794" name="picture 7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397465" y="4343422"/>
            <a:ext cx="298449" cy="304802"/>
          </a:xfrm>
          <a:prstGeom prst="rect">
            <a:avLst/>
          </a:prstGeom>
        </p:spPr>
      </p:pic>
      <p:sp>
        <p:nvSpPr>
          <p:cNvPr id="796" name="textbox 796"/>
          <p:cNvSpPr/>
          <p:nvPr/>
        </p:nvSpPr>
        <p:spPr>
          <a:xfrm>
            <a:off x="7931194" y="4330722"/>
            <a:ext cx="198755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11150" algn="l" rtl="0" eaLnBrk="0">
              <a:lnSpc>
                <a:spcPct val="96000"/>
              </a:lnSpc>
              <a:spcBef>
                <a:spcPts val="3"/>
              </a:spcBef>
              <a:tabLst>
                <a:tab pos="412750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思考1个可借鉴的案例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798" name="picture 79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943894" y="4343422"/>
            <a:ext cx="298450" cy="304802"/>
          </a:xfrm>
          <a:prstGeom prst="rect">
            <a:avLst/>
          </a:prstGeom>
        </p:spPr>
      </p:pic>
      <p:pic>
        <p:nvPicPr>
          <p:cNvPr id="800" name="picture 80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38171" y="4127472"/>
            <a:ext cx="774630" cy="755702"/>
          </a:xfrm>
          <a:prstGeom prst="rect">
            <a:avLst/>
          </a:prstGeom>
        </p:spPr>
      </p:pic>
      <p:sp>
        <p:nvSpPr>
          <p:cNvPr id="802" name="textbox 802"/>
          <p:cNvSpPr/>
          <p:nvPr/>
        </p:nvSpPr>
        <p:spPr>
          <a:xfrm>
            <a:off x="3282984" y="4330722"/>
            <a:ext cx="1520189" cy="351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95000"/>
              </a:lnSpc>
              <a:spcBef>
                <a:spcPts val="4"/>
              </a:spcBef>
              <a:tabLst>
                <a:tab pos="42481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记录1个启发点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804" name="picture 80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295684" y="4343422"/>
            <a:ext cx="304713" cy="304802"/>
          </a:xfrm>
          <a:prstGeom prst="rect">
            <a:avLst/>
          </a:prstGeom>
        </p:spPr>
      </p:pic>
      <p:sp>
        <p:nvSpPr>
          <p:cNvPr id="806" name="textbox 806"/>
          <p:cNvSpPr/>
          <p:nvPr/>
        </p:nvSpPr>
        <p:spPr>
          <a:xfrm>
            <a:off x="1496008" y="1079361"/>
            <a:ext cx="1578610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100" b="1" kern="0" spc="-7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视频主题建议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808" name="textbox 808"/>
          <p:cNvSpPr/>
          <p:nvPr/>
        </p:nvSpPr>
        <p:spPr>
          <a:xfrm>
            <a:off x="1375111" y="4328987"/>
            <a:ext cx="1031875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6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观看任务</a:t>
            </a:r>
            <a:endParaRPr sz="1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picture 8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812" name="textbox 812"/>
          <p:cNvSpPr/>
          <p:nvPr/>
        </p:nvSpPr>
        <p:spPr>
          <a:xfrm>
            <a:off x="5816567" y="964388"/>
            <a:ext cx="3228975" cy="3712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5300" kern="0" spc="-60" baseline="-11793" dirty="0">
                <a:solidFill>
                  <a:srgbClr val="406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?</a:t>
            </a:r>
            <a:r>
              <a:rPr sz="3400" kern="0" spc="750" dirty="0">
                <a:solidFill>
                  <a:srgbClr val="406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000" b="1" kern="0" spc="-60" baseline="15626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反思问题</a:t>
            </a:r>
            <a:endParaRPr sz="3000" baseline="15626" dirty="0">
              <a:latin typeface="SimHei"/>
              <a:ea typeface="SimHei"/>
              <a:cs typeface="SimHei"/>
            </a:endParaRPr>
          </a:p>
          <a:p>
            <a:pPr marL="527050" algn="l" rtl="0" eaLnBrk="0">
              <a:lnSpc>
                <a:spcPct val="95000"/>
              </a:lnSpc>
              <a:spcBef>
                <a:spcPts val="928"/>
              </a:spcBef>
              <a:tabLst/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我本周最关注的真实问题是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什么?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01600" algn="l" rtl="0" eaLnBrk="0">
              <a:lnSpc>
                <a:spcPct val="97000"/>
              </a:lnSpc>
              <a:spcBef>
                <a:spcPts val="982"/>
              </a:spcBef>
              <a:tabLst/>
            </a:pPr>
            <a:r>
              <a:rPr sz="2600" kern="0" spc="50" baseline="-8013" dirty="0">
                <a:solidFill>
                  <a:srgbClr val="406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600" kern="0" spc="60" dirty="0">
                <a:solidFill>
                  <a:srgbClr val="406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我是如何发现这个问题的?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27050" algn="l" rtl="0" eaLnBrk="0">
              <a:lnSpc>
                <a:spcPct val="85000"/>
              </a:lnSpc>
              <a:spcBef>
                <a:spcPts val="775"/>
              </a:spcBef>
              <a:tabLst/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这个问题背后可能隐藏哪些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需求?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27050" algn="l" rtl="0" eaLnBrk="0">
              <a:lnSpc>
                <a:spcPts val="2544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在哪些环节真正帮助了我?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5025" algn="l" rtl="0" eaLnBrk="0">
              <a:lnSpc>
                <a:spcPct val="98000"/>
              </a:lnSpc>
              <a:spcBef>
                <a:spcPts val="573"/>
              </a:spcBef>
              <a:tabLst/>
            </a:pPr>
            <a:r>
              <a:rPr sz="1900" b="1" kern="0" spc="-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下次学习预告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27050" algn="l" rtl="0" eaLnBrk="0">
              <a:lnSpc>
                <a:spcPct val="95000"/>
              </a:lnSpc>
              <a:spcBef>
                <a:spcPts val="368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进入模块二：用户需求与机会识别；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27050" algn="l" rtl="0" eaLnBrk="0">
              <a:lnSpc>
                <a:spcPct val="176000"/>
              </a:lnSpc>
              <a:spcBef>
                <a:spcPts val="97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学习用户画像、访谈调研、痛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点分析；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从“看到问题”走向“理解用户”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814" name="textbox 814"/>
          <p:cNvSpPr/>
          <p:nvPr/>
        </p:nvSpPr>
        <p:spPr>
          <a:xfrm>
            <a:off x="704810" y="1924030"/>
            <a:ext cx="3677284" cy="266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2000"/>
              </a:lnSpc>
              <a:spcBef>
                <a:spcPts val="5"/>
              </a:spcBef>
              <a:tabLst>
                <a:tab pos="584200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了解课程定位与学习方式；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2000"/>
              </a:lnSpc>
              <a:spcBef>
                <a:spcPts val="456"/>
              </a:spcBef>
              <a:tabLst>
                <a:tab pos="584200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理解创新思维的内涵与核心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特征；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2000"/>
              </a:lnSpc>
              <a:spcBef>
                <a:spcPts val="456"/>
              </a:spcBef>
              <a:tabLst>
                <a:tab pos="584200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掌握问题发现与观察记录的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方法；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2000"/>
              </a:lnSpc>
              <a:spcBef>
                <a:spcPts val="457"/>
              </a:spcBef>
              <a:tabLst>
                <a:tab pos="584200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初步认识设计思维与机会表达逻辑；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5000"/>
              </a:lnSpc>
              <a:spcBef>
                <a:spcPts val="1"/>
              </a:spcBef>
              <a:tabLst>
                <a:tab pos="584200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了解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在创新学习中的辅助作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816" name="picture 8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3880" y="4222779"/>
            <a:ext cx="317560" cy="330197"/>
          </a:xfrm>
          <a:prstGeom prst="rect">
            <a:avLst/>
          </a:prstGeom>
        </p:spPr>
      </p:pic>
      <p:pic>
        <p:nvPicPr>
          <p:cNvPr id="818" name="picture 8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3880" y="3657571"/>
            <a:ext cx="317560" cy="317530"/>
          </a:xfrm>
          <a:prstGeom prst="rect">
            <a:avLst/>
          </a:prstGeom>
        </p:spPr>
      </p:pic>
      <p:pic>
        <p:nvPicPr>
          <p:cNvPr id="820" name="picture 8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7510" y="3079755"/>
            <a:ext cx="323930" cy="330197"/>
          </a:xfrm>
          <a:prstGeom prst="rect">
            <a:avLst/>
          </a:prstGeom>
        </p:spPr>
      </p:pic>
      <p:pic>
        <p:nvPicPr>
          <p:cNvPr id="822" name="picture 8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17510" y="2514606"/>
            <a:ext cx="323930" cy="330197"/>
          </a:xfrm>
          <a:prstGeom prst="rect">
            <a:avLst/>
          </a:prstGeom>
        </p:spPr>
      </p:pic>
      <p:pic>
        <p:nvPicPr>
          <p:cNvPr id="824" name="picture 8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17510" y="1936730"/>
            <a:ext cx="323930" cy="323863"/>
          </a:xfrm>
          <a:prstGeom prst="rect">
            <a:avLst/>
          </a:prstGeom>
        </p:spPr>
      </p:pic>
      <p:sp>
        <p:nvSpPr>
          <p:cNvPr id="826" name="textbox 826"/>
          <p:cNvSpPr/>
          <p:nvPr/>
        </p:nvSpPr>
        <p:spPr>
          <a:xfrm>
            <a:off x="3210658" y="5244792"/>
            <a:ext cx="489013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1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保持好奇，持续观察，创新就在你身边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828" name="picture 8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1606" y="101581"/>
            <a:ext cx="565153" cy="533419"/>
          </a:xfrm>
          <a:prstGeom prst="rect">
            <a:avLst/>
          </a:prstGeom>
        </p:spPr>
      </p:pic>
      <p:sp>
        <p:nvSpPr>
          <p:cNvPr id="830" name="textbox 830"/>
          <p:cNvSpPr/>
          <p:nvPr/>
        </p:nvSpPr>
        <p:spPr>
          <a:xfrm>
            <a:off x="158767" y="180592"/>
            <a:ext cx="3247389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200" b="1" kern="0" spc="-20" baseline="-7441" dirty="0">
                <a:solidFill>
                  <a:srgbClr val="D0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32</a:t>
            </a:r>
            <a:r>
              <a:rPr sz="2700" b="1" kern="0" spc="170" dirty="0">
                <a:solidFill>
                  <a:srgbClr val="D0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8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单元总结与反思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pic>
        <p:nvPicPr>
          <p:cNvPr id="832" name="picture 8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6148" y="920741"/>
            <a:ext cx="869867" cy="876284"/>
          </a:xfrm>
          <a:prstGeom prst="rect">
            <a:avLst/>
          </a:prstGeom>
        </p:spPr>
      </p:pic>
      <p:sp>
        <p:nvSpPr>
          <p:cNvPr id="834" name="textbox 834"/>
          <p:cNvSpPr/>
          <p:nvPr/>
        </p:nvSpPr>
        <p:spPr>
          <a:xfrm>
            <a:off x="1686665" y="1154455"/>
            <a:ext cx="2198370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100" b="1" kern="0" spc="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本模块我们学到了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836" name="picture 8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905498" y="4121139"/>
            <a:ext cx="253963" cy="57148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picture 8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840" name="picture 8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06712" y="1295396"/>
            <a:ext cx="4235519" cy="1085840"/>
          </a:xfrm>
          <a:prstGeom prst="rect">
            <a:avLst/>
          </a:prstGeom>
        </p:spPr>
      </p:pic>
      <p:sp>
        <p:nvSpPr>
          <p:cNvPr id="842" name="textbox 842"/>
          <p:cNvSpPr/>
          <p:nvPr/>
        </p:nvSpPr>
        <p:spPr>
          <a:xfrm>
            <a:off x="368351" y="2057400"/>
            <a:ext cx="1955164" cy="2155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100000"/>
              </a:lnSpc>
              <a:spcBef>
                <a:spcPts val="5"/>
              </a:spcBef>
              <a:tabLst>
                <a:tab pos="45656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用户画像；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92000"/>
              </a:lnSpc>
              <a:spcBef>
                <a:spcPts val="360"/>
              </a:spcBef>
              <a:tabLst>
                <a:tab pos="4565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访谈提纲设计；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92000"/>
              </a:lnSpc>
              <a:spcBef>
                <a:spcPts val="363"/>
              </a:spcBef>
              <a:tabLst>
                <a:tab pos="4565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需求洞察与痛点分析；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96000"/>
              </a:lnSpc>
              <a:spcBef>
                <a:spcPts val="1"/>
              </a:spcBef>
              <a:tabLst>
                <a:tab pos="4565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市场与机会判断。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844" name="picture 8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1051" y="3860793"/>
            <a:ext cx="304713" cy="317530"/>
          </a:xfrm>
          <a:prstGeom prst="rect">
            <a:avLst/>
          </a:prstGeom>
        </p:spPr>
      </p:pic>
      <p:pic>
        <p:nvPicPr>
          <p:cNvPr id="846" name="picture 8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7315" y="3263915"/>
            <a:ext cx="298449" cy="317470"/>
          </a:xfrm>
          <a:prstGeom prst="rect">
            <a:avLst/>
          </a:prstGeom>
        </p:spPr>
      </p:pic>
      <p:pic>
        <p:nvPicPr>
          <p:cNvPr id="848" name="picture 8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81051" y="2666977"/>
            <a:ext cx="304713" cy="317530"/>
          </a:xfrm>
          <a:prstGeom prst="rect">
            <a:avLst/>
          </a:prstGeom>
        </p:spPr>
      </p:pic>
      <p:pic>
        <p:nvPicPr>
          <p:cNvPr id="850" name="picture 8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87315" y="2070100"/>
            <a:ext cx="298449" cy="317470"/>
          </a:xfrm>
          <a:prstGeom prst="rect">
            <a:avLst/>
          </a:prstGeom>
        </p:spPr>
      </p:pic>
      <p:sp>
        <p:nvSpPr>
          <p:cNvPr id="852" name="textbox 852"/>
          <p:cNvSpPr/>
          <p:nvPr/>
        </p:nvSpPr>
        <p:spPr>
          <a:xfrm>
            <a:off x="8140673" y="2057400"/>
            <a:ext cx="1638300" cy="2154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04165" algn="l" rtl="0" eaLnBrk="0">
              <a:lnSpc>
                <a:spcPct val="92000"/>
              </a:lnSpc>
              <a:spcBef>
                <a:spcPts val="2"/>
              </a:spcBef>
              <a:tabLst>
                <a:tab pos="43180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用户访谈记录；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100000"/>
              </a:lnSpc>
              <a:spcBef>
                <a:spcPts val="335"/>
              </a:spcBef>
              <a:tabLst>
                <a:tab pos="431800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需求归类表；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100000"/>
              </a:lnSpc>
              <a:spcBef>
                <a:spcPts val="332"/>
              </a:spcBef>
              <a:tabLst>
                <a:tab pos="431800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竞品观察表；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96000"/>
              </a:lnSpc>
              <a:spcBef>
                <a:spcPts val="2"/>
              </a:spcBef>
              <a:tabLst>
                <a:tab pos="43180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项目机会评估表。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854" name="picture 8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153373" y="3860793"/>
            <a:ext cx="298449" cy="317530"/>
          </a:xfrm>
          <a:prstGeom prst="rect">
            <a:avLst/>
          </a:prstGeom>
        </p:spPr>
      </p:pic>
      <p:pic>
        <p:nvPicPr>
          <p:cNvPr id="856" name="picture 8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153373" y="3263915"/>
            <a:ext cx="298449" cy="317470"/>
          </a:xfrm>
          <a:prstGeom prst="rect">
            <a:avLst/>
          </a:prstGeom>
        </p:spPr>
      </p:pic>
      <p:pic>
        <p:nvPicPr>
          <p:cNvPr id="858" name="picture 85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153373" y="2666977"/>
            <a:ext cx="298449" cy="317530"/>
          </a:xfrm>
          <a:prstGeom prst="rect">
            <a:avLst/>
          </a:prstGeom>
        </p:spPr>
      </p:pic>
      <p:pic>
        <p:nvPicPr>
          <p:cNvPr id="860" name="picture 8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153373" y="2070100"/>
            <a:ext cx="292079" cy="317470"/>
          </a:xfrm>
          <a:prstGeom prst="rect">
            <a:avLst/>
          </a:prstGeom>
        </p:spPr>
      </p:pic>
      <p:pic>
        <p:nvPicPr>
          <p:cNvPr id="862" name="picture 8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20611" y="120642"/>
            <a:ext cx="571523" cy="514358"/>
          </a:xfrm>
          <a:prstGeom prst="rect">
            <a:avLst/>
          </a:prstGeom>
        </p:spPr>
      </p:pic>
      <p:sp>
        <p:nvSpPr>
          <p:cNvPr id="864" name="textbox 864"/>
          <p:cNvSpPr/>
          <p:nvPr/>
        </p:nvSpPr>
        <p:spPr>
          <a:xfrm>
            <a:off x="196883" y="179053"/>
            <a:ext cx="6001384" cy="501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748"/>
              </a:lnSpc>
              <a:tabLst/>
            </a:pPr>
            <a:r>
              <a:rPr sz="4200" kern="0" spc="-70" baseline="-6446" dirty="0">
                <a:solidFill>
                  <a:srgbClr val="D0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33</a:t>
            </a:r>
            <a:r>
              <a:rPr sz="2700" kern="0" spc="-70" dirty="0">
                <a:solidFill>
                  <a:srgbClr val="D0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下次学习预告：从问题到用户需求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866" name="picture 8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783155" y="298468"/>
            <a:ext cx="362046" cy="190494"/>
          </a:xfrm>
          <a:prstGeom prst="rect">
            <a:avLst/>
          </a:prstGeom>
        </p:spPr>
      </p:pic>
      <p:sp>
        <p:nvSpPr>
          <p:cNvPr id="868" name="textbox 868"/>
          <p:cNvSpPr/>
          <p:nvPr/>
        </p:nvSpPr>
        <p:spPr>
          <a:xfrm>
            <a:off x="3041615" y="3987829"/>
            <a:ext cx="4598034" cy="431800"/>
          </a:xfrm>
          <a:prstGeom prst="rect">
            <a:avLst/>
          </a:prstGeom>
          <a:solidFill>
            <a:srgbClr val="E7EF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09854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300" b="1" kern="0" spc="-8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从发现现象到理解用户，再到判断机会，是项目推进</a:t>
            </a:r>
            <a:r>
              <a:rPr sz="1300" b="1" kern="0" spc="-9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的关键路径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870" name="textbox 870"/>
          <p:cNvSpPr/>
          <p:nvPr/>
        </p:nvSpPr>
        <p:spPr>
          <a:xfrm>
            <a:off x="2823659" y="5199879"/>
            <a:ext cx="5920104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从“我看到了问题”,走向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“我理解了用户”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872" name="textbox 872"/>
          <p:cNvSpPr/>
          <p:nvPr/>
        </p:nvSpPr>
        <p:spPr>
          <a:xfrm>
            <a:off x="6286484" y="2906846"/>
            <a:ext cx="1278255" cy="771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1140" algn="l" rtl="0" eaLnBrk="0">
              <a:lnSpc>
                <a:spcPct val="96000"/>
              </a:lnSpc>
              <a:tabLst/>
            </a:pPr>
            <a:r>
              <a:rPr sz="1700" b="1" kern="0" spc="-70" dirty="0">
                <a:solidFill>
                  <a:srgbClr val="1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机会识别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3000"/>
              </a:lnSpc>
              <a:spcBef>
                <a:spcPts val="1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结合市场与用户需求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判断值得投入的机会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874" name="textbox 874"/>
          <p:cNvSpPr/>
          <p:nvPr/>
        </p:nvSpPr>
        <p:spPr>
          <a:xfrm>
            <a:off x="3079771" y="2905982"/>
            <a:ext cx="1237614" cy="771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5740" algn="l" rtl="0" eaLnBrk="0">
              <a:lnSpc>
                <a:spcPct val="95000"/>
              </a:lnSpc>
              <a:tabLst/>
            </a:pPr>
            <a:r>
              <a:rPr sz="1700" b="1" kern="0" spc="-9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问题发现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08915" algn="l" rtl="0" eaLnBrk="0">
              <a:lnSpc>
                <a:spcPct val="95000"/>
              </a:lnSpc>
              <a:spcBef>
                <a:spcPts val="1013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从真实场景中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识别值得关注的现象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876" name="textbox 876"/>
          <p:cNvSpPr/>
          <p:nvPr/>
        </p:nvSpPr>
        <p:spPr>
          <a:xfrm>
            <a:off x="4686260" y="2946480"/>
            <a:ext cx="1226185" cy="730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3039" algn="l" rtl="0" eaLnBrk="0">
              <a:lnSpc>
                <a:spcPct val="96000"/>
              </a:lnSpc>
              <a:tabLst/>
            </a:pPr>
            <a:r>
              <a:rPr sz="1700" b="1" kern="0" spc="-6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用户需求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08915" algn="l" rtl="0" eaLnBrk="0">
              <a:lnSpc>
                <a:spcPct val="96000"/>
              </a:lnSpc>
              <a:spcBef>
                <a:spcPts val="678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深入理解用户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明确真实需求与痛点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878" name="picture 87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92079" y="1104901"/>
            <a:ext cx="666760" cy="698518"/>
          </a:xfrm>
          <a:prstGeom prst="rect">
            <a:avLst/>
          </a:prstGeom>
        </p:spPr>
      </p:pic>
      <p:pic>
        <p:nvPicPr>
          <p:cNvPr id="880" name="picture 88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077246" y="1111235"/>
            <a:ext cx="673024" cy="685791"/>
          </a:xfrm>
          <a:prstGeom prst="rect">
            <a:avLst/>
          </a:prstGeom>
        </p:spPr>
      </p:pic>
      <p:sp>
        <p:nvSpPr>
          <p:cNvPr id="882" name="textbox 882"/>
          <p:cNvSpPr/>
          <p:nvPr/>
        </p:nvSpPr>
        <p:spPr>
          <a:xfrm>
            <a:off x="1095172" y="1337513"/>
            <a:ext cx="1452244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b="1" kern="0" spc="-10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下一模块将学习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884" name="textbox 884"/>
          <p:cNvSpPr/>
          <p:nvPr/>
        </p:nvSpPr>
        <p:spPr>
          <a:xfrm>
            <a:off x="8886518" y="1337513"/>
            <a:ext cx="1415414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700" b="1" kern="0" spc="-17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你将完成的成</a:t>
            </a:r>
            <a:r>
              <a:rPr sz="1700" b="1" kern="0" spc="-10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果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886" name="picture 88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756362" y="2546335"/>
            <a:ext cx="317560" cy="254012"/>
          </a:xfrm>
          <a:prstGeom prst="rect">
            <a:avLst/>
          </a:prstGeom>
        </p:spPr>
      </p:pic>
      <p:pic>
        <p:nvPicPr>
          <p:cNvPr id="888" name="picture 88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549648" y="2546335"/>
            <a:ext cx="317454" cy="2540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picture 8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892" name="picture 8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133806" y="1079506"/>
            <a:ext cx="2336845" cy="3803668"/>
          </a:xfrm>
          <a:prstGeom prst="rect">
            <a:avLst/>
          </a:prstGeom>
        </p:spPr>
      </p:pic>
      <p:sp>
        <p:nvSpPr>
          <p:cNvPr id="894" name="textbox 894"/>
          <p:cNvSpPr/>
          <p:nvPr/>
        </p:nvSpPr>
        <p:spPr>
          <a:xfrm>
            <a:off x="1132799" y="1959693"/>
            <a:ext cx="2482850" cy="2789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300" b="1" kern="0" spc="3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问题名称：</a:t>
            </a:r>
            <a:r>
              <a:rPr sz="1300" kern="0" spc="3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图书馆高峰期找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座难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400"/>
              </a:spcBef>
              <a:tabLst/>
            </a:pPr>
            <a:r>
              <a:rPr sz="1300" b="1" kern="0" spc="3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场景：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考试周自习高峰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9000"/>
              </a:lnSpc>
              <a:spcBef>
                <a:spcPts val="396"/>
              </a:spcBef>
              <a:tabLst/>
            </a:pPr>
            <a:r>
              <a:rPr sz="1300" b="1" kern="0" spc="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目标人群：</a:t>
            </a:r>
            <a:r>
              <a:rPr sz="1300" kern="0" spc="-32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在馆学习学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57"/>
              </a:spcBef>
              <a:tabLst/>
            </a:pPr>
            <a:r>
              <a:rPr sz="1500" b="1" kern="0" spc="-5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痛点程度：</a:t>
            </a:r>
            <a:r>
              <a:rPr sz="1500" kern="0" spc="-5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★★★★</a:t>
            </a:r>
            <a:r>
              <a:rPr sz="1500" kern="0" spc="-5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5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☆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24560" indent="-911860" algn="l" rtl="0" eaLnBrk="0">
              <a:lnSpc>
                <a:spcPct val="121000"/>
              </a:lnSpc>
              <a:spcBef>
                <a:spcPts val="4"/>
              </a:spcBef>
              <a:tabLst/>
            </a:pPr>
            <a:r>
              <a:rPr sz="1300" b="1" kern="0" spc="-2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现有情况：</a:t>
            </a:r>
            <a:r>
              <a:rPr sz="1300" kern="0" spc="17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空座信息不透明，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反复寻找耗时。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66" name="group 66"/>
          <p:cNvGrpSpPr/>
          <p:nvPr/>
        </p:nvGrpSpPr>
        <p:grpSpPr>
          <a:xfrm rot="21600000">
            <a:off x="241328" y="5048274"/>
            <a:ext cx="10096427" cy="660395"/>
            <a:chOff x="0" y="0"/>
            <a:chExt cx="10096427" cy="660395"/>
          </a:xfrm>
        </p:grpSpPr>
        <p:pic>
          <p:nvPicPr>
            <p:cNvPr id="896" name="picture 89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096427" cy="660395"/>
            </a:xfrm>
            <a:prstGeom prst="rect">
              <a:avLst/>
            </a:prstGeom>
          </p:spPr>
        </p:pic>
        <p:sp>
          <p:nvSpPr>
            <p:cNvPr id="898" name="textbox 898"/>
            <p:cNvSpPr/>
            <p:nvPr/>
          </p:nvSpPr>
          <p:spPr>
            <a:xfrm>
              <a:off x="-12700" y="-12700"/>
              <a:ext cx="10121900" cy="709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352675" algn="l" rtl="0" eaLnBrk="0">
                <a:lnSpc>
                  <a:spcPct val="94000"/>
                </a:lnSpc>
                <a:spcBef>
                  <a:spcPts val="1"/>
                </a:spcBef>
                <a:tabLst/>
              </a:pPr>
              <a:r>
                <a:rPr sz="2100" b="1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把模糊感受转化为清晰表达，是项目起步的重要</a:t>
              </a:r>
              <a:r>
                <a:rPr sz="2100" b="1" kern="0" spc="-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能力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900" name="textbox 900"/>
          <p:cNvSpPr/>
          <p:nvPr/>
        </p:nvSpPr>
        <p:spPr>
          <a:xfrm>
            <a:off x="7505657" y="2225483"/>
            <a:ext cx="2578100" cy="2491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9000"/>
              </a:lnSpc>
              <a:tabLst/>
            </a:pPr>
            <a:r>
              <a:rPr sz="1200" b="1" kern="0" spc="10" dirty="0">
                <a:solidFill>
                  <a:srgbClr val="108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机会方向：</a:t>
            </a:r>
            <a:r>
              <a:rPr sz="1200" kern="0" spc="10" dirty="0">
                <a:solidFill>
                  <a:srgbClr val="108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自习座位查询与预约服务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600"/>
              </a:lnSpc>
              <a:spcBef>
                <a:spcPts val="402"/>
              </a:spcBef>
              <a:tabLst/>
            </a:pPr>
            <a:r>
              <a:rPr sz="1300" b="1" kern="0" spc="-120" dirty="0">
                <a:solidFill>
                  <a:srgbClr val="108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解决思路：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855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实时座位数据、区域导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航、预约提醒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582"/>
              </a:lnSpc>
              <a:spcBef>
                <a:spcPts val="360"/>
              </a:spcBef>
              <a:tabLst/>
            </a:pPr>
            <a:r>
              <a:rPr sz="1200" b="1" kern="0" spc="-40" dirty="0">
                <a:solidFill>
                  <a:srgbClr val="108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潜在价值：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4000"/>
              </a:lnSpc>
              <a:spcBef>
                <a:spcPts val="360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提升学习效率，减少无效等待，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优化空间利用。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68" name="group 68"/>
          <p:cNvGrpSpPr/>
          <p:nvPr/>
        </p:nvGrpSpPr>
        <p:grpSpPr>
          <a:xfrm rot="21600000">
            <a:off x="260333" y="933469"/>
            <a:ext cx="3689370" cy="749308"/>
            <a:chOff x="0" y="0"/>
            <a:chExt cx="3689370" cy="749308"/>
          </a:xfrm>
        </p:grpSpPr>
        <p:pic>
          <p:nvPicPr>
            <p:cNvPr id="902" name="picture 90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689370" cy="749308"/>
            </a:xfrm>
            <a:prstGeom prst="rect">
              <a:avLst/>
            </a:prstGeom>
          </p:spPr>
        </p:pic>
        <p:sp>
          <p:nvSpPr>
            <p:cNvPr id="904" name="textbox 904"/>
            <p:cNvSpPr/>
            <p:nvPr/>
          </p:nvSpPr>
          <p:spPr>
            <a:xfrm>
              <a:off x="-12700" y="-12700"/>
              <a:ext cx="3715384" cy="8108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5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0960" algn="l" rtl="0" eaLnBrk="0">
                <a:lnSpc>
                  <a:spcPct val="98000"/>
                </a:lnSpc>
                <a:tabLst/>
              </a:pPr>
              <a:r>
                <a:rPr sz="2100" b="1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问题卡示例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6661125" y="939803"/>
            <a:ext cx="3657625" cy="755642"/>
            <a:chOff x="0" y="0"/>
            <a:chExt cx="3657625" cy="755642"/>
          </a:xfrm>
        </p:grpSpPr>
        <p:pic>
          <p:nvPicPr>
            <p:cNvPr id="906" name="picture 90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3657625" cy="755642"/>
            </a:xfrm>
            <a:prstGeom prst="rect">
              <a:avLst/>
            </a:prstGeom>
          </p:spPr>
        </p:pic>
        <p:sp>
          <p:nvSpPr>
            <p:cNvPr id="908" name="textbox 908"/>
            <p:cNvSpPr/>
            <p:nvPr/>
          </p:nvSpPr>
          <p:spPr>
            <a:xfrm>
              <a:off x="-12700" y="-12700"/>
              <a:ext cx="3683634" cy="8172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98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86510" algn="l" rtl="0" eaLnBrk="0">
                <a:lnSpc>
                  <a:spcPct val="98000"/>
                </a:lnSpc>
                <a:tabLst/>
              </a:pPr>
              <a:r>
                <a:rPr sz="21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机会卡示例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910" name="picture 9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47" y="120642"/>
            <a:ext cx="552412" cy="501630"/>
          </a:xfrm>
          <a:prstGeom prst="rect">
            <a:avLst/>
          </a:prstGeom>
        </p:spPr>
      </p:pic>
      <p:sp>
        <p:nvSpPr>
          <p:cNvPr id="912" name="textbox 912"/>
          <p:cNvSpPr/>
          <p:nvPr/>
        </p:nvSpPr>
        <p:spPr>
          <a:xfrm>
            <a:off x="177772" y="178953"/>
            <a:ext cx="6372859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5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3300" b="1" kern="0" spc="-90" baseline="-12627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34</a:t>
            </a:r>
            <a:r>
              <a:rPr sz="2100" b="1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成果展示：优秀问题卡与机会卡示例</a:t>
            </a:r>
            <a:r>
              <a:rPr sz="2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-9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&gt;&gt;&gt;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914" name="picture 9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81842" y="3962374"/>
            <a:ext cx="596899" cy="584210"/>
          </a:xfrm>
          <a:prstGeom prst="rect">
            <a:avLst/>
          </a:prstGeom>
        </p:spPr>
      </p:pic>
      <p:pic>
        <p:nvPicPr>
          <p:cNvPr id="916" name="picture 9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781842" y="2959112"/>
            <a:ext cx="590529" cy="584210"/>
          </a:xfrm>
          <a:prstGeom prst="rect">
            <a:avLst/>
          </a:prstGeom>
        </p:spPr>
      </p:pic>
      <p:pic>
        <p:nvPicPr>
          <p:cNvPr id="918" name="picture 9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781842" y="1974853"/>
            <a:ext cx="571417" cy="590543"/>
          </a:xfrm>
          <a:prstGeom prst="rect">
            <a:avLst/>
          </a:prstGeom>
        </p:spPr>
      </p:pic>
      <p:pic>
        <p:nvPicPr>
          <p:cNvPr id="920" name="picture 9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31801" y="4165595"/>
            <a:ext cx="527037" cy="527025"/>
          </a:xfrm>
          <a:prstGeom prst="rect">
            <a:avLst/>
          </a:prstGeom>
        </p:spPr>
      </p:pic>
      <p:pic>
        <p:nvPicPr>
          <p:cNvPr id="922" name="picture 9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38171" y="2362175"/>
            <a:ext cx="520667" cy="520752"/>
          </a:xfrm>
          <a:prstGeom prst="rect">
            <a:avLst/>
          </a:prstGeom>
        </p:spPr>
      </p:pic>
      <p:pic>
        <p:nvPicPr>
          <p:cNvPr id="924" name="picture 9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44542" y="2959112"/>
            <a:ext cx="527037" cy="507964"/>
          </a:xfrm>
          <a:prstGeom prst="rect">
            <a:avLst/>
          </a:prstGeom>
        </p:spPr>
      </p:pic>
      <p:pic>
        <p:nvPicPr>
          <p:cNvPr id="926" name="picture 9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38171" y="1771631"/>
            <a:ext cx="514297" cy="495296"/>
          </a:xfrm>
          <a:prstGeom prst="rect">
            <a:avLst/>
          </a:prstGeom>
        </p:spPr>
      </p:pic>
      <p:pic>
        <p:nvPicPr>
          <p:cNvPr id="928" name="picture 9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88922" y="3594113"/>
            <a:ext cx="444542" cy="4254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picture 9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932" name="picture 9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4958" y="3854459"/>
            <a:ext cx="3975079" cy="1231878"/>
          </a:xfrm>
          <a:prstGeom prst="rect">
            <a:avLst/>
          </a:prstGeom>
        </p:spPr>
      </p:pic>
      <p:sp>
        <p:nvSpPr>
          <p:cNvPr id="934" name="textbox 934"/>
          <p:cNvSpPr/>
          <p:nvPr/>
        </p:nvSpPr>
        <p:spPr>
          <a:xfrm>
            <a:off x="876278" y="2011291"/>
            <a:ext cx="2839085" cy="1744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关注真实问题，服务学习与生活；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369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坚持以人为本，尊重用户体验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36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善用人工智能，提升效率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但不替代判断；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76"/>
              </a:lnSpc>
              <a:spcBef>
                <a:spcPts val="1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将个人创意与社会需求、责任意识相结合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36" name="textbox 936"/>
          <p:cNvSpPr/>
          <p:nvPr/>
        </p:nvSpPr>
        <p:spPr>
          <a:xfrm>
            <a:off x="8953525" y="1324581"/>
            <a:ext cx="1327785" cy="293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1289" algn="l" rtl="0" eaLnBrk="0">
              <a:lnSpc>
                <a:spcPct val="95000"/>
              </a:lnSpc>
              <a:tabLst/>
            </a:pPr>
            <a:r>
              <a:rPr sz="1600" b="1" kern="0" spc="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提升效率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9000"/>
              </a:lnSpc>
              <a:spcBef>
                <a:spcPts val="339"/>
              </a:spcBef>
              <a:tabLst/>
            </a:pP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用智能工具优化流程，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让时间更有价值。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7789" algn="l" rtl="0" eaLnBrk="0">
              <a:lnSpc>
                <a:spcPct val="95000"/>
              </a:lnSpc>
              <a:spcBef>
                <a:spcPts val="521"/>
              </a:spcBef>
              <a:tabLst/>
            </a:pPr>
            <a:r>
              <a:rPr sz="1700" b="1" kern="0" spc="-8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可持续发展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37"/>
              </a:spcBef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关注长期影响，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守护社会与环境。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938" name="textbox 938"/>
          <p:cNvSpPr/>
          <p:nvPr/>
        </p:nvSpPr>
        <p:spPr>
          <a:xfrm>
            <a:off x="6546817" y="1324581"/>
            <a:ext cx="1201419" cy="293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3039" algn="l" rtl="0" eaLnBrk="0">
              <a:lnSpc>
                <a:spcPct val="95000"/>
              </a:lnSpc>
              <a:tabLst/>
            </a:pPr>
            <a:r>
              <a:rPr sz="1600" b="1" kern="0" spc="-3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服务他人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1600" indent="31115" algn="l" rtl="0" eaLnBrk="0">
              <a:lnSpc>
                <a:spcPct val="129000"/>
              </a:lnSpc>
              <a:spcBef>
                <a:spcPts val="332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用创新解决他人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问题，传递善意。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3039" algn="l" rtl="0" eaLnBrk="0">
              <a:lnSpc>
                <a:spcPct val="97000"/>
              </a:lnSpc>
              <a:spcBef>
                <a:spcPts val="480"/>
              </a:spcBef>
              <a:tabLst/>
            </a:pPr>
            <a:r>
              <a:rPr sz="1600" b="1" kern="0" spc="-3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促进公平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35000"/>
              </a:lnSpc>
              <a:spcBef>
                <a:spcPts val="2"/>
              </a:spcBef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让创新成果被更多人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公平、平等地使用。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940" name="picture 9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7976" y="120642"/>
            <a:ext cx="558783" cy="514358"/>
          </a:xfrm>
          <a:prstGeom prst="rect">
            <a:avLst/>
          </a:prstGeom>
        </p:spPr>
      </p:pic>
      <p:sp>
        <p:nvSpPr>
          <p:cNvPr id="942" name="textbox 942"/>
          <p:cNvSpPr/>
          <p:nvPr/>
        </p:nvSpPr>
        <p:spPr>
          <a:xfrm>
            <a:off x="177772" y="209362"/>
            <a:ext cx="5775959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4000" kern="0" spc="-60" baseline="-6511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35</a:t>
            </a:r>
            <a:r>
              <a:rPr sz="2600" kern="0" spc="-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6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价值引领：让创新回应真实需求</a:t>
            </a:r>
            <a:r>
              <a:rPr sz="2600" kern="0" spc="-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-60" dirty="0">
                <a:solidFill>
                  <a:srgbClr val="205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&gt;&gt;</a:t>
            </a:r>
            <a:r>
              <a:rPr sz="2600" kern="0" spc="-70" dirty="0">
                <a:solidFill>
                  <a:srgbClr val="205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&gt;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944" name="textbox 944"/>
          <p:cNvSpPr/>
          <p:nvPr/>
        </p:nvSpPr>
        <p:spPr>
          <a:xfrm>
            <a:off x="2861352" y="5371828"/>
            <a:ext cx="5523865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好的创新，不只新，更要有益、有用、有温度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946" name="picture 9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13419" y="1244606"/>
            <a:ext cx="863603" cy="895346"/>
          </a:xfrm>
          <a:prstGeom prst="rect">
            <a:avLst/>
          </a:prstGeom>
        </p:spPr>
      </p:pic>
      <p:pic>
        <p:nvPicPr>
          <p:cNvPr id="948" name="picture 9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64506" y="1250939"/>
            <a:ext cx="863602" cy="895346"/>
          </a:xfrm>
          <a:prstGeom prst="rect">
            <a:avLst/>
          </a:prstGeom>
        </p:spPr>
      </p:pic>
      <p:pic>
        <p:nvPicPr>
          <p:cNvPr id="950" name="picture 9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13419" y="3225792"/>
            <a:ext cx="869973" cy="882678"/>
          </a:xfrm>
          <a:prstGeom prst="rect">
            <a:avLst/>
          </a:prstGeom>
        </p:spPr>
      </p:pic>
      <p:pic>
        <p:nvPicPr>
          <p:cNvPr id="952" name="picture 9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51766" y="3232126"/>
            <a:ext cx="863603" cy="882678"/>
          </a:xfrm>
          <a:prstGeom prst="rect">
            <a:avLst/>
          </a:prstGeom>
        </p:spPr>
      </p:pic>
      <p:pic>
        <p:nvPicPr>
          <p:cNvPr id="954" name="picture 9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4681" y="1041384"/>
            <a:ext cx="831857" cy="838222"/>
          </a:xfrm>
          <a:prstGeom prst="rect">
            <a:avLst/>
          </a:prstGeom>
        </p:spPr>
      </p:pic>
      <p:sp>
        <p:nvSpPr>
          <p:cNvPr id="956" name="textbox 956"/>
          <p:cNvSpPr/>
          <p:nvPr/>
        </p:nvSpPr>
        <p:spPr>
          <a:xfrm>
            <a:off x="1400593" y="1174037"/>
            <a:ext cx="1007744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10" dirty="0">
                <a:solidFill>
                  <a:srgbClr val="003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价值导向</a:t>
            </a:r>
            <a:endParaRPr sz="1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picture 9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960" name="picture 9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53260" y="3416286"/>
            <a:ext cx="3016239" cy="1492283"/>
          </a:xfrm>
          <a:prstGeom prst="rect">
            <a:avLst/>
          </a:prstGeom>
        </p:spPr>
      </p:pic>
      <p:graphicFrame>
        <p:nvGraphicFramePr>
          <p:cNvPr id="962" name="table 962"/>
          <p:cNvGraphicFramePr>
            <a:graphicFrameLocks noGrp="1"/>
          </p:cNvGraphicFramePr>
          <p:nvPr/>
        </p:nvGraphicFramePr>
        <p:xfrm>
          <a:off x="1136676" y="3585446"/>
          <a:ext cx="8730614" cy="902970"/>
        </p:xfrm>
        <a:graphic>
          <a:graphicData uri="http://schemas.openxmlformats.org/drawingml/2006/table">
            <a:tbl>
              <a:tblPr/>
              <a:tblGrid>
                <a:gridCol w="1315720"/>
                <a:gridCol w="1822450"/>
                <a:gridCol w="1661160"/>
                <a:gridCol w="1874520"/>
                <a:gridCol w="2056764"/>
              </a:tblGrid>
              <a:tr h="350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738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400" b="1" kern="0" spc="-50" dirty="0">
                          <a:solidFill>
                            <a:srgbClr val="0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模块一回顾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90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690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300" b="1" kern="0" spc="0" dirty="0">
                          <a:solidFill>
                            <a:srgbClr val="003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下一</a:t>
                      </a:r>
                      <a:r>
                        <a:rPr sz="1300" b="1" kern="0" spc="0" dirty="0">
                          <a:solidFill>
                            <a:srgbClr val="003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步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8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00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b="1" kern="0" spc="30" dirty="0">
                          <a:solidFill>
                            <a:srgbClr val="003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创新思维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308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3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问题发现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7834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3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设计思维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9119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30F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200" b="1" kern="0" spc="-20" dirty="0">
                          <a:solidFill>
                            <a:srgbClr val="003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辅助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6905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90" dirty="0">
                          <a:solidFill>
                            <a:srgbClr val="0030F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进入模块二：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8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打破惯性，发现可能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164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从身边观察，识别价值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同理用户，系统解决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068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提升效率，拓履视野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用户需求与机会识别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964" name="picture 9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7976" y="107974"/>
            <a:ext cx="577788" cy="533360"/>
          </a:xfrm>
          <a:prstGeom prst="rect">
            <a:avLst/>
          </a:prstGeom>
        </p:spPr>
      </p:pic>
      <p:sp>
        <p:nvSpPr>
          <p:cNvPr id="966" name="textbox 966"/>
          <p:cNvSpPr/>
          <p:nvPr/>
        </p:nvSpPr>
        <p:spPr>
          <a:xfrm>
            <a:off x="177772" y="195163"/>
            <a:ext cx="5944234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4000" kern="0" spc="-20" baseline="-9115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36</a:t>
            </a:r>
            <a:r>
              <a:rPr sz="2600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模块一结束：保持观察，开启下一程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968" name="textbox 968"/>
          <p:cNvSpPr/>
          <p:nvPr/>
        </p:nvSpPr>
        <p:spPr>
          <a:xfrm>
            <a:off x="3046378" y="5249771"/>
            <a:ext cx="5471159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2600" b="1" kern="0" spc="2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从身边发现问题，从实践开启创新</a:t>
            </a:r>
            <a:endParaRPr sz="2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2026-05-06T02:06:29Z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2026-05-06T02:06:47</vt:filetime>
  </property>
  <property fmtid="{D5CDD505-2E9C-101B-9397-08002B2CF9AE}" pid="4" name="UsrData">
    <vt:lpwstr>69fa3199259dfc001f6705dbwl</vt:lpwstr>
  </property>
</Properties>
</file>