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4" Type="http://schemas.openxmlformats.org/officeDocument/2006/relationships/viewProps" Target="viewProps.xml"/><Relationship Id="rId13" Type="http://schemas.openxmlformats.org/officeDocument/2006/relationships/tableStyles" Target="tableStyles.xml"/><Relationship Id="rId12" Type="http://schemas.openxmlformats.org/officeDocument/2006/relationships/presProps" Target="presProps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image" Target="../media/image12.jpeg"/><Relationship Id="rId7" Type="http://schemas.openxmlformats.org/officeDocument/2006/relationships/image" Target="../media/image11.jpe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3" Type="http://schemas.openxmlformats.org/officeDocument/2006/relationships/image" Target="../media/image17.jpeg"/><Relationship Id="rId12" Type="http://schemas.openxmlformats.org/officeDocument/2006/relationships/image" Target="../media/image16.jpeg"/><Relationship Id="rId11" Type="http://schemas.openxmlformats.org/officeDocument/2006/relationships/image" Target="../media/image15.jpeg"/><Relationship Id="rId10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jpeg"/><Relationship Id="rId8" Type="http://schemas.openxmlformats.org/officeDocument/2006/relationships/image" Target="../media/image25.jpeg"/><Relationship Id="rId7" Type="http://schemas.openxmlformats.org/officeDocument/2006/relationships/image" Target="../media/image24.jpeg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1" Type="http://schemas.openxmlformats.org/officeDocument/2006/relationships/image" Target="../media/image28.jpeg"/><Relationship Id="rId10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jpeg"/><Relationship Id="rId8" Type="http://schemas.openxmlformats.org/officeDocument/2006/relationships/image" Target="../media/image41.jpeg"/><Relationship Id="rId7" Type="http://schemas.openxmlformats.org/officeDocument/2006/relationships/image" Target="../media/image40.jpeg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3" Type="http://schemas.openxmlformats.org/officeDocument/2006/relationships/image" Target="../media/image46.jpeg"/><Relationship Id="rId12" Type="http://schemas.openxmlformats.org/officeDocument/2006/relationships/image" Target="../media/image45.jpeg"/><Relationship Id="rId11" Type="http://schemas.openxmlformats.org/officeDocument/2006/relationships/image" Target="../media/image44.jpeg"/><Relationship Id="rId10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jpeg"/><Relationship Id="rId8" Type="http://schemas.openxmlformats.org/officeDocument/2006/relationships/image" Target="../media/image53.jpeg"/><Relationship Id="rId7" Type="http://schemas.openxmlformats.org/officeDocument/2006/relationships/image" Target="../media/image52.jpeg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0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28628" y="139671"/>
            <a:ext cx="6781800" cy="2475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1665" algn="l" rtl="0" eaLnBrk="0">
              <a:lnSpc>
                <a:spcPct val="96000"/>
              </a:lnSpc>
              <a:tabLst>
                <a:tab pos="796925" algn="l"/>
              </a:tabLst>
            </a:pPr>
            <a:r>
              <a:rPr sz="1900" kern="0" spc="0" dirty="0">
                <a:solidFill>
                  <a:srgbClr val="205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-30" dirty="0">
                <a:solidFill>
                  <a:srgbClr val="205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《创新创业基础》实践课|第1次：问题观察与机</a:t>
            </a:r>
            <a:r>
              <a:rPr sz="1900" b="1" kern="0" spc="-40" dirty="0">
                <a:solidFill>
                  <a:srgbClr val="205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会卡形成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3370" algn="l" rtl="0" eaLnBrk="0">
              <a:lnSpc>
                <a:spcPct val="97000"/>
              </a:lnSpc>
              <a:spcBef>
                <a:spcPts val="1417"/>
              </a:spcBef>
              <a:tabLst/>
            </a:pPr>
            <a:r>
              <a:rPr sz="4700" b="1" kern="0" spc="-3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问题观察与机会卡形成</a:t>
            </a:r>
            <a:endParaRPr sz="4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对应理论模块：模块1课程导入与创新思维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1328" y="152371"/>
            <a:ext cx="609533" cy="58421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286246" y="4140672"/>
            <a:ext cx="4384040" cy="1548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8580" algn="l" rtl="0" eaLnBrk="0">
              <a:lnSpc>
                <a:spcPct val="94000"/>
              </a:lnSpc>
              <a:tabLst/>
            </a:pPr>
            <a:r>
              <a:rPr sz="1300" b="1" kern="0" spc="-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实践产出：</a:t>
            </a:r>
            <a:r>
              <a:rPr sz="1300" kern="0" spc="-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问题观察记录表/问题卡/机会卡/小组主题初</a:t>
            </a: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选表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1900" b="1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从真实问题出发，让项目从观察</a:t>
            </a:r>
            <a:r>
              <a:rPr sz="1900" b="1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开始。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734352" y="1801552"/>
            <a:ext cx="1205864" cy="2519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84" rIns="0" bIns="0"/>
          <a:lstStyle/>
          <a:p>
            <a:pPr marL="674369" algn="l" rtl="0" eaLnBrk="0">
              <a:lnSpc>
                <a:spcPct val="135000"/>
              </a:lnSpc>
              <a:spcBef>
                <a:spcPts val="6"/>
              </a:spcBef>
              <a:tabLst/>
            </a:pPr>
            <a:r>
              <a:rPr sz="1100" b="1" kern="0" spc="-11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敢想敢做</a:t>
            </a:r>
            <a:r>
              <a:rPr sz="1100" kern="0" spc="2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-9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善创会创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1914" algn="l" rtl="0" eaLnBrk="0">
              <a:lnSpc>
                <a:spcPct val="99000"/>
              </a:lnSpc>
              <a:spcBef>
                <a:spcPts val="244"/>
              </a:spcBef>
              <a:tabLst/>
            </a:pP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问题观察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→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机会探索</a:t>
            </a:r>
            <a:endParaRPr sz="8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31"/>
              </a:spcBef>
              <a:tabLst/>
            </a:pPr>
            <a:r>
              <a:rPr sz="400" kern="0" spc="-4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食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</a:t>
            </a:r>
            <a:r>
              <a:rPr sz="400" kern="0" spc="-4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盘；</a:t>
            </a:r>
            <a:endParaRPr sz="400" dirty="0">
              <a:latin typeface="STXingkai"/>
              <a:ea typeface="STXingkai"/>
              <a:cs typeface="STXingkai"/>
            </a:endParaRPr>
          </a:p>
          <a:p>
            <a:pPr marL="12700" algn="l" rtl="0" eaLnBrk="0">
              <a:lnSpc>
                <a:spcPts val="826"/>
              </a:lnSpc>
              <a:tabLst/>
            </a:pP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黄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武    席</a:t>
            </a:r>
            <a:endParaRPr sz="3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7000"/>
              </a:lnSpc>
              <a:spcBef>
                <a:spcPts val="3"/>
              </a:spcBef>
              <a:tabLst/>
            </a:pPr>
            <a:r>
              <a:rPr sz="500" i="1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批最命</a:t>
            </a:r>
            <a:endParaRPr sz="500" dirty="0">
              <a:latin typeface="LiSu"/>
              <a:ea typeface="LiSu"/>
              <a:cs typeface="LiSu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9366216" y="1584488"/>
            <a:ext cx="1256030" cy="1108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19150" algn="l" rtl="0" eaLnBrk="0">
              <a:lnSpc>
                <a:spcPts val="981"/>
              </a:lnSpc>
              <a:tabLst/>
            </a:pPr>
            <a:r>
              <a:rPr sz="800" kern="0" spc="-10" dirty="0">
                <a:solidFill>
                  <a:srgbClr val="105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场景分析</a:t>
            </a:r>
            <a:endParaRPr sz="800" dirty="0">
              <a:latin typeface="STXingkai"/>
              <a:ea typeface="STXingkai"/>
              <a:cs typeface="STXingkai"/>
            </a:endParaRPr>
          </a:p>
          <a:p>
            <a:pPr marL="114300" algn="l" rtl="0" eaLnBrk="0">
              <a:lnSpc>
                <a:spcPct val="98000"/>
              </a:lnSpc>
              <a:spcBef>
                <a:spcPts val="271"/>
              </a:spcBef>
              <a:tabLst/>
            </a:pPr>
            <a:r>
              <a:rPr sz="700" kern="0" spc="-70" dirty="0">
                <a:solidFill>
                  <a:srgbClr val="105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用户需求</a:t>
            </a:r>
            <a:endParaRPr sz="7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1950" algn="l" rtl="0" eaLnBrk="0">
              <a:lnSpc>
                <a:spcPct val="84000"/>
              </a:lnSpc>
              <a:spcBef>
                <a:spcPts val="312"/>
              </a:spcBef>
              <a:tabLst/>
            </a:pPr>
            <a:r>
              <a:rPr sz="1000" kern="0" spc="90" dirty="0">
                <a:solidFill>
                  <a:srgbClr val="105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真实问题</a:t>
            </a:r>
            <a:endParaRPr sz="10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87"/>
              </a:lnSpc>
              <a:spcBef>
                <a:spcPts val="1"/>
              </a:spcBef>
              <a:tabLst/>
            </a:pPr>
            <a:r>
              <a:rPr sz="700" kern="0" spc="-40" dirty="0">
                <a:solidFill>
                  <a:srgbClr val="105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痛点挖掘</a:t>
            </a:r>
            <a:r>
              <a:rPr sz="700" kern="0" spc="10" dirty="0">
                <a:solidFill>
                  <a:srgbClr val="105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         </a:t>
            </a:r>
            <a:r>
              <a:rPr sz="700" kern="0" spc="0" dirty="0">
                <a:solidFill>
                  <a:srgbClr val="1050D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       </a:t>
            </a:r>
            <a:r>
              <a:rPr sz="800" kern="0" spc="-40" dirty="0">
                <a:solidFill>
                  <a:srgbClr val="0040E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机会方案</a:t>
            </a:r>
            <a:endParaRPr sz="800" dirty="0">
              <a:latin typeface="STXingkai"/>
              <a:ea typeface="STXingkai"/>
              <a:cs typeface="STXingka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06600" y="3003569"/>
            <a:ext cx="584264" cy="539753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7894" y="3009903"/>
            <a:ext cx="539672" cy="52069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29771" y="368320"/>
            <a:ext cx="819116" cy="29207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4908584" y="3194835"/>
            <a:ext cx="718184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机会表达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200102" y="3193591"/>
            <a:ext cx="709294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场景观察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3073401" y="3194302"/>
            <a:ext cx="707390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痛点记录</a:t>
            </a:r>
            <a:endParaRPr sz="1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171402" y="82546"/>
            <a:ext cx="6298565" cy="1642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0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4350" algn="l" rtl="0" eaLnBrk="0">
              <a:lnSpc>
                <a:spcPct val="94000"/>
              </a:lnSpc>
              <a:tabLst>
                <a:tab pos="707390" algn="l"/>
              </a:tabLst>
            </a:pPr>
            <a:r>
              <a:rPr sz="16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b="1" kern="0" spc="14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《创新创业基础》实践课|第1次：问题观察</a:t>
            </a:r>
            <a:r>
              <a:rPr sz="1600" b="1" kern="0" spc="13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与机会卡形成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95000"/>
              </a:lnSpc>
              <a:spcBef>
                <a:spcPts val="1032"/>
              </a:spcBef>
              <a:tabLst/>
            </a:pPr>
            <a:r>
              <a:rPr sz="3400" b="1" kern="0" spc="2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实践目标与核心任务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266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从“看到问题”走向“识别机会”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4102" y="95246"/>
            <a:ext cx="501662" cy="495296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666800" y="2595433"/>
            <a:ext cx="2965450" cy="1569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106000"/>
              </a:lnSpc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从校园、生活、专业学习与社会场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景中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发现真实问题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649"/>
              </a:spcBef>
              <a:tabLst/>
            </a:pPr>
            <a:r>
              <a:rPr sz="2400" kern="0" spc="0" baseline="-10851" dirty="0">
                <a:solidFill>
                  <a:srgbClr val="608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500" kern="0" spc="0" dirty="0">
                <a:solidFill>
                  <a:srgbClr val="608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理解“问题”与“机会”的区别与联系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16865" algn="l" rtl="0" eaLnBrk="0">
              <a:lnSpc>
                <a:spcPct val="99000"/>
              </a:lnSpc>
              <a:spcBef>
                <a:spcPts val="950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学会形成初步的问题卡与机会卡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99000"/>
              </a:lnSpc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建立小组协作机制与项目初始方向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80723" y="3632176"/>
            <a:ext cx="425431" cy="501690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7226319" y="2038338"/>
            <a:ext cx="1600200" cy="1903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1900" b="1" kern="0" spc="-50" dirty="0">
                <a:solidFill>
                  <a:srgbClr val="108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成果产出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4965" algn="l" rtl="0" eaLnBrk="0">
              <a:lnSpc>
                <a:spcPct val="96000"/>
              </a:lnSpc>
              <a:spcBef>
                <a:spcPts val="340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问题观察记录表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1391"/>
              </a:spcBef>
              <a:tabLst/>
            </a:pPr>
            <a:r>
              <a:rPr sz="2600" kern="0" spc="-10" baseline="-6010" dirty="0">
                <a:solidFill>
                  <a:srgbClr val="8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600" kern="0" spc="200" dirty="0">
                <a:solidFill>
                  <a:srgbClr val="8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800" kern="0" spc="-10" baseline="5787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问题卡</a:t>
            </a:r>
            <a:endParaRPr sz="1800" baseline="5787" dirty="0">
              <a:latin typeface="SimHei"/>
              <a:ea typeface="SimHei"/>
              <a:cs typeface="SimHei"/>
            </a:endParaRPr>
          </a:p>
          <a:p>
            <a:pPr marL="354965" algn="l" rtl="0" eaLnBrk="0">
              <a:lnSpc>
                <a:spcPct val="96000"/>
              </a:lnSpc>
              <a:spcBef>
                <a:spcPts val="1237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机会卡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54965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小组主题初选表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4445037" y="2595433"/>
            <a:ext cx="928369" cy="143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场景观察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59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痛点记录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326"/>
              </a:spcBef>
              <a:tabLst/>
            </a:pP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问题筛选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095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机会表达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小组初步分工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101598" y="5436871"/>
            <a:ext cx="5464809" cy="255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看见问题，只是开始；把问题转化为机会，才是项目起点。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615944" y="1879574"/>
            <a:ext cx="1699260" cy="622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6265" algn="l" rtl="0" eaLnBrk="0">
              <a:lnSpc>
                <a:spcPct val="94000"/>
              </a:lnSpc>
              <a:tabLst>
                <a:tab pos="751840" algn="l"/>
              </a:tabLst>
            </a:pPr>
            <a:r>
              <a:rPr sz="1700" kern="0" spc="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12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8644" y="1892274"/>
            <a:ext cx="584158" cy="571542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070356" y="1898635"/>
            <a:ext cx="16065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546100" algn="l" rtl="0" eaLnBrk="0">
              <a:lnSpc>
                <a:spcPct val="98000"/>
              </a:lnSpc>
              <a:spcBef>
                <a:spcPts val="2"/>
              </a:spcBef>
              <a:tabLst>
                <a:tab pos="669925" algn="l"/>
              </a:tabLst>
            </a:pPr>
            <a:r>
              <a:rPr sz="1900" kern="0" spc="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-8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重点任务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083056" y="1911335"/>
            <a:ext cx="533408" cy="533419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038851" y="3416286"/>
            <a:ext cx="527037" cy="692184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7467647" y="4432303"/>
            <a:ext cx="996314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9400" algn="l" rtl="0" eaLnBrk="0">
              <a:lnSpc>
                <a:spcPct val="95000"/>
              </a:lnSpc>
              <a:tabLst>
                <a:tab pos="361315" algn="l"/>
              </a:tabLst>
            </a:pP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2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机会发现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480347" y="4445003"/>
            <a:ext cx="266704" cy="292075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5918173" y="4444970"/>
            <a:ext cx="1017905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85750" algn="l" rtl="0" eaLnBrk="0">
              <a:lnSpc>
                <a:spcPct val="96000"/>
              </a:lnSpc>
              <a:spcBef>
                <a:spcPts val="1"/>
              </a:spcBef>
              <a:tabLst>
                <a:tab pos="387350" algn="l"/>
              </a:tabLst>
            </a:pP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1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用户痛点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930873" y="4457670"/>
            <a:ext cx="273074" cy="273073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19060" y="4324360"/>
            <a:ext cx="527037" cy="50163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8934415" y="4457698"/>
            <a:ext cx="1024889" cy="28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04800" algn="l" rtl="0" eaLnBrk="0">
              <a:lnSpc>
                <a:spcPct val="96000"/>
              </a:lnSpc>
              <a:spcBef>
                <a:spcPts val="7"/>
              </a:spcBef>
              <a:tabLst>
                <a:tab pos="400050" algn="l"/>
              </a:tabLst>
            </a:pP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947115" y="4470398"/>
            <a:ext cx="292185" cy="241284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4317949" y="4464032"/>
            <a:ext cx="1050925" cy="281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ct val="95000"/>
              </a:lnSpc>
              <a:spcBef>
                <a:spcPts val="5"/>
              </a:spcBef>
              <a:tabLst>
                <a:tab pos="412750" algn="l"/>
              </a:tabLst>
            </a:pP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2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场景观察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330649" y="4476732"/>
            <a:ext cx="304819" cy="228616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2844813" y="4457698"/>
            <a:ext cx="998219" cy="282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79400" algn="l" rtl="0" eaLnBrk="0">
              <a:lnSpc>
                <a:spcPct val="96000"/>
              </a:lnSpc>
              <a:tabLst>
                <a:tab pos="361315" algn="l"/>
              </a:tabLst>
            </a:pP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2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真实问题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857513" y="4470398"/>
            <a:ext cx="266704" cy="234950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1082215" y="4467588"/>
            <a:ext cx="1207769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3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本次课关键词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304754" y="290948"/>
            <a:ext cx="6813550" cy="141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2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     </a:t>
            </a:r>
            <a:r>
              <a:rPr sz="1700" b="1" kern="0" spc="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</a:t>
            </a:r>
            <a:r>
              <a:rPr sz="1700" b="1" kern="0" spc="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业基础》实践课|第1次：问题观察与机会卡形成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1022"/>
              </a:spcBef>
              <a:tabLst/>
            </a:pPr>
            <a:r>
              <a:rPr sz="34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任务导入：从观察问题到发现机会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52400" algn="l" rtl="0" eaLnBrk="0">
              <a:lnSpc>
                <a:spcPct val="91000"/>
              </a:lnSpc>
              <a:spcBef>
                <a:spcPts val="16"/>
              </a:spcBef>
              <a:tabLst/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先看到真实问题，再判断是否存在改进机会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022370" y="2080488"/>
            <a:ext cx="2323464" cy="1878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3690" algn="l" rtl="0" eaLnBrk="0">
              <a:lnSpc>
                <a:spcPct val="95000"/>
              </a:lnSpc>
              <a:tabLst/>
            </a:pPr>
            <a:r>
              <a:rPr sz="1700" b="1" kern="0" spc="2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为什么从问题出发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64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真实问题更容易形成有价值项目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63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问题越具体，后续调研越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有效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机会往往隐藏在重复出现的痛点中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7645379" y="2080488"/>
            <a:ext cx="1489075" cy="1948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700" b="1" kern="0" spc="-30" dirty="0">
                <a:solidFill>
                  <a:srgbClr val="1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课堂启动活动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31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个人快速观察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4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组内交流分享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初步锁定问题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4616398" y="2080488"/>
            <a:ext cx="1424939" cy="1966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700" b="1" kern="0" spc="1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重点观察场景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65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校园学习场景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3149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校园生活场景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9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专业学习场景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社会服务场景</a:t>
            </a:r>
            <a:endParaRPr sz="1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1139517" y="4741424"/>
            <a:ext cx="7255509" cy="1002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364" algn="l" rtl="0" eaLnBrk="0">
              <a:lnSpc>
                <a:spcPct val="94000"/>
              </a:lnSpc>
              <a:tabLst/>
            </a:pPr>
            <a:r>
              <a:rPr sz="1500" b="1" kern="0" spc="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案例启示</a:t>
            </a:r>
            <a:r>
              <a:rPr sz="1500" kern="0" spc="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问题不只是抱怨，而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是值得进一步验证和改进的真实需求。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600" b="1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从熟悉场景入手，更容易发现高价值问题</a:t>
            </a:r>
            <a:r>
              <a:rPr sz="16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1250959" y="1972309"/>
            <a:ext cx="1581785" cy="2247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689" algn="l" rtl="0" eaLnBrk="0">
              <a:lnSpc>
                <a:spcPct val="95000"/>
              </a:lnSpc>
              <a:tabLst/>
            </a:pPr>
            <a:r>
              <a:rPr sz="1600" b="1" kern="0" spc="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共享充电不便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57150" algn="l" rtl="0" eaLnBrk="0">
              <a:lnSpc>
                <a:spcPct val="95000"/>
              </a:lnSpc>
              <a:spcBef>
                <a:spcPts val="1330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教学楼和图书馆临时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7150" algn="l" rtl="0" eaLnBrk="0">
              <a:lnSpc>
                <a:spcPct val="111000"/>
              </a:lnSpc>
              <a:spcBef>
                <a:spcPts val="20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充电不方便，学生焦虑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且效率下降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1300" b="1" kern="0" spc="-8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自习室座位信息不透明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223"/>
              </a:spcBef>
              <a:tabLst/>
            </a:pP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空余座位难判断，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反复寻找增加时间成本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6172243" y="1992792"/>
            <a:ext cx="1498600" cy="2225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6000"/>
              </a:lnSpc>
              <a:tabLst/>
            </a:pPr>
            <a:r>
              <a:rPr sz="1600" b="1" kern="0" spc="-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食堂高峰排队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2000"/>
              </a:lnSpc>
              <a:spcBef>
                <a:spcPts val="787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高峰时段排队时间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长，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点餐体验和用餐效率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受到影响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5000"/>
              </a:lnSpc>
              <a:spcBef>
                <a:spcPts val="393"/>
              </a:spcBef>
              <a:tabLst/>
            </a:pPr>
            <a:r>
              <a:rPr sz="1300" b="1" kern="0" spc="-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快递取件流程碎片化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2000"/>
              </a:lnSpc>
              <a:spcBef>
                <a:spcPts val="1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信息分散、排队拥挤、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取件效率不高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70820" y="1816087"/>
            <a:ext cx="2279618" cy="12700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70147" y="1816087"/>
            <a:ext cx="2247979" cy="1276334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418996" y="884468"/>
            <a:ext cx="4107179" cy="746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15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项目背景与案例情境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95000"/>
              </a:lnSpc>
              <a:spcBef>
                <a:spcPts val="24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从校园真实场景中捕捉可改进的问题线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索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664450" y="3270249"/>
            <a:ext cx="2273248" cy="1193815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82888" y="3270249"/>
            <a:ext cx="2228868" cy="1187421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73074" y="114308"/>
            <a:ext cx="457176" cy="425444"/>
          </a:xfrm>
          <a:prstGeom prst="rect">
            <a:avLst/>
          </a:prstGeom>
        </p:spPr>
      </p:pic>
      <p:sp>
        <p:nvSpPr>
          <p:cNvPr id="106" name="textbox 106"/>
          <p:cNvSpPr/>
          <p:nvPr/>
        </p:nvSpPr>
        <p:spPr>
          <a:xfrm>
            <a:off x="387356" y="271986"/>
            <a:ext cx="5796279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900" b="1" kern="0" spc="30" baseline="-3592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8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600" b="1" kern="0" spc="3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《创新创业基础》实践课|第1次：问题观察与机会卡形成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492702" y="1936730"/>
            <a:ext cx="577894" cy="577875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3269" y="1943124"/>
            <a:ext cx="577788" cy="577816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492702" y="3384557"/>
            <a:ext cx="565153" cy="565148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84158" y="3384557"/>
            <a:ext cx="558889" cy="565148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9467822" y="3895690"/>
            <a:ext cx="371475" cy="295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71" rIns="0" bIns="0"/>
          <a:lstStyle/>
          <a:p>
            <a:pPr marL="50800" indent="-38100" algn="l" rtl="0" eaLnBrk="0">
              <a:lnSpc>
                <a:spcPct val="123000"/>
              </a:lnSpc>
              <a:spcBef>
                <a:spcPts val="7"/>
              </a:spcBef>
              <a:tabLst/>
            </a:pPr>
            <a:r>
              <a:rPr sz="700" kern="0" spc="-3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取件流程</a:t>
            </a:r>
            <a:r>
              <a:rPr sz="700" kern="0" spc="2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8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不顺畅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7785102" y="3413120"/>
            <a:ext cx="327659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61"/>
              </a:lnSpc>
              <a:tabLst/>
            </a:pPr>
            <a:r>
              <a:rPr sz="600" kern="0" spc="-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取件信息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75564" algn="l" rtl="0" eaLnBrk="0">
              <a:lnSpc>
                <a:spcPts val="855"/>
              </a:lnSpc>
              <a:spcBef>
                <a:spcPts val="141"/>
              </a:spcBef>
              <a:tabLst/>
            </a:pPr>
            <a:r>
              <a:rPr sz="700" kern="0" spc="-3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分败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9455187" y="3438977"/>
            <a:ext cx="358140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5"/>
              </a:lnSpc>
              <a:tabLst/>
            </a:pPr>
            <a:r>
              <a:rPr sz="600" kern="0" spc="20" dirty="0">
                <a:solidFill>
                  <a:srgbClr val="204070">
                    <a:alpha val="100000"/>
                  </a:srgbClr>
                </a:solidFill>
                <a:latin typeface="LiSu"/>
                <a:ea typeface="LiSu"/>
                <a:cs typeface="LiSu"/>
              </a:rPr>
              <a:t>取</a:t>
            </a:r>
            <a:r>
              <a:rPr sz="600" kern="0" spc="-180" dirty="0">
                <a:solidFill>
                  <a:srgbClr val="20407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600" kern="0" spc="20" dirty="0">
                <a:solidFill>
                  <a:srgbClr val="204070">
                    <a:alpha val="100000"/>
                  </a:srgbClr>
                </a:solidFill>
                <a:latin typeface="LiSu"/>
                <a:ea typeface="LiSu"/>
                <a:cs typeface="LiSu"/>
              </a:rPr>
              <a:t>件</a:t>
            </a:r>
            <a:r>
              <a:rPr sz="600" kern="0" spc="2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</a:t>
            </a:r>
            <a:r>
              <a:rPr sz="600" kern="0" spc="20" dirty="0">
                <a:solidFill>
                  <a:srgbClr val="103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息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488962" y="942593"/>
            <a:ext cx="4725670" cy="811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160" dirty="0">
                <a:solidFill>
                  <a:srgbClr val="2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工具与方法说明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73"/>
              </a:spcBef>
              <a:tabLst/>
            </a:pP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用结构化工具帮助小组观察问题、记录痛点、表达机会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3898888" y="2227389"/>
            <a:ext cx="1843404" cy="1817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700" b="1" kern="0" spc="12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痛点记录法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5915" algn="l" rtl="0" eaLnBrk="0">
              <a:lnSpc>
                <a:spcPct val="96000"/>
              </a:lnSpc>
              <a:spcBef>
                <a:spcPts val="361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具体现象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ct val="96000"/>
              </a:lnSpc>
              <a:spcBef>
                <a:spcPts val="1471"/>
              </a:spcBef>
              <a:tabLst/>
            </a:pPr>
            <a:r>
              <a:rPr sz="2400" kern="0" spc="110" baseline="-6511" dirty="0">
                <a:solidFill>
                  <a:srgbClr val="508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500" kern="0" spc="210" dirty="0">
                <a:solidFill>
                  <a:srgbClr val="508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110" baseline="325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受影响人群</a:t>
            </a:r>
            <a:endParaRPr sz="1600" baseline="3255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772"/>
              </a:lnSpc>
              <a:spcBef>
                <a:spcPts val="1197"/>
              </a:spcBef>
              <a:tabLst/>
            </a:pPr>
            <a:r>
              <a:rPr sz="2100" kern="0" spc="0" baseline="-10094" dirty="0">
                <a:solidFill>
                  <a:srgbClr val="60A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300" kern="0" spc="560" dirty="0">
                <a:solidFill>
                  <a:srgbClr val="60A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800" kern="0" spc="0" baseline="558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发生频率</a:t>
            </a:r>
            <a:endParaRPr sz="1800" baseline="5586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5915" algn="l" rtl="0" eaLnBrk="0">
              <a:lnSpc>
                <a:spcPct val="95000"/>
              </a:lnSpc>
              <a:tabLst/>
            </a:pP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带来的不便或损失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990625" y="2239253"/>
            <a:ext cx="1847214" cy="1794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5440" algn="l" rtl="0" eaLnBrk="0">
              <a:lnSpc>
                <a:spcPct val="95000"/>
              </a:lnSpc>
              <a:tabLst/>
            </a:pPr>
            <a:r>
              <a:rPr sz="1700" b="1" kern="0" spc="10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场景观察法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30"/>
              </a:spcBef>
              <a:tabLst/>
            </a:pPr>
            <a:r>
              <a:rPr sz="11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观察对象：谁在使用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7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发生地点：问题在哪里出现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43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发生时间：何时更明显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5"/>
              </a:spcBef>
              <a:tabLst/>
            </a:pP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行为过程：用户正在做什么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7699" y="152371"/>
            <a:ext cx="457176" cy="438172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361980" y="312540"/>
            <a:ext cx="6082029" cy="280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9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600" kern="0" spc="110" baseline="-43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600" b="1" kern="0" spc="110" dirty="0">
                <a:solidFill>
                  <a:srgbClr val="2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</a:t>
            </a:r>
            <a:r>
              <a:rPr sz="1600" b="1" kern="0" spc="100" dirty="0">
                <a:solidFill>
                  <a:srgbClr val="2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业基础》实践课|第1次：问题观察与机会卡形成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1196925" y="4538774"/>
            <a:ext cx="5401309" cy="273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700" b="1" kern="0" spc="2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使用原则</a:t>
            </a:r>
            <a:r>
              <a:rPr sz="1700" kern="0" spc="2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记录真实、描述具体、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语言简洁、便于比较。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8890034" y="2804911"/>
            <a:ext cx="721359" cy="1228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400" b="1" kern="0" spc="-30" dirty="0">
                <a:solidFill>
                  <a:srgbClr val="1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机会卡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1330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机会方向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812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792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可能价值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795"/>
              </a:lnSpc>
              <a:tabLst/>
            </a:pPr>
            <a:r>
              <a:rPr sz="9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初步想法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7366041" y="2811245"/>
            <a:ext cx="678180" cy="1242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400" b="1" kern="0" spc="-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问题卡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44000"/>
              </a:lnSpc>
              <a:spcBef>
                <a:spcPts val="4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问题名称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发生场景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影响对象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主要痛点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7654838" y="2242492"/>
            <a:ext cx="96520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700" b="1" kern="0" spc="130" dirty="0">
                <a:solidFill>
                  <a:srgbClr val="1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卡片工具</a:t>
            </a:r>
            <a:endParaRPr sz="1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44" name="textbox 144"/>
          <p:cNvSpPr/>
          <p:nvPr/>
        </p:nvSpPr>
        <p:spPr>
          <a:xfrm>
            <a:off x="876278" y="3948400"/>
            <a:ext cx="6649719" cy="1771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的真实场景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避免先入为主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不便与困扰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可验证的问题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02640" algn="l" rtl="0" eaLnBrk="0">
              <a:lnSpc>
                <a:spcPct val="94000"/>
              </a:lnSpc>
              <a:spcBef>
                <a:spcPts val="483"/>
              </a:spcBef>
              <a:tabLst/>
            </a:pPr>
            <a:r>
              <a:rPr sz="1600" b="1" kern="0" spc="4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过程提醒</a:t>
            </a:r>
            <a:r>
              <a:rPr sz="1600" kern="0" spc="14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先描述事实，再表达判断；先发现问题，再讨论方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案。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62890" algn="l" rtl="0" eaLnBrk="0">
              <a:lnSpc>
                <a:spcPct val="92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把流程走顺，小组就能更快形成方向。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222258" y="139671"/>
            <a:ext cx="6793865" cy="633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2300" algn="l" rtl="0" eaLnBrk="0">
              <a:lnSpc>
                <a:spcPct val="94000"/>
              </a:lnSpc>
              <a:tabLst>
                <a:tab pos="828039" algn="l"/>
              </a:tabLst>
            </a:pPr>
            <a:r>
              <a:rPr sz="1700" kern="0" spc="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16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</a:t>
            </a:r>
            <a:r>
              <a:rPr sz="1700" b="1" kern="0" spc="15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1次：问题观察与机会卡形成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4958" y="152371"/>
            <a:ext cx="609639" cy="58421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489584" y="1152148"/>
            <a:ext cx="4820284" cy="838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20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操作步骤说明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24129" algn="l" rtl="0" eaLnBrk="0">
              <a:lnSpc>
                <a:spcPct val="94000"/>
              </a:lnSpc>
              <a:spcBef>
                <a:spcPts val="303"/>
              </a:spcBef>
              <a:tabLst/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按照“观察一记录一筛选—表达”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完成本次实践任务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990625" y="2283823"/>
            <a:ext cx="6123304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600" kern="0" spc="-190" dirty="0">
                <a:solidFill>
                  <a:srgbClr val="90C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①</a:t>
            </a:r>
            <a:r>
              <a:rPr sz="2600" kern="0" spc="100" dirty="0">
                <a:solidFill>
                  <a:srgbClr val="90C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2800" kern="0" spc="-190" dirty="0">
                <a:solidFill>
                  <a:srgbClr val="608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2800" kern="0" spc="100" dirty="0">
                <a:solidFill>
                  <a:srgbClr val="608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</a:t>
            </a:r>
            <a:r>
              <a:rPr sz="2600" kern="0" spc="-190" dirty="0">
                <a:solidFill>
                  <a:srgbClr val="70B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2600" kern="0" spc="50" dirty="0">
                <a:solidFill>
                  <a:srgbClr val="70B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</a:t>
            </a:r>
            <a:r>
              <a:rPr sz="2600" b="1" kern="0" spc="0" baseline="60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2600" baseline="6010" dirty="0">
              <a:latin typeface="Arial"/>
              <a:ea typeface="Arial"/>
              <a:cs typeface="Arial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8356625" y="2295926"/>
            <a:ext cx="1221105" cy="1852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9415" algn="l" rtl="0" eaLnBrk="0">
              <a:lnSpc>
                <a:spcPct val="94000"/>
              </a:lnSpc>
              <a:tabLst/>
            </a:pPr>
            <a:r>
              <a:rPr sz="2700" kern="0" spc="-10" dirty="0">
                <a:solidFill>
                  <a:srgbClr val="B0D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⑤</a:t>
            </a:r>
            <a:endParaRPr sz="2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8440" algn="l" rtl="0" eaLnBrk="0">
              <a:lnSpc>
                <a:spcPct val="96000"/>
              </a:lnSpc>
              <a:spcBef>
                <a:spcPts val="491"/>
              </a:spcBef>
              <a:tabLst/>
            </a:pPr>
            <a:r>
              <a:rPr sz="1600" b="1" kern="0" spc="9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表达机会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6679" indent="-94614" algn="l" rtl="0" eaLnBrk="0">
              <a:lnSpc>
                <a:spcPct val="109000"/>
              </a:lnSpc>
              <a:spcBef>
                <a:spcPts val="3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把问题转化为值得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改进的机会方向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6375351" y="3433615"/>
            <a:ext cx="1461135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5590" algn="l" rtl="0" eaLnBrk="0">
              <a:lnSpc>
                <a:spcPct val="96000"/>
              </a:lnSpc>
              <a:tabLst/>
            </a:pPr>
            <a:r>
              <a:rPr sz="1600" b="1" kern="0" spc="7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筛选问题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61"/>
              </a:lnSpc>
              <a:spcBef>
                <a:spcPts val="2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优先保留具体、常见、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2527252" y="3439950"/>
            <a:ext cx="1315719" cy="506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2090" algn="l" rtl="0" eaLnBrk="0">
              <a:lnSpc>
                <a:spcPct val="96000"/>
              </a:lnSpc>
              <a:tabLst/>
            </a:pPr>
            <a:r>
              <a:rPr sz="1600" b="1" kern="0" spc="5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记录现象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看到什么就记什么,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654060" y="3426469"/>
            <a:ext cx="1218564" cy="520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1289" algn="l" rtl="0" eaLnBrk="0">
              <a:lnSpc>
                <a:spcPct val="95000"/>
              </a:lnSpc>
              <a:tabLst/>
            </a:pPr>
            <a:r>
              <a:rPr sz="1600" b="1" kern="0" spc="9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进入场景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选择校园或生活中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4572019" y="3415518"/>
            <a:ext cx="1059814" cy="528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0489" algn="l" rtl="0" eaLnBrk="0">
              <a:lnSpc>
                <a:spcPct val="96000"/>
              </a:lnSpc>
              <a:tabLst/>
            </a:pPr>
            <a:r>
              <a:rPr sz="1700" b="1" kern="0" spc="-4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归纳痛点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"/>
              </a:spcBef>
              <a:tabLst/>
            </a:pP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提炼重复出现的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64" name="picture 1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423402" y="368320"/>
            <a:ext cx="806482" cy="292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68" name="textbox 168"/>
          <p:cNvSpPr/>
          <p:nvPr/>
        </p:nvSpPr>
        <p:spPr>
          <a:xfrm>
            <a:off x="5994405" y="1890285"/>
            <a:ext cx="2637789" cy="289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86839" algn="l" rtl="0" eaLnBrk="0">
              <a:lnSpc>
                <a:spcPct val="96000"/>
              </a:lnSpc>
              <a:tabLst/>
            </a:pP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协作要求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2000"/>
              </a:lnSpc>
              <a:spcBef>
                <a:spcPts val="1427"/>
              </a:spcBef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共同讨论，避免只凭个人判断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631"/>
              </a:spcBef>
              <a:tabLst/>
            </a:pPr>
            <a:r>
              <a:rPr sz="2700" kern="0" spc="40" baseline="-9645" dirty="0">
                <a:solidFill>
                  <a:srgbClr val="C0E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700" kern="0" spc="560" dirty="0">
                <a:solidFill>
                  <a:srgbClr val="C0E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记录真实，不随意夸大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984"/>
              </a:spcBef>
              <a:tabLst/>
            </a:pPr>
            <a:r>
              <a:rPr sz="3000" kern="0" spc="40" baseline="-6945" dirty="0">
                <a:solidFill>
                  <a:srgbClr val="6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900" kern="0" spc="230" dirty="0">
                <a:solidFill>
                  <a:srgbClr val="6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尊重不同观察视角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405765" algn="l" rtl="0" eaLnBrk="0">
              <a:lnSpc>
                <a:spcPct val="85000"/>
              </a:lnSpc>
              <a:spcBef>
                <a:spcPts val="1228"/>
              </a:spcBef>
              <a:tabLst/>
            </a:pP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及时汇总，形成统一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表述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405765" algn="l" rtl="0" eaLnBrk="0">
              <a:lnSpc>
                <a:spcPts val="3255"/>
              </a:lnSpc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小组初步确定一个主方向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5740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6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协同</a:t>
            </a:r>
            <a:r>
              <a:rPr sz="1600" kern="0" spc="2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600" kern="0" spc="1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高效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425367" y="903529"/>
            <a:ext cx="4030979" cy="1224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2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3400" b="1" kern="0" spc="8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小组分工与协作说明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27940" algn="l" rtl="0" eaLnBrk="0">
              <a:lnSpc>
                <a:spcPct val="91000"/>
              </a:lnSpc>
              <a:spcBef>
                <a:spcPts val="16"/>
              </a:spcBef>
              <a:tabLst/>
            </a:pP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通过合理分工，提高观察效率与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问题表达质量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231389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建议角色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1485917" y="2321097"/>
            <a:ext cx="1213485" cy="173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400" b="1" kern="0" spc="-14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观察记录员：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1000"/>
              </a:lnSpc>
              <a:spcBef>
                <a:spcPts val="562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负责现场观察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与原始记录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428"/>
              </a:spcBef>
              <a:tabLst/>
            </a:pPr>
            <a:r>
              <a:rPr sz="1400" b="1" kern="0" spc="-14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机会提炼员：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2000"/>
              </a:lnSpc>
              <a:spcBef>
                <a:spcPts val="2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负责整理问题卡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与机会卡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4013235" y="2321097"/>
            <a:ext cx="1096010" cy="1728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400" b="1" kern="0" spc="-11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场景分析员：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1000"/>
              </a:lnSpc>
              <a:spcBef>
                <a:spcPts val="562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负责梳理场景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与用户行为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spcBef>
                <a:spcPts val="428"/>
              </a:spcBef>
              <a:tabLst/>
            </a:pPr>
            <a:r>
              <a:rPr sz="1400" b="1" kern="0" spc="-1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汇报负责人：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spcBef>
                <a:spcPts val="4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负责组内汇总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与展示说明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777583" y="291048"/>
            <a:ext cx="566674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600" b="1" kern="0" spc="13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《创新创业基础》实践课|第1次：</a:t>
            </a:r>
            <a:r>
              <a:rPr sz="1600" b="1" kern="0" spc="12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问题观察与机会卡形成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872631" y="4531868"/>
            <a:ext cx="4166870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73"/>
              </a:lnSpc>
              <a:tabLst/>
            </a:pPr>
            <a:r>
              <a:rPr sz="2300" b="1" kern="0" spc="-10" baseline="-2181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协作关键词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2300" b="1" kern="0" spc="-10" baseline="6877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</a:t>
            </a:r>
            <a:r>
              <a:rPr sz="1400" kern="0" spc="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2300" b="1" kern="0" spc="-10" baseline="6877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具体</a:t>
            </a:r>
            <a:endParaRPr sz="2300" baseline="6877" dirty="0">
              <a:latin typeface="SimHei"/>
              <a:ea typeface="SimHei"/>
              <a:cs typeface="SimHei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9267334" y="4531106"/>
            <a:ext cx="39941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3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聚焦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84" name="textbox 184"/>
          <p:cNvSpPr/>
          <p:nvPr/>
        </p:nvSpPr>
        <p:spPr>
          <a:xfrm>
            <a:off x="222258" y="120670"/>
            <a:ext cx="6240779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ct val="94000"/>
              </a:lnSpc>
              <a:spcBef>
                <a:spcPts val="6"/>
              </a:spcBef>
              <a:tabLst>
                <a:tab pos="688340" algn="l"/>
              </a:tabLst>
            </a:pPr>
            <a:r>
              <a:rPr sz="16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b="1" kern="0" spc="1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《创新创业基础》实践课|第1次：</a:t>
            </a:r>
            <a:r>
              <a:rPr sz="1600" b="1" kern="0" spc="1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问题观察与机会卡形成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4958" y="133370"/>
            <a:ext cx="463546" cy="444506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342870" y="294188"/>
            <a:ext cx="6180454" cy="1401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2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 sz="22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spcBef>
                <a:spcPts val="1149"/>
              </a:spcBef>
              <a:tabLst/>
            </a:pPr>
            <a:r>
              <a:rPr sz="38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3800" b="1" kern="0" spc="-25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辅助整理与机会表达</a:t>
            </a:r>
            <a:r>
              <a:rPr sz="38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示例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139064" algn="l" rtl="0" eaLnBrk="0">
              <a:lnSpc>
                <a:spcPct val="95000"/>
              </a:lnSpc>
              <a:spcBef>
                <a:spcPts val="8"/>
              </a:spcBef>
              <a:tabLst/>
            </a:pP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借助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工具提高观察记录整理与问题归纳</a:t>
            </a:r>
            <a:r>
              <a:rPr sz="14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190" name="table 190"/>
          <p:cNvGraphicFramePr>
            <a:graphicFrameLocks noGrp="1"/>
          </p:cNvGraphicFramePr>
          <p:nvPr/>
        </p:nvGraphicFramePr>
        <p:xfrm>
          <a:off x="688307" y="2646836"/>
          <a:ext cx="5565775" cy="1492885"/>
        </p:xfrm>
        <a:graphic>
          <a:graphicData uri="http://schemas.openxmlformats.org/drawingml/2006/table">
            <a:tbl>
              <a:tblPr/>
              <a:tblGrid>
                <a:gridCol w="2092960"/>
                <a:gridCol w="1006475"/>
                <a:gridCol w="2466339"/>
              </a:tblGrid>
              <a:tr h="1492885">
                <a:tc>
                  <a:txBody>
                    <a:bodyPr/>
                    <a:lstStyle/>
                    <a:p>
                      <a:pPr marL="28955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整理零散观察记录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89559" algn="l" rtl="0" eaLnBrk="0">
                        <a:lnSpc>
                          <a:spcPct val="99000"/>
                        </a:lnSpc>
                        <a:spcBef>
                          <a:spcPts val="1234"/>
                        </a:spcBef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归纳重复出现的痛点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89559" algn="l" rtl="0" eaLnBrk="0">
                        <a:lnSpc>
                          <a:spcPct val="100000"/>
                        </a:lnSpc>
                        <a:spcBef>
                          <a:spcPts val="1219"/>
                        </a:spcBef>
                        <a:tabLst/>
                      </a:pPr>
                      <a:r>
                        <a:rPr sz="12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辅助撰写问题卡与机会卡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70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100" b="1" kern="0" spc="30" baseline="-8676" dirty="0">
                          <a:solidFill>
                            <a:srgbClr val="D0E0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④</a:t>
                      </a:r>
                      <a:r>
                        <a:rPr sz="1300" kern="0" spc="330" dirty="0">
                          <a:solidFill>
                            <a:srgbClr val="D0E0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提供多种表达角度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54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3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请根据以下观察记录，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52425" algn="l" rtl="0" eaLnBrk="0">
                        <a:lnSpc>
                          <a:spcPct val="99000"/>
                        </a:lnSpc>
                        <a:spcBef>
                          <a:spcPts val="530"/>
                        </a:spcBef>
                        <a:tabLst/>
                      </a:pPr>
                      <a:r>
                        <a:rPr sz="1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提炼主要问题、受影响用户、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447040" algn="l" rtl="0" eaLnBrk="0">
                        <a:lnSpc>
                          <a:spcPct val="95000"/>
                        </a:lnSpc>
                        <a:spcBef>
                          <a:spcPts val="594"/>
                        </a:spcBef>
                        <a:tabLst/>
                      </a:pP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典型场景，并给出可</a:t>
                      </a: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能的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552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机会方向。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92" name="textbox 192"/>
          <p:cNvSpPr/>
          <p:nvPr/>
        </p:nvSpPr>
        <p:spPr>
          <a:xfrm>
            <a:off x="7200944" y="2627230"/>
            <a:ext cx="2299970" cy="1249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先有真实记录，再用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348615" algn="l" rtl="0" eaLnBrk="0">
              <a:lnSpc>
                <a:spcPts val="2661"/>
              </a:lnSpc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不虚构数据与结论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348615" algn="l" rtl="0" eaLnBrk="0">
              <a:lnSpc>
                <a:spcPct val="96000"/>
              </a:lnSpc>
              <a:spcBef>
                <a:spcPts val="1328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输出结果要人工复核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95000"/>
              </a:lnSpc>
              <a:spcBef>
                <a:spcPts val="6"/>
              </a:spcBef>
              <a:tabLst>
                <a:tab pos="34861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最终判断由小组完成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13644" y="3600446"/>
            <a:ext cx="247593" cy="241284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634949" y="1924030"/>
            <a:ext cx="2219325" cy="617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5150" algn="l" rtl="0" eaLnBrk="0">
              <a:lnSpc>
                <a:spcPct val="98000"/>
              </a:lnSpc>
              <a:tabLst>
                <a:tab pos="711200" algn="l"/>
              </a:tabLst>
            </a:pPr>
            <a:r>
              <a:rPr sz="1900" b="1" kern="0" spc="0" dirty="0">
                <a:solidFill>
                  <a:srgbClr val="103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900" b="1" kern="0" spc="-20" dirty="0">
                <a:solidFill>
                  <a:srgbClr val="103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900" b="1" kern="0" spc="-100" dirty="0">
                <a:solidFill>
                  <a:srgbClr val="103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2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可帮助什么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198" name="picture 1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7649" y="1936730"/>
            <a:ext cx="552519" cy="558814"/>
          </a:xfrm>
          <a:prstGeom prst="rect">
            <a:avLst/>
          </a:prstGeom>
        </p:spPr>
      </p:pic>
      <p:sp>
        <p:nvSpPr>
          <p:cNvPr id="200" name="textbox 200"/>
          <p:cNvSpPr/>
          <p:nvPr/>
        </p:nvSpPr>
        <p:spPr>
          <a:xfrm>
            <a:off x="1104866" y="5443034"/>
            <a:ext cx="5058409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是辅助工具，真实观察和独立判断始终是核心。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3879884" y="1924031"/>
            <a:ext cx="1885950" cy="604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8165" algn="l" rtl="0" eaLnBrk="0">
              <a:lnSpc>
                <a:spcPct val="98000"/>
              </a:lnSpc>
              <a:tabLst>
                <a:tab pos="695325" algn="l"/>
              </a:tabLst>
            </a:pPr>
            <a:r>
              <a:rPr sz="1900" kern="0" spc="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-6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示例提示词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892584" y="1936731"/>
            <a:ext cx="546042" cy="546146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7169198" y="1924031"/>
            <a:ext cx="1645920" cy="604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8165" algn="l" rtl="0" eaLnBrk="0">
              <a:lnSpc>
                <a:spcPct val="98000"/>
              </a:lnSpc>
              <a:tabLst>
                <a:tab pos="682625" algn="l"/>
              </a:tabLst>
            </a:pPr>
            <a:r>
              <a:rPr sz="1900" kern="0" spc="0" dirty="0">
                <a:solidFill>
                  <a:srgbClr val="108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-40" dirty="0">
                <a:solidFill>
                  <a:srgbClr val="108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使用原则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208" name="picture 2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181898" y="1936731"/>
            <a:ext cx="546042" cy="546146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3467086" y="4330722"/>
            <a:ext cx="1308735" cy="588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46100" algn="l" rtl="0" eaLnBrk="0">
              <a:lnSpc>
                <a:spcPct val="97000"/>
              </a:lnSpc>
              <a:spcBef>
                <a:spcPts val="1"/>
              </a:spcBef>
              <a:tabLst>
                <a:tab pos="697865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479786" y="4343422"/>
            <a:ext cx="533408" cy="533359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844772" y="3543323"/>
            <a:ext cx="590528" cy="596877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753142" y="4343422"/>
            <a:ext cx="546042" cy="539753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525008" y="3543322"/>
            <a:ext cx="495292" cy="584150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070877" y="4343422"/>
            <a:ext cx="533407" cy="533359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136677" y="4349756"/>
            <a:ext cx="533408" cy="527025"/>
          </a:xfrm>
          <a:prstGeom prst="rect">
            <a:avLst/>
          </a:prstGeom>
        </p:spPr>
      </p:pic>
      <p:sp>
        <p:nvSpPr>
          <p:cNvPr id="224" name="textbox 224"/>
          <p:cNvSpPr/>
          <p:nvPr/>
        </p:nvSpPr>
        <p:spPr>
          <a:xfrm>
            <a:off x="1809742" y="4521427"/>
            <a:ext cx="771525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观察记录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6445212" y="4523383"/>
            <a:ext cx="758825" cy="232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人工判断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8750312" y="4521961"/>
            <a:ext cx="758190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形成卡片</a:t>
            </a:r>
            <a:endParaRPr sz="1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203147" y="146065"/>
            <a:ext cx="6793865" cy="1840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15950" algn="l" rtl="0" eaLnBrk="0">
              <a:lnSpc>
                <a:spcPct val="94000"/>
              </a:lnSpc>
              <a:tabLst>
                <a:tab pos="783590" algn="l"/>
              </a:tabLst>
            </a:pPr>
            <a:r>
              <a:rPr sz="1700" kern="0" spc="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15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23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15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1700" b="1" kern="0" spc="14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第1次：问题观察与机会卡形成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2570" algn="l" rtl="0" eaLnBrk="0">
              <a:lnSpc>
                <a:spcPct val="96000"/>
              </a:lnSpc>
              <a:spcBef>
                <a:spcPts val="1291"/>
              </a:spcBef>
              <a:tabLst/>
            </a:pPr>
            <a:r>
              <a:rPr sz="4300" b="1" kern="0" spc="-1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成果提交要求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260350" algn="l" rtl="0" eaLnBrk="0">
              <a:lnSpc>
                <a:spcPct val="92000"/>
              </a:lnSpc>
              <a:spcBef>
                <a:spcPts val="113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按要求整理本次实践成果，确保内容完整、表达清晰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5847" y="158765"/>
            <a:ext cx="603269" cy="565148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7067591" y="2228832"/>
            <a:ext cx="1972945" cy="1890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0865" algn="l" rtl="0" eaLnBrk="0">
              <a:lnSpc>
                <a:spcPct val="98000"/>
              </a:lnSpc>
              <a:spcBef>
                <a:spcPts val="1"/>
              </a:spcBef>
              <a:tabLst>
                <a:tab pos="765175" algn="l"/>
              </a:tabLst>
            </a:pPr>
            <a:r>
              <a:rPr sz="1900" kern="0" spc="0" dirty="0">
                <a:solidFill>
                  <a:srgbClr val="1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40" dirty="0">
                <a:solidFill>
                  <a:srgbClr val="1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呈现建议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0215" algn="l" rtl="0" eaLnBrk="0">
              <a:lnSpc>
                <a:spcPct val="96000"/>
              </a:lnSpc>
              <a:spcBef>
                <a:spcPts val="395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条理清晰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94614" algn="l" rtl="0" eaLnBrk="0">
              <a:lnSpc>
                <a:spcPct val="95000"/>
              </a:lnSpc>
              <a:spcBef>
                <a:spcPts val="888"/>
              </a:spcBef>
              <a:tabLst/>
            </a:pPr>
            <a:r>
              <a:rPr sz="2500" kern="0" spc="10" baseline="-4167" dirty="0">
                <a:solidFill>
                  <a:srgbClr val="7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600" kern="0" spc="450" dirty="0">
                <a:solidFill>
                  <a:srgbClr val="7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一页一项重点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00964" algn="l" rtl="0" eaLnBrk="0">
              <a:lnSpc>
                <a:spcPct val="95000"/>
              </a:lnSpc>
              <a:spcBef>
                <a:spcPts val="748"/>
              </a:spcBef>
              <a:tabLst/>
            </a:pPr>
            <a:r>
              <a:rPr sz="2500" kern="0" spc="0" baseline="-8334" dirty="0">
                <a:solidFill>
                  <a:srgbClr val="7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600" kern="0" spc="350" dirty="0">
                <a:solidFill>
                  <a:srgbClr val="7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kern="0" spc="0" baseline="260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可读性强</a:t>
            </a:r>
            <a:endParaRPr sz="2000" baseline="2604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7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便于下次课继续使用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80291" y="2241532"/>
            <a:ext cx="558783" cy="565148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615944" y="2228832"/>
            <a:ext cx="1769110" cy="1892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84200" algn="l" rtl="0" eaLnBrk="0">
              <a:lnSpc>
                <a:spcPct val="98000"/>
              </a:lnSpc>
              <a:spcBef>
                <a:spcPts val="2"/>
              </a:spcBef>
              <a:tabLst>
                <a:tab pos="758825" algn="l"/>
              </a:tabLst>
            </a:pPr>
            <a:r>
              <a:rPr sz="1900" kern="0" spc="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4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必交成果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8950" algn="l" rtl="0" eaLnBrk="0">
              <a:lnSpc>
                <a:spcPct val="85000"/>
              </a:lnSpc>
              <a:spcBef>
                <a:spcPts val="396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问题观察记录表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488950" algn="l" rtl="0" eaLnBrk="0">
              <a:lnSpc>
                <a:spcPts val="2554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问题卡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488950" algn="l" rtl="0" eaLnBrk="0">
              <a:lnSpc>
                <a:spcPct val="96000"/>
              </a:lnSpc>
              <a:spcBef>
                <a:spcPts val="1233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机会卡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88950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小组主题初选表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242" name="picture 2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8644" y="2241532"/>
            <a:ext cx="571523" cy="558814"/>
          </a:xfrm>
          <a:prstGeom prst="rect">
            <a:avLst/>
          </a:prstGeom>
        </p:spPr>
      </p:pic>
      <p:sp>
        <p:nvSpPr>
          <p:cNvPr id="244" name="textbox 244"/>
          <p:cNvSpPr/>
          <p:nvPr/>
        </p:nvSpPr>
        <p:spPr>
          <a:xfrm>
            <a:off x="4330690" y="2387596"/>
            <a:ext cx="1361439" cy="1732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3375" algn="l" rtl="0" eaLnBrk="0">
              <a:lnSpc>
                <a:spcPct val="98000"/>
              </a:lnSpc>
              <a:tabLst/>
            </a:pPr>
            <a:r>
              <a:rPr sz="1900" b="1" kern="0" spc="4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提交要求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94"/>
              </a:spcBef>
              <a:tabLst/>
            </a:pP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内容完整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022"/>
              </a:spcBef>
              <a:tabLst/>
            </a:pP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问题表述具体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053"/>
              </a:spcBef>
              <a:tabLst/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机会表达清楚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小组信息标注规范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46" name="path 246"/>
          <p:cNvSpPr/>
          <p:nvPr/>
        </p:nvSpPr>
        <p:spPr>
          <a:xfrm>
            <a:off x="1098561" y="4880000"/>
            <a:ext cx="9410662" cy="203178"/>
          </a:xfrm>
          <a:custGeom>
            <a:avLst/>
            <a:gdLst/>
            <a:ahLst/>
            <a:cxnLst/>
            <a:rect l="0" t="0" r="0" b="0"/>
            <a:pathLst>
              <a:path w="14819" h="319">
                <a:moveTo>
                  <a:pt x="0" y="5"/>
                </a:moveTo>
                <a:lnTo>
                  <a:pt x="12799" y="5"/>
                </a:lnTo>
                <a:moveTo>
                  <a:pt x="0" y="314"/>
                </a:moveTo>
                <a:lnTo>
                  <a:pt x="12799" y="314"/>
                </a:lnTo>
                <a:moveTo>
                  <a:pt x="12799" y="5"/>
                </a:moveTo>
                <a:lnTo>
                  <a:pt x="14819" y="5"/>
                </a:lnTo>
                <a:moveTo>
                  <a:pt x="0" y="314"/>
                </a:moveTo>
                <a:lnTo>
                  <a:pt x="12799" y="314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" name="textbox 248"/>
          <p:cNvSpPr/>
          <p:nvPr/>
        </p:nvSpPr>
        <p:spPr>
          <a:xfrm>
            <a:off x="1266787" y="4595391"/>
            <a:ext cx="6074409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600" b="1" kern="0" spc="0" baseline="-4006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提交提醒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600" kern="0" spc="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成果既要反映观察过程，也要体现小组初步判断。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1140062" y="5435476"/>
            <a:ext cx="4362450" cy="300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900" b="1" kern="0" spc="-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高质量提交，是项目持续推进的第一步。</a:t>
            </a:r>
            <a:endParaRPr sz="1900" dirty="0">
              <a:latin typeface="SimSun"/>
              <a:ea typeface="SimSun"/>
              <a:cs typeface="SimSun"/>
            </a:endParaRPr>
          </a:p>
        </p:txBody>
      </p:sp>
      <p:pic>
        <p:nvPicPr>
          <p:cNvPr id="252" name="picture 2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800392" y="3600446"/>
            <a:ext cx="596898" cy="596877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108711" y="3536929"/>
            <a:ext cx="514298" cy="666789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911588" y="2241532"/>
            <a:ext cx="584158" cy="565148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347171" y="3568717"/>
            <a:ext cx="450912" cy="622272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651990" y="361927"/>
            <a:ext cx="742991" cy="2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64" name="textbox 264"/>
          <p:cNvSpPr/>
          <p:nvPr/>
        </p:nvSpPr>
        <p:spPr>
          <a:xfrm>
            <a:off x="451468" y="929865"/>
            <a:ext cx="4580254" cy="3289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评价标准与课后延伸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24765" algn="l" rtl="0" eaLnBrk="0">
              <a:lnSpc>
                <a:spcPct val="92000"/>
              </a:lnSpc>
              <a:spcBef>
                <a:spcPts val="59"/>
              </a:spcBef>
              <a:tabLst/>
            </a:pP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通过过程评价与延伸任务，帮助小组持续打磨项目方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35355" algn="l" rtl="0" eaLnBrk="0">
              <a:lnSpc>
                <a:spcPct val="96000"/>
              </a:lnSpc>
              <a:spcBef>
                <a:spcPts val="517"/>
              </a:spcBef>
              <a:tabLst/>
            </a:pPr>
            <a:r>
              <a:rPr sz="1700" b="1" kern="0" spc="5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评价维度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3880" algn="l" rtl="0" eaLnBrk="0">
              <a:lnSpc>
                <a:spcPct val="96000"/>
              </a:lnSpc>
              <a:spcBef>
                <a:spcPts val="361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参与度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563880" algn="l" rtl="0" eaLnBrk="0">
              <a:lnSpc>
                <a:spcPct val="96000"/>
              </a:lnSpc>
              <a:spcBef>
                <a:spcPts val="1418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观察真实性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563880" algn="l" rtl="0" eaLnBrk="0">
              <a:lnSpc>
                <a:spcPct val="96000"/>
              </a:lnSpc>
              <a:spcBef>
                <a:spcPts val="1368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问题清晰度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563880" algn="l" rtl="0" eaLnBrk="0">
              <a:lnSpc>
                <a:spcPct val="96000"/>
              </a:lnSpc>
              <a:spcBef>
                <a:spcPts val="1326"/>
              </a:spcBef>
              <a:tabLst/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机会表达质量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563880" algn="l" rtl="0" eaLnBrk="0">
              <a:lnSpc>
                <a:spcPct val="96000"/>
              </a:lnSpc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团队协作表现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6222993" y="2099549"/>
            <a:ext cx="2218054" cy="1864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ct val="95000"/>
              </a:lnSpc>
              <a:tabLst/>
            </a:pPr>
            <a:r>
              <a:rPr sz="1700" b="1" kern="0" spc="30" dirty="0">
                <a:solidFill>
                  <a:srgbClr val="1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课后延伸任务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68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继续补充1个真实观察场景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10000"/>
              </a:lnSpc>
              <a:spcBef>
                <a:spcPts val="9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优化问题卡与机会卡内容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与2位潜在用户简短交流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为下次课准备用户画像初步想法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790324" y="316442"/>
            <a:ext cx="573024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600" b="1" kern="0" spc="1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《创新创业基础》实践课|第1</a:t>
            </a:r>
            <a:r>
              <a:rPr sz="1600" b="1" kern="0" spc="1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次：问题观察与机会卡形成</a:t>
            </a:r>
            <a:endParaRPr sz="1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2026-05-06T02:34:28Z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2026-05-06T02:34:36</vt:filetime>
  </property>
  <property fmtid="{D5CDD505-2E9C-101B-9397-08002B2CF9AE}" pid="4" name="UsrData">
    <vt:lpwstr>69fa38317fe946001f81e364wl</vt:lpwstr>
  </property>
</Properties>
</file>