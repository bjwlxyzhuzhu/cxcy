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jpeg"/><Relationship Id="rId8" Type="http://schemas.openxmlformats.org/officeDocument/2006/relationships/image" Target="../media/image23.jpeg"/><Relationship Id="rId7" Type="http://schemas.openxmlformats.org/officeDocument/2006/relationships/image" Target="../media/image22.jpeg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0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jpe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4" Type="http://schemas.openxmlformats.org/officeDocument/2006/relationships/image" Target="../media/image38.jpeg"/><Relationship Id="rId13" Type="http://schemas.openxmlformats.org/officeDocument/2006/relationships/image" Target="../media/image37.jpeg"/><Relationship Id="rId12" Type="http://schemas.openxmlformats.org/officeDocument/2006/relationships/image" Target="../media/image36.jpeg"/><Relationship Id="rId11" Type="http://schemas.openxmlformats.org/officeDocument/2006/relationships/image" Target="../media/image35.jpeg"/><Relationship Id="rId10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7" Type="http://schemas.openxmlformats.org/officeDocument/2006/relationships/image" Target="../media/image48.jpeg"/><Relationship Id="rId6" Type="http://schemas.openxmlformats.org/officeDocument/2006/relationships/image" Target="../media/image47.jpeg"/><Relationship Id="rId5" Type="http://schemas.openxmlformats.org/officeDocument/2006/relationships/image" Target="../media/image46.png"/><Relationship Id="rId4" Type="http://schemas.openxmlformats.org/officeDocument/2006/relationships/image" Target="../media/image45.jpeg"/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jpeg"/><Relationship Id="rId8" Type="http://schemas.openxmlformats.org/officeDocument/2006/relationships/image" Target="../media/image56.jpeg"/><Relationship Id="rId7" Type="http://schemas.openxmlformats.org/officeDocument/2006/relationships/image" Target="../media/image55.png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Relationship Id="rId3" Type="http://schemas.openxmlformats.org/officeDocument/2006/relationships/image" Target="../media/image51.jpeg"/><Relationship Id="rId21" Type="http://schemas.openxmlformats.org/officeDocument/2006/relationships/image" Target="../media/image69.jpeg"/><Relationship Id="rId20" Type="http://schemas.openxmlformats.org/officeDocument/2006/relationships/image" Target="../media/image68.jpeg"/><Relationship Id="rId2" Type="http://schemas.openxmlformats.org/officeDocument/2006/relationships/image" Target="../media/image50.png"/><Relationship Id="rId19" Type="http://schemas.openxmlformats.org/officeDocument/2006/relationships/image" Target="../media/image67.jpeg"/><Relationship Id="rId18" Type="http://schemas.openxmlformats.org/officeDocument/2006/relationships/image" Target="../media/image66.jpeg"/><Relationship Id="rId17" Type="http://schemas.openxmlformats.org/officeDocument/2006/relationships/image" Target="../media/image65.jpeg"/><Relationship Id="rId16" Type="http://schemas.openxmlformats.org/officeDocument/2006/relationships/image" Target="../media/image64.png"/><Relationship Id="rId15" Type="http://schemas.openxmlformats.org/officeDocument/2006/relationships/image" Target="../media/image63.jpeg"/><Relationship Id="rId14" Type="http://schemas.openxmlformats.org/officeDocument/2006/relationships/image" Target="../media/image62.jpeg"/><Relationship Id="rId13" Type="http://schemas.openxmlformats.org/officeDocument/2006/relationships/image" Target="../media/image61.jpeg"/><Relationship Id="rId12" Type="http://schemas.openxmlformats.org/officeDocument/2006/relationships/image" Target="../media/image60.jpeg"/><Relationship Id="rId11" Type="http://schemas.openxmlformats.org/officeDocument/2006/relationships/image" Target="../media/image59.jpeg"/><Relationship Id="rId10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72.jpe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47096" y="1404898"/>
            <a:ext cx="4110354" cy="2269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indent="-12064" algn="l" rtl="0" eaLnBrk="0">
              <a:lnSpc>
                <a:spcPct val="97000"/>
              </a:lnSpc>
              <a:tabLst/>
            </a:pPr>
            <a:r>
              <a:rPr sz="4900" b="1" kern="0" spc="2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把创意转化为</a:t>
            </a:r>
            <a:r>
              <a:rPr sz="4900" kern="0" spc="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900" b="1" kern="0" spc="-3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结构化</a:t>
            </a:r>
            <a:r>
              <a:rPr sz="4900" b="1" kern="0" spc="-3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</a:t>
            </a:r>
            <a:r>
              <a:rPr sz="4900" b="1" kern="0" spc="-3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</a:t>
            </a:r>
            <a:endParaRPr sz="4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ct val="96000"/>
              </a:lnSpc>
              <a:spcBef>
                <a:spcPts val="426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围绕价值主张、客户细分、渠道设计、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ct val="92000"/>
              </a:lnSpc>
              <a:spcBef>
                <a:spcPts val="373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收入成本等要素，完成商业模式画布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初建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203147" y="133337"/>
            <a:ext cx="5981700" cy="550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39750" algn="l" rtl="0" eaLnBrk="0">
              <a:lnSpc>
                <a:spcPct val="94000"/>
              </a:lnSpc>
              <a:spcBef>
                <a:spcPts val="4"/>
              </a:spcBef>
              <a:tabLst>
                <a:tab pos="75184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《创新创业基础》实践课|第4次：商业模式画布</a:t>
            </a:r>
            <a:r>
              <a:rPr sz="17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5847" y="146037"/>
            <a:ext cx="527143" cy="501690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197338" y="5397845"/>
            <a:ext cx="390144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从想法到模式，让项目</a:t>
            </a:r>
            <a:r>
              <a:rPr sz="19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逻辑更清晰。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066750" y="4025633"/>
            <a:ext cx="307467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kern="0" spc="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对应理论模块：模块3商业模式</a:t>
            </a:r>
            <a:r>
              <a:rPr sz="1300" kern="0" spc="-1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与项目设计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0056" y="3841731"/>
            <a:ext cx="552412" cy="546146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69494" y="266680"/>
            <a:ext cx="711139" cy="292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590569" y="2070128"/>
            <a:ext cx="2884170" cy="2068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9915" algn="l" rtl="0" eaLnBrk="0">
              <a:lnSpc>
                <a:spcPct val="96000"/>
              </a:lnSpc>
              <a:tabLst>
                <a:tab pos="734059" algn="l"/>
              </a:tabLst>
            </a:pPr>
            <a:r>
              <a:rPr sz="2100" kern="0" spc="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100" b="1" kern="0" spc="-1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ct val="96000"/>
              </a:lnSpc>
              <a:spcBef>
                <a:spcPts val="394"/>
              </a:spcBef>
              <a:tabLst/>
            </a:pPr>
            <a:r>
              <a:rPr sz="1300" kern="0" spc="-3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-3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理解商业模式画布的基本作用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47015" indent="-190500" algn="l" rtl="0" eaLnBrk="0">
              <a:lnSpc>
                <a:spcPct val="109000"/>
              </a:lnSpc>
              <a:spcBef>
                <a:spcPts val="1000"/>
              </a:spcBef>
              <a:tabLst/>
            </a:pPr>
            <a:r>
              <a:rPr sz="1300" kern="0" spc="-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-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学会围绕价值主张、客户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细分、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渠道与收入成本进行梳理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56514" algn="l" rtl="0" eaLnBrk="0">
              <a:lnSpc>
                <a:spcPct val="96000"/>
              </a:lnSpc>
              <a:spcBef>
                <a:spcPts val="703"/>
              </a:spcBef>
              <a:tabLst/>
            </a:pPr>
            <a:r>
              <a:rPr sz="1300" kern="0" spc="-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-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提升对项目可行性与逻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辑闭环的理解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300" kern="0" spc="-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-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为后续项目方案迭代打下基础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3269" y="2082828"/>
            <a:ext cx="577788" cy="565148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464981" y="941292"/>
            <a:ext cx="4876165" cy="1014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4300" b="1" kern="0" spc="-8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实践目标与核心任务</a:t>
            </a:r>
            <a:endParaRPr sz="4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3019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从“创意想法”走向“项目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结构化表达”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58823" y="4368785"/>
            <a:ext cx="8392794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412750" algn="l" rtl="0" eaLnBrk="0">
              <a:lnSpc>
                <a:spcPct val="95000"/>
              </a:lnSpc>
              <a:spcBef>
                <a:spcPts val="2"/>
              </a:spcBef>
              <a:tabLst>
                <a:tab pos="535940" algn="l"/>
              </a:tabLst>
            </a:pPr>
            <a:r>
              <a:rPr sz="1700" kern="0" spc="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23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本次课关键词</a:t>
            </a:r>
            <a:r>
              <a:rPr sz="1700" kern="0" spc="23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400" kern="0" spc="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价值主张/客户细分/渠道设</a:t>
            </a:r>
            <a:r>
              <a:rPr sz="14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计/商业模式画布/收入来源/成本结构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1523" y="4381485"/>
            <a:ext cx="400056" cy="400049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7327925" y="2070127"/>
            <a:ext cx="1898650" cy="1830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4515" algn="l" rtl="0" eaLnBrk="0">
              <a:lnSpc>
                <a:spcPct val="98000"/>
              </a:lnSpc>
              <a:spcBef>
                <a:spcPts val="7"/>
              </a:spcBef>
              <a:tabLst>
                <a:tab pos="739775" algn="l"/>
              </a:tabLst>
            </a:pPr>
            <a:r>
              <a:rPr sz="2100" kern="0" spc="0" dirty="0">
                <a:solidFill>
                  <a:srgbClr val="1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100" b="1" kern="0" spc="-40" dirty="0">
                <a:solidFill>
                  <a:srgbClr val="1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9265" algn="l" rtl="0" eaLnBrk="0">
              <a:lnSpc>
                <a:spcPct val="96000"/>
              </a:lnSpc>
              <a:spcBef>
                <a:spcPts val="425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商业模式画布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</a:t>
            </a:r>
            <a:endParaRPr sz="14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96000"/>
              </a:lnSpc>
              <a:spcBef>
                <a:spcPts val="851"/>
              </a:spcBef>
              <a:tabLst/>
            </a:pPr>
            <a:r>
              <a:rPr sz="3300" kern="0" spc="-40" baseline="-4735" dirty="0">
                <a:solidFill>
                  <a:srgbClr val="80E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100" kern="0" spc="290" dirty="0">
                <a:solidFill>
                  <a:srgbClr val="80E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项目价值主张简表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2600" kern="0" spc="60" baseline="-6010" dirty="0">
                <a:solidFill>
                  <a:srgbClr val="80E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600" kern="0" spc="710" dirty="0">
                <a:solidFill>
                  <a:srgbClr val="80E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关键要素说明卡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0625" y="2082827"/>
            <a:ext cx="552413" cy="558754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4521162" y="2793755"/>
            <a:ext cx="1475739" cy="1332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项目核心价值梳理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203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客户细分讨论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870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渠道与客户关系设计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153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收入与成本分析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商业模式画布填写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076753" y="5315128"/>
            <a:ext cx="484441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000" b="1" kern="0" spc="-7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先把项目逻辑梳理清楚，再推进方案落地。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796790" y="297282"/>
            <a:ext cx="528002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5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</a:t>
            </a:r>
            <a:r>
              <a:rPr sz="1700" b="1" kern="0" spc="4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：商业模式画布初建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4127476" y="2070128"/>
            <a:ext cx="1967229" cy="629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4200" algn="l" rtl="0" eaLnBrk="0">
              <a:lnSpc>
                <a:spcPct val="97000"/>
              </a:lnSpc>
              <a:tabLst>
                <a:tab pos="778509" algn="l"/>
              </a:tabLst>
            </a:pPr>
            <a:r>
              <a:rPr sz="2300" kern="0" spc="0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300" b="1" kern="0" spc="-10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140176" y="2082828"/>
            <a:ext cx="571524" cy="565148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65552" y="2743223"/>
            <a:ext cx="266703" cy="1390643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5097" y="126976"/>
            <a:ext cx="533408" cy="495296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32985" y="234950"/>
            <a:ext cx="698505" cy="279407"/>
          </a:xfrm>
          <a:prstGeom prst="rect">
            <a:avLst/>
          </a:prstGeom>
        </p:spPr>
      </p:pic>
      <p:sp>
        <p:nvSpPr>
          <p:cNvPr id="50" name="path 50"/>
          <p:cNvSpPr/>
          <p:nvPr/>
        </p:nvSpPr>
        <p:spPr>
          <a:xfrm>
            <a:off x="1015959" y="5749951"/>
            <a:ext cx="9550489" cy="6350"/>
          </a:xfrm>
          <a:custGeom>
            <a:avLst/>
            <a:gdLst/>
            <a:ahLst/>
            <a:cxnLst/>
            <a:rect l="0" t="0" r="0" b="0"/>
            <a:pathLst>
              <a:path w="15040" h="10">
                <a:moveTo>
                  <a:pt x="13150" y="5"/>
                </a:moveTo>
                <a:lnTo>
                  <a:pt x="15040" y="5"/>
                </a:lnTo>
                <a:moveTo>
                  <a:pt x="0" y="5"/>
                </a:moveTo>
                <a:lnTo>
                  <a:pt x="1315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path 52"/>
          <p:cNvSpPr/>
          <p:nvPr/>
        </p:nvSpPr>
        <p:spPr>
          <a:xfrm>
            <a:off x="1015959" y="4784752"/>
            <a:ext cx="9550489" cy="6350"/>
          </a:xfrm>
          <a:custGeom>
            <a:avLst/>
            <a:gdLst/>
            <a:ahLst/>
            <a:cxnLst/>
            <a:rect l="0" t="0" r="0" b="0"/>
            <a:pathLst>
              <a:path w="15040" h="10">
                <a:moveTo>
                  <a:pt x="0" y="5"/>
                </a:moveTo>
                <a:lnTo>
                  <a:pt x="13150" y="5"/>
                </a:lnTo>
                <a:moveTo>
                  <a:pt x="13150" y="5"/>
                </a:moveTo>
                <a:lnTo>
                  <a:pt x="1504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path 54"/>
          <p:cNvSpPr/>
          <p:nvPr/>
        </p:nvSpPr>
        <p:spPr>
          <a:xfrm>
            <a:off x="1015959" y="4962519"/>
            <a:ext cx="8350322" cy="6350"/>
          </a:xfrm>
          <a:custGeom>
            <a:avLst/>
            <a:gdLst/>
            <a:ahLst/>
            <a:cxnLst/>
            <a:rect l="0" t="0" r="0" b="0"/>
            <a:pathLst>
              <a:path w="13150" h="10">
                <a:moveTo>
                  <a:pt x="0" y="5"/>
                </a:moveTo>
                <a:lnTo>
                  <a:pt x="13150" y="5"/>
                </a:lnTo>
                <a:moveTo>
                  <a:pt x="0" y="5"/>
                </a:moveTo>
                <a:lnTo>
                  <a:pt x="1315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501662" y="2120890"/>
          <a:ext cx="9474834" cy="2465069"/>
        </p:xfrm>
        <a:graphic>
          <a:graphicData uri="http://schemas.openxmlformats.org/drawingml/2006/table">
            <a:tbl>
              <a:tblPr/>
              <a:tblGrid>
                <a:gridCol w="3361054"/>
                <a:gridCol w="1548130"/>
                <a:gridCol w="1489075"/>
                <a:gridCol w="1666239"/>
                <a:gridCol w="1410335"/>
              </a:tblGrid>
              <a:tr h="472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>
                          <a:tab pos="605790" algn="l"/>
                        </a:tabLst>
                      </a:pPr>
                      <a:r>
                        <a:rPr sz="1700" kern="0" spc="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1700" b="1" kern="0" spc="4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常见问题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96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200" kern="0" spc="15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想法很多，但项目边界不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清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09550" algn="l" rtl="0" eaLnBrk="0">
                        <a:lnSpc>
                          <a:spcPct val="92000"/>
                        </a:lnSpc>
                        <a:spcBef>
                          <a:spcPts val="575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200" kern="0" spc="17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只讲创意亮点，忽略运营逻辑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4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200" kern="0" spc="240" dirty="0">
                          <a:solidFill>
                            <a:srgbClr val="004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用户、渠道、收入与成本之间缺乏联系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创意想法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5604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用户价值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商业结构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64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6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可执行方案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3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5000"/>
                        </a:lnSpc>
                        <a:tabLst>
                          <a:tab pos="605790" algn="l"/>
                        </a:tabLst>
                      </a:pPr>
                      <a:r>
                        <a:rPr sz="1700" kern="0" spc="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1700" b="1" kern="0" spc="6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画布的价值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提出问题与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979" algn="l" rtl="0" eaLnBrk="0">
                        <a:lnSpc>
                          <a:spcPts val="147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明确谁需要、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6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梳理渠道、资源、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965" algn="l" rtl="0" eaLnBrk="0">
                        <a:lnSpc>
                          <a:spcPts val="1480"/>
                        </a:lnSpc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形成可讨论、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4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200" kern="0" spc="210" dirty="0">
                          <a:solidFill>
                            <a:srgbClr val="004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帮助团队统一理解项目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spcBef>
                          <a:spcPts val="482"/>
                        </a:spcBef>
                        <a:tabLst/>
                      </a:pPr>
                      <a:r>
                        <a:rPr sz="1200" kern="0" spc="-6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200" kern="0" spc="29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快速发现关键缺口与风险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200" kern="0" spc="160" dirty="0">
                          <a:solidFill>
                            <a:srgbClr val="1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为项目迭代和展示提供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结构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00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30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解决思路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4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593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为何需要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成本与收益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53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tabLst/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可优化的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V1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方案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08033" y="3492472"/>
            <a:ext cx="431801" cy="42800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1662" y="2120890"/>
            <a:ext cx="438171" cy="444506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349240" y="332311"/>
            <a:ext cx="8512175" cy="1475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2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435" algn="l" rtl="0" eaLnBrk="0">
              <a:lnSpc>
                <a:spcPct val="97000"/>
              </a:lnSpc>
              <a:spcBef>
                <a:spcPts val="1149"/>
              </a:spcBef>
              <a:tabLst/>
            </a:pPr>
            <a:r>
              <a:rPr sz="3800" b="1" kern="0" spc="3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任务导入：为什么要画商业模式画布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63500" algn="l" rtl="0" eaLnBrk="0">
              <a:lnSpc>
                <a:spcPct val="95000"/>
              </a:lnSpc>
              <a:spcBef>
                <a:spcPts val="113"/>
              </a:spcBef>
              <a:tabLst/>
            </a:pP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让零散创意从“点子”变成“可讨论、可执行、可优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化”的项目方案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24305" y="4846438"/>
            <a:ext cx="8108950" cy="957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1830" algn="l" rtl="0" eaLnBrk="0">
              <a:lnSpc>
                <a:spcPct val="92000"/>
              </a:lnSpc>
              <a:tabLst/>
            </a:pPr>
            <a:r>
              <a:rPr sz="1600" b="1" kern="0" spc="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商业模式画布不是简</a:t>
            </a:r>
            <a:r>
              <a:rPr sz="1600" b="1" kern="0" spc="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单填表，而是梳理项目逻辑、建立团队共识的重要工具。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19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画布不是终点，而是项目设计的起点</a:t>
            </a:r>
            <a:r>
              <a:rPr sz="19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828536" y="303675"/>
            <a:ext cx="534987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《创新创业基础》实践课|第4次：商业模式画布</a:t>
            </a:r>
            <a:r>
              <a:rPr sz="17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715481" y="260346"/>
            <a:ext cx="666760" cy="2984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041375" y="1933510"/>
            <a:ext cx="2875279" cy="2978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tabLst/>
            </a:pPr>
            <a:r>
              <a:rPr sz="1300" b="1" kern="0" spc="-3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案例背景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419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·校园内闲置教材、电子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产品与生活用品流通效率低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270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信息分散、交易不便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、信任机制不足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320"/>
              </a:spcBef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学生希望有更便捷、更可靠的校园交易渠道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5"/>
              </a:spcBef>
              <a:tabLst/>
            </a:pPr>
            <a:r>
              <a:rPr sz="1300" b="1" kern="0" spc="-6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目标用户与场景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621"/>
              </a:spcBef>
              <a:tabLst/>
            </a:pPr>
            <a:r>
              <a:rPr sz="900" kern="0" spc="5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1.</a:t>
            </a:r>
            <a:r>
              <a:rPr sz="900" kern="0" spc="46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本科生与研究生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265"/>
              </a:spcBef>
              <a:tabLst/>
            </a:pPr>
            <a:r>
              <a:rPr sz="900" kern="0" spc="6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2.</a:t>
            </a:r>
            <a:r>
              <a:rPr sz="900" kern="0" spc="38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宿舍闲置物品转让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164"/>
              </a:spcBef>
              <a:tabLst/>
            </a:pPr>
            <a:r>
              <a:rPr sz="900" kern="0" spc="5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3.</a:t>
            </a:r>
            <a:r>
              <a:rPr sz="900" kern="0" spc="47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教材循环与社团物资交换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415"/>
              </a:spcBef>
              <a:tabLst/>
            </a:pPr>
            <a:r>
              <a:rPr sz="900" kern="0" spc="6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4.</a:t>
            </a:r>
            <a:r>
              <a:rPr sz="900" kern="0" spc="44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毕业季集中转让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4604" algn="l" rtl="0" eaLnBrk="0">
              <a:lnSpc>
                <a:spcPct val="96000"/>
              </a:lnSpc>
              <a:spcBef>
                <a:spcPts val="1515"/>
              </a:spcBef>
              <a:tabLst/>
            </a:pPr>
            <a:r>
              <a:rPr sz="1300" b="1" kern="0" spc="-6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需要思考的问题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353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项目核心价值是什么?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213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如何吸引并服务目标用户?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8"/>
              </a:lnSpc>
              <a:spcBef>
                <a:spcPts val="125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平台通过什么渠道触达用户?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8"/>
              </a:lnSpc>
              <a:spcBef>
                <a:spcPts val="261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成本与收益从何而来?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987342" y="4862589"/>
            <a:ext cx="8696325" cy="920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232275" algn="l" rtl="0" eaLnBrk="0">
              <a:lnSpc>
                <a:spcPct val="92000"/>
              </a:lnSpc>
              <a:tabLst/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案例只是理解工具的入口，关键是把本组项目转化为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结构化表达。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从真实场景出发，商业模式设计才更有支撑。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7838" y="146037"/>
            <a:ext cx="406320" cy="380988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279379" y="240197"/>
            <a:ext cx="5321300" cy="1386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600" b="1" kern="0" spc="40" baseline="-801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600" b="1" kern="0" spc="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</a:t>
            </a:r>
            <a:r>
              <a:rPr sz="1600" b="1" kern="0" spc="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业模式画布初建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7000"/>
              </a:lnSpc>
              <a:spcBef>
                <a:spcPts val="1027"/>
              </a:spcBef>
              <a:tabLst/>
            </a:pPr>
            <a:r>
              <a:rPr sz="34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项目背景与案例情境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92000"/>
              </a:lnSpc>
              <a:tabLst/>
            </a:pPr>
            <a:r>
              <a:rPr sz="1100" kern="0" spc="-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以“校园二手闲置流通平台”为例，理解商业模式画布如何服务项目设计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7099337" y="3179848"/>
            <a:ext cx="1270635" cy="1283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7850" algn="l" rtl="0" eaLnBrk="0">
              <a:lnSpc>
                <a:spcPts val="1088"/>
              </a:lnSpc>
              <a:tabLst/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</a:t>
            </a:r>
            <a:r>
              <a:rPr sz="900" kern="0" spc="3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园</a:t>
            </a: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二</a:t>
            </a:r>
            <a:endParaRPr sz="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9070" algn="l" rtl="0" eaLnBrk="0">
              <a:lnSpc>
                <a:spcPct val="92000"/>
              </a:lnSpc>
              <a:spcBef>
                <a:spcPts val="248"/>
              </a:spcBef>
              <a:tabLst/>
            </a:pP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闲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置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</a:t>
            </a:r>
            <a:r>
              <a:rPr sz="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08915" algn="l" rtl="0" eaLnBrk="0">
              <a:lnSpc>
                <a:spcPts val="1352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交易更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放心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spcBef>
                <a:spcPts val="340"/>
              </a:spcBef>
              <a:tabLst/>
            </a:pPr>
            <a:r>
              <a:rPr sz="1100" kern="0" spc="-7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价值主张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spcBef>
                <a:spcPts val="1"/>
              </a:spcBef>
              <a:tabLst/>
            </a:pP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便捷可靠的校园二手交易平台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4933959" y="4082777"/>
            <a:ext cx="1478914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70"/>
              </a:lnSpc>
              <a:tabLst/>
            </a:pPr>
            <a:r>
              <a:rPr sz="1100" kern="0" spc="-4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用户痛点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spcBef>
                <a:spcPts val="3"/>
              </a:spcBef>
              <a:tabLst/>
            </a:pP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流通效率低、信任不足、体验不佳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9099512" y="4093991"/>
            <a:ext cx="1204594" cy="36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kern="0" spc="-6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交易流程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967"/>
              </a:lnSpc>
              <a:spcBef>
                <a:spcPts val="3"/>
              </a:spcBef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发布→沟通→交易→评价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436076" y="1249817"/>
            <a:ext cx="945514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2389" algn="l" rtl="0" eaLnBrk="0">
              <a:lnSpc>
                <a:spcPct val="96000"/>
              </a:lnSpc>
              <a:tabLst/>
            </a:pPr>
            <a:r>
              <a:rPr sz="1600" b="1" kern="0" spc="40" dirty="0">
                <a:solidFill>
                  <a:srgbClr val="508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校园二手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900" kern="0" spc="130" dirty="0">
                <a:solidFill>
                  <a:srgbClr val="508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让闲置流动起来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461451" y="2193405"/>
            <a:ext cx="853439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ts val="629"/>
              </a:lnSpc>
              <a:tabLst/>
            </a:pP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电子产</a:t>
            </a:r>
            <a:r>
              <a:rPr sz="5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品生洁用品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9"/>
              </a:lnSpc>
              <a:spcBef>
                <a:spcPts val="1"/>
              </a:spcBef>
              <a:tabLst/>
            </a:pPr>
            <a:r>
              <a:rPr sz="600" kern="0" spc="0" dirty="0">
                <a:solidFill>
                  <a:srgbClr val="4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</a:t>
            </a:r>
            <a:r>
              <a:rPr sz="600" kern="0" spc="0" dirty="0">
                <a:solidFill>
                  <a:srgbClr val="4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4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</a:t>
            </a:r>
            <a:r>
              <a:rPr sz="600" kern="0" spc="170" dirty="0">
                <a:solidFill>
                  <a:srgbClr val="4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4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600" kern="0" spc="0" dirty="0">
                <a:solidFill>
                  <a:srgbClr val="307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便</a:t>
            </a:r>
            <a:r>
              <a:rPr sz="600" kern="0" spc="0" dirty="0">
                <a:solidFill>
                  <a:srgbClr val="307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307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捷</a:t>
            </a:r>
            <a:r>
              <a:rPr sz="600" kern="0" spc="0" dirty="0">
                <a:solidFill>
                  <a:srgbClr val="508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600" kern="0" spc="30" dirty="0">
                <a:solidFill>
                  <a:srgbClr val="508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E09030">
                    <a:alpha val="100000"/>
                  </a:srgbClr>
                </a:solidFill>
                <a:latin typeface="LiSu"/>
                <a:ea typeface="LiSu"/>
                <a:cs typeface="LiSu"/>
              </a:rPr>
              <a:t>可</a:t>
            </a:r>
            <a:r>
              <a:rPr sz="600" kern="0" spc="-140" dirty="0">
                <a:solidFill>
                  <a:srgbClr val="E0903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600" kern="0" spc="0" dirty="0">
                <a:solidFill>
                  <a:srgbClr val="E09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</a:t>
            </a:r>
            <a:r>
              <a:rPr sz="600" kern="0" spc="-140" dirty="0">
                <a:solidFill>
                  <a:srgbClr val="E09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E09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2796" y="2971780"/>
            <a:ext cx="488922" cy="488962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19060" y="2006582"/>
            <a:ext cx="482657" cy="495296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19060" y="4114805"/>
            <a:ext cx="476287" cy="476235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772601" y="203222"/>
            <a:ext cx="654125" cy="279407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489482" y="4089410"/>
            <a:ext cx="355570" cy="361926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67495" y="4121139"/>
            <a:ext cx="374681" cy="323863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674146" y="4108471"/>
            <a:ext cx="317454" cy="336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210599" y="1987521"/>
            <a:ext cx="2006544" cy="3022630"/>
            <a:chOff x="0" y="0"/>
            <a:chExt cx="2006544" cy="3022630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006544" cy="3022630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2032000" cy="30714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15339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600" b="1" kern="0" spc="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填写提示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7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4665" algn="l" rtl="0" eaLnBrk="0">
                <a:lnSpc>
                  <a:spcPct val="96000"/>
                </a:lnSpc>
                <a:spcBef>
                  <a:spcPts val="394"/>
                </a:spcBef>
                <a:tabLst/>
              </a:pPr>
              <a:r>
                <a:rPr sz="13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先从价值主张和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494665" algn="l" rtl="0" eaLnBrk="0">
                <a:lnSpc>
                  <a:spcPct val="96000"/>
                </a:lnSpc>
                <a:spcBef>
                  <a:spcPts val="353"/>
                </a:spcBef>
                <a:tabLst/>
              </a:pPr>
              <a:r>
                <a:rPr sz="1300" kern="0" spc="-1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客户细分开始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4665" algn="l" rtl="0" eaLnBrk="0">
                <a:lnSpc>
                  <a:spcPct val="85000"/>
                </a:lnSpc>
                <a:spcBef>
                  <a:spcPts val="392"/>
                </a:spcBef>
                <a:tabLst/>
              </a:pP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避免空泛表述，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494665" algn="l" rtl="0" eaLnBrk="0">
                <a:lnSpc>
                  <a:spcPts val="1775"/>
                </a:lnSpc>
                <a:tabLst/>
              </a:pPr>
              <a:r>
                <a:rPr sz="13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尽量具体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94665" algn="l" rtl="0" eaLnBrk="0">
                <a:lnSpc>
                  <a:spcPct val="96000"/>
                </a:lnSpc>
                <a:spcBef>
                  <a:spcPts val="400"/>
                </a:spcBef>
                <a:tabLst/>
              </a:pP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各要素之间要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494665" algn="l" rtl="0" eaLnBrk="0">
                <a:lnSpc>
                  <a:spcPct val="96000"/>
                </a:lnSpc>
                <a:spcBef>
                  <a:spcPts val="202"/>
                </a:spcBef>
                <a:tabLst/>
              </a:pPr>
              <a:r>
                <a:rPr sz="1300" kern="0" spc="1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相互支撑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12" name="textbox 112"/>
          <p:cNvSpPr/>
          <p:nvPr/>
        </p:nvSpPr>
        <p:spPr>
          <a:xfrm>
            <a:off x="1644540" y="973381"/>
            <a:ext cx="7644765" cy="789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工具与方法说明：商业模式画布九要素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405889" algn="l" rtl="0" eaLnBrk="0">
              <a:lnSpc>
                <a:spcPct val="92000"/>
              </a:lnSpc>
              <a:spcBef>
                <a:spcPts val="299"/>
              </a:spcBef>
              <a:tabLst/>
            </a:pP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围绕九个关键要素，形成对项目运行逻辑的整</a:t>
            </a: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体认识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5384831" y="2038371"/>
            <a:ext cx="2381225" cy="952470"/>
            <a:chOff x="0" y="0"/>
            <a:chExt cx="2381225" cy="952470"/>
          </a:xfrm>
        </p:grpSpPr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81225" cy="952470"/>
            </a:xfrm>
            <a:prstGeom prst="rect">
              <a:avLst/>
            </a:prstGeom>
          </p:spPr>
        </p:pic>
        <p:sp>
          <p:nvSpPr>
            <p:cNvPr id="116" name="textbox 116"/>
            <p:cNvSpPr/>
            <p:nvPr/>
          </p:nvSpPr>
          <p:spPr>
            <a:xfrm>
              <a:off x="-12700" y="-12700"/>
              <a:ext cx="2406650" cy="1000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15339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700" b="1" kern="0" spc="-13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渠道通路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862964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如何触达用户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5384831" y="4102077"/>
            <a:ext cx="2374855" cy="920801"/>
            <a:chOff x="0" y="0"/>
            <a:chExt cx="2374855" cy="920801"/>
          </a:xfrm>
        </p:grpSpPr>
        <p:pic>
          <p:nvPicPr>
            <p:cNvPr id="118" name="picture 1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374855" cy="920801"/>
            </a:xfrm>
            <a:prstGeom prst="rect">
              <a:avLst/>
            </a:prstGeom>
          </p:spPr>
        </p:pic>
        <p:sp>
          <p:nvSpPr>
            <p:cNvPr id="120" name="textbox 120"/>
            <p:cNvSpPr/>
            <p:nvPr/>
          </p:nvSpPr>
          <p:spPr>
            <a:xfrm>
              <a:off x="-12700" y="-12700"/>
              <a:ext cx="2400300" cy="967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15339" algn="l" rtl="0" eaLnBrk="0">
                <a:lnSpc>
                  <a:spcPct val="96000"/>
                </a:lnSpc>
                <a:tabLst/>
              </a:pPr>
              <a:r>
                <a:rPr sz="1600" b="1" kern="0" spc="-5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成本结构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93115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主要成本来自哪里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5391201" y="3086088"/>
            <a:ext cx="2374855" cy="914408"/>
            <a:chOff x="0" y="0"/>
            <a:chExt cx="2374855" cy="914408"/>
          </a:xfrm>
        </p:grpSpPr>
        <p:pic>
          <p:nvPicPr>
            <p:cNvPr id="122" name="picture 1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374855" cy="914408"/>
            </a:xfrm>
            <a:prstGeom prst="rect">
              <a:avLst/>
            </a:prstGeom>
          </p:spPr>
        </p:pic>
        <p:sp>
          <p:nvSpPr>
            <p:cNvPr id="124" name="textbox 124"/>
            <p:cNvSpPr/>
            <p:nvPr/>
          </p:nvSpPr>
          <p:spPr>
            <a:xfrm>
              <a:off x="-12700" y="-12700"/>
              <a:ext cx="2400300" cy="9601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08990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600" b="1" kern="0" spc="-3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核心资源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805815" algn="l" rtl="0" eaLnBrk="0">
                <a:lnSpc>
                  <a:spcPct val="95000"/>
                </a:lnSpc>
                <a:spcBef>
                  <a:spcPts val="4"/>
                </a:spcBef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需要什么关键资源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2997235" y="2044705"/>
            <a:ext cx="2279618" cy="946136"/>
            <a:chOff x="0" y="0"/>
            <a:chExt cx="2279618" cy="946136"/>
          </a:xfrm>
        </p:grpSpPr>
        <p:pic>
          <p:nvPicPr>
            <p:cNvPr id="126" name="picture 1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279618" cy="946136"/>
            </a:xfrm>
            <a:prstGeom prst="rect">
              <a:avLst/>
            </a:prstGeom>
          </p:spPr>
        </p:pic>
        <p:sp>
          <p:nvSpPr>
            <p:cNvPr id="128" name="textbox 128"/>
            <p:cNvSpPr/>
            <p:nvPr/>
          </p:nvSpPr>
          <p:spPr>
            <a:xfrm>
              <a:off x="-12700" y="-12700"/>
              <a:ext cx="2305050" cy="993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51840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600" b="1" kern="0" spc="-30" dirty="0">
                  <a:solidFill>
                    <a:srgbClr val="105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价值主张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48665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解决什么问题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641385" y="2038371"/>
            <a:ext cx="2247873" cy="952470"/>
            <a:chOff x="0" y="0"/>
            <a:chExt cx="2247873" cy="952470"/>
          </a:xfrm>
        </p:grpSpPr>
        <p:pic>
          <p:nvPicPr>
            <p:cNvPr id="130" name="picture 13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247873" cy="952470"/>
            </a:xfrm>
            <a:prstGeom prst="rect">
              <a:avLst/>
            </a:prstGeom>
          </p:spPr>
        </p:pic>
        <p:sp>
          <p:nvSpPr>
            <p:cNvPr id="132" name="textbox 132"/>
            <p:cNvSpPr/>
            <p:nvPr/>
          </p:nvSpPr>
          <p:spPr>
            <a:xfrm>
              <a:off x="-12700" y="-12700"/>
              <a:ext cx="2273300" cy="9994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07390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600" b="1" kern="0" spc="-3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客户细分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704215" algn="l" rtl="0" eaLnBrk="0">
                <a:lnSpc>
                  <a:spcPct val="95000"/>
                </a:lnSpc>
                <a:spcBef>
                  <a:spcPts val="2"/>
                </a:spcBef>
                <a:tabLst/>
              </a:pPr>
              <a:r>
                <a:rPr sz="1300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服务谁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2997235" y="3086088"/>
            <a:ext cx="2285989" cy="920741"/>
            <a:chOff x="0" y="0"/>
            <a:chExt cx="2285989" cy="920741"/>
          </a:xfrm>
        </p:grpSpPr>
        <p:pic>
          <p:nvPicPr>
            <p:cNvPr id="134" name="picture 13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285989" cy="920741"/>
            </a:xfrm>
            <a:prstGeom prst="rect">
              <a:avLst/>
            </a:prstGeom>
          </p:spPr>
        </p:pic>
        <p:sp>
          <p:nvSpPr>
            <p:cNvPr id="136" name="textbox 136"/>
            <p:cNvSpPr/>
            <p:nvPr/>
          </p:nvSpPr>
          <p:spPr>
            <a:xfrm>
              <a:off x="-12700" y="-12700"/>
              <a:ext cx="2311400" cy="968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51840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600" b="1" kern="0" spc="-30" dirty="0">
                  <a:solidFill>
                    <a:srgbClr val="105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收入来源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48665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如何获得收益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622274" y="3086088"/>
            <a:ext cx="2266984" cy="920741"/>
            <a:chOff x="0" y="0"/>
            <a:chExt cx="2266984" cy="920741"/>
          </a:xfrm>
        </p:grpSpPr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266984" cy="920741"/>
            </a:xfrm>
            <a:prstGeom prst="rect">
              <a:avLst/>
            </a:prstGeom>
          </p:spPr>
        </p:pic>
        <p:sp>
          <p:nvSpPr>
            <p:cNvPr id="140" name="textbox 140"/>
            <p:cNvSpPr/>
            <p:nvPr/>
          </p:nvSpPr>
          <p:spPr>
            <a:xfrm>
              <a:off x="-12700" y="-12700"/>
              <a:ext cx="2292985" cy="967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26440" algn="l" rtl="0" eaLnBrk="0">
                <a:lnSpc>
                  <a:spcPct val="96000"/>
                </a:lnSpc>
                <a:tabLst/>
              </a:pPr>
              <a:r>
                <a:rPr sz="1700" b="1" kern="0" spc="-9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客户关系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723900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如何建立与维护关系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2997235" y="4102077"/>
            <a:ext cx="2279618" cy="914407"/>
            <a:chOff x="0" y="0"/>
            <a:chExt cx="2279618" cy="914407"/>
          </a:xfrm>
        </p:grpSpPr>
        <p:pic>
          <p:nvPicPr>
            <p:cNvPr id="142" name="picture 14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2279618" cy="914407"/>
            </a:xfrm>
            <a:prstGeom prst="rect">
              <a:avLst/>
            </a:prstGeom>
          </p:spPr>
        </p:pic>
        <p:sp>
          <p:nvSpPr>
            <p:cNvPr id="144" name="textbox 144"/>
            <p:cNvSpPr/>
            <p:nvPr/>
          </p:nvSpPr>
          <p:spPr>
            <a:xfrm>
              <a:off x="-12700" y="-12700"/>
              <a:ext cx="2305050" cy="960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51840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600" b="1" kern="0" spc="-4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重要合作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48665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需要哪些合作支持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628644" y="4102077"/>
            <a:ext cx="2260614" cy="920801"/>
            <a:chOff x="0" y="0"/>
            <a:chExt cx="2260614" cy="920801"/>
          </a:xfrm>
        </p:grpSpPr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260614" cy="920801"/>
            </a:xfrm>
            <a:prstGeom prst="rect">
              <a:avLst/>
            </a:prstGeom>
          </p:spPr>
        </p:pic>
        <p:sp>
          <p:nvSpPr>
            <p:cNvPr id="148" name="textbox 148"/>
            <p:cNvSpPr/>
            <p:nvPr/>
          </p:nvSpPr>
          <p:spPr>
            <a:xfrm>
              <a:off x="-12700" y="-12700"/>
              <a:ext cx="2286635" cy="967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20090" algn="l" rtl="0" eaLnBrk="0">
                <a:lnSpc>
                  <a:spcPct val="95000"/>
                </a:lnSpc>
                <a:tabLst/>
              </a:pPr>
              <a:r>
                <a:rPr sz="1700" b="1" kern="0" spc="-90" dirty="0">
                  <a:solidFill>
                    <a:srgbClr val="202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关键业务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17550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要做哪些关键活动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50" name="textbox 150"/>
          <p:cNvSpPr/>
          <p:nvPr/>
        </p:nvSpPr>
        <p:spPr>
          <a:xfrm>
            <a:off x="796790" y="290948"/>
            <a:ext cx="534415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</a:t>
            </a:r>
            <a:r>
              <a:rPr sz="17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业模式画布初建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140153" y="5518487"/>
            <a:ext cx="36664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九要素协同，项目逻辑才完整。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505898" y="241284"/>
            <a:ext cx="774737" cy="304802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196842" y="152371"/>
            <a:ext cx="495292" cy="457233"/>
            <a:chOff x="0" y="0"/>
            <a:chExt cx="495292" cy="457233"/>
          </a:xfrm>
        </p:grpSpPr>
        <p:pic>
          <p:nvPicPr>
            <p:cNvPr id="156" name="picture 15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495292" cy="457233"/>
            </a:xfrm>
            <a:prstGeom prst="rect">
              <a:avLst/>
            </a:prstGeom>
          </p:spPr>
        </p:pic>
        <p:sp>
          <p:nvSpPr>
            <p:cNvPr id="158" name="textbox 158"/>
            <p:cNvSpPr/>
            <p:nvPr/>
          </p:nvSpPr>
          <p:spPr>
            <a:xfrm>
              <a:off x="-12700" y="-12700"/>
              <a:ext cx="520700" cy="546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4464" algn="l" rtl="0" eaLnBrk="0">
                <a:lnSpc>
                  <a:spcPct val="76000"/>
                </a:lnSpc>
                <a:tabLst/>
              </a:pPr>
              <a:r>
                <a:rPr sz="22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  <a:endParaRPr sz="2200" dirty="0">
                <a:latin typeface="Times New Roman"/>
                <a:ea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7740616" y="1737562"/>
            <a:ext cx="2279014" cy="2750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090" algn="l" rtl="0" eaLnBrk="0">
              <a:lnSpc>
                <a:spcPct val="95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课堂操作建议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93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先讨论，再填写，避免一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人包办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95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重要判断要有依据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2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遇到分歧可先保留备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选方案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完成后进行组内复核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298490" y="294188"/>
            <a:ext cx="4217670" cy="1471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2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97000"/>
              </a:lnSpc>
              <a:spcBef>
                <a:spcPts val="1149"/>
              </a:spcBef>
              <a:tabLst/>
            </a:pPr>
            <a:r>
              <a:rPr sz="3800" b="1" kern="0" spc="2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操作步骤说明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按照“先核心、后扩展”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的顺序完成商业模式画布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710662" y="2086351"/>
            <a:ext cx="2487929" cy="2305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明确项目主题与目标</a:t>
            </a:r>
            <a:r>
              <a:rPr sz="1500" b="1" kern="0" spc="-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60"/>
              </a:spcBef>
              <a:tabLst/>
            </a:pPr>
            <a:r>
              <a:rPr sz="15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提炼价值主张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54"/>
              </a:spcBef>
              <a:tabLst/>
            </a:pPr>
            <a:r>
              <a:rPr sz="15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梳理渠道与客户关系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23"/>
              </a:spcBef>
              <a:tabLst/>
            </a:pPr>
            <a:r>
              <a:rPr sz="1400" b="1" kern="0" spc="-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分析关键资源、关键业务与合作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4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估算收入来源与成本结构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136612" y="4729119"/>
            <a:ext cx="5123815" cy="1064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3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建议先完成</a:t>
            </a:r>
            <a:r>
              <a:rPr sz="1300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</a:t>
            </a:r>
            <a:r>
              <a:rPr sz="13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版本，不追求一</a:t>
            </a:r>
            <a:r>
              <a:rPr sz="1300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步到位，后续可迭代优化。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21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先搭框架，再补细节，画布填写更高效。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4552908" y="2119696"/>
            <a:ext cx="1905635" cy="2261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先回答做什么、为谁做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40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说明用户为什么选择你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40"/>
              </a:spcBef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明确如何触达、转化与服务用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户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35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判断项目落地所需条件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形成初步商业闭环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349240" y="2080205"/>
            <a:ext cx="570865" cy="2480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700" kern="0" spc="-10" dirty="0">
                <a:solidFill>
                  <a:srgbClr val="A0D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7"/>
              </a:spcBef>
              <a:tabLst/>
            </a:pPr>
            <a:r>
              <a:rPr sz="4200" kern="0" spc="-330" dirty="0">
                <a:solidFill>
                  <a:srgbClr val="5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endParaRPr sz="4200" dirty="0">
              <a:latin typeface="SimSun"/>
              <a:ea typeface="SimSun"/>
              <a:cs typeface="SimSun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784156" y="265553"/>
            <a:ext cx="534987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《创新创业基础》实践课|第4次：商业模式画布</a:t>
            </a:r>
            <a:r>
              <a:rPr sz="1700" b="1" kern="0" spc="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592930" y="4436049"/>
            <a:ext cx="6601459" cy="1283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3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协作建议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6000"/>
              </a:lnSpc>
              <a:spcBef>
                <a:spcPts val="10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先统一项目边界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边讨论边记录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关键结论形成共识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6884" algn="l" rtl="0" eaLnBrk="0">
              <a:lnSpc>
                <a:spcPct val="92000"/>
              </a:lnSpc>
              <a:tabLst/>
            </a:pPr>
            <a:r>
              <a:rPr sz="1700" b="1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分工清晰，团队协作才能形成高质量方案。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463587" y="907757"/>
            <a:ext cx="5260975" cy="883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6000"/>
              </a:lnSpc>
              <a:tabLst/>
            </a:pPr>
            <a:r>
              <a:rPr sz="4300" b="1" kern="0" spc="25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分组协作与角色分工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42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通过合理分工，提高讨论效率与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画布填写质量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8248649" y="2234370"/>
            <a:ext cx="1647825" cy="2534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ts val="1946"/>
              </a:lnSpc>
              <a:tabLst/>
            </a:pPr>
            <a:r>
              <a:rPr sz="1600" b="1" kern="0" spc="-17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提醒：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1010"/>
              </a:spcBef>
              <a:tabLst/>
            </a:pP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每位成员都应参与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82600" algn="l" rtl="0" eaLnBrk="0">
              <a:lnSpc>
                <a:spcPct val="95000"/>
              </a:lnSpc>
              <a:spcBef>
                <a:spcPts val="257"/>
              </a:spcBef>
              <a:tabLst/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讨论，避免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55600" algn="l" rtl="0" eaLnBrk="0">
              <a:lnSpc>
                <a:spcPts val="1595"/>
              </a:lnSpc>
              <a:spcBef>
                <a:spcPts val="231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“只填不想”或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ts val="1582"/>
              </a:lnSpc>
              <a:spcBef>
                <a:spcPts val="204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“只想不落”。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完成后组内复盘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5372131" y="2036895"/>
            <a:ext cx="1551305" cy="2152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700" b="1" kern="0" spc="-1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用户与价值分析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796"/>
              </a:spcBef>
              <a:tabLst/>
            </a:pPr>
            <a:r>
              <a:rPr sz="1100" kern="0" spc="1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提炼目标用户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370"/>
              </a:lnSpc>
              <a:spcBef>
                <a:spcPts val="193"/>
              </a:spcBef>
              <a:tabLst/>
            </a:pPr>
            <a:r>
              <a:rPr sz="1100" kern="0" spc="-2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22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梳理痛点需求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74"/>
              </a:spcBef>
              <a:tabLst/>
            </a:pPr>
            <a:r>
              <a:rPr sz="1100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明确价值主张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519"/>
              </a:spcBef>
              <a:tabLst/>
            </a:pPr>
            <a:r>
              <a:rPr sz="1700" b="1" kern="0" spc="-10" dirty="0">
                <a:solidFill>
                  <a:srgbClr val="6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资源与财务记录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618"/>
              </a:spcBef>
              <a:tabLst/>
            </a:pPr>
            <a:r>
              <a:rPr sz="1200" kern="0" spc="-80" dirty="0">
                <a:solidFill>
                  <a:srgbClr val="3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80" dirty="0">
                <a:solidFill>
                  <a:srgbClr val="3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分析资源合作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77"/>
              </a:spcBef>
              <a:tabLst/>
            </a:pPr>
            <a:r>
              <a:rPr sz="1200" kern="0" spc="-90" dirty="0">
                <a:solidFill>
                  <a:srgbClr val="3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90" dirty="0">
                <a:solidFill>
                  <a:srgbClr val="3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估算成本收益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76"/>
              </a:spcBef>
              <a:tabLst/>
            </a:pPr>
            <a:r>
              <a:rPr sz="1200" kern="0" spc="-110" dirty="0">
                <a:solidFill>
                  <a:srgbClr val="3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100" dirty="0">
                <a:solidFill>
                  <a:srgbClr val="3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整理填写成果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1546125" y="2036031"/>
            <a:ext cx="1545589" cy="2148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1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项目统筹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ts val="1370"/>
              </a:lnSpc>
              <a:spcBef>
                <a:spcPts val="719"/>
              </a:spcBef>
              <a:tabLst/>
            </a:pPr>
            <a:r>
              <a:rPr sz="1100" kern="0" spc="-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6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组织讨论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ts val="1365"/>
              </a:lnSpc>
              <a:spcBef>
                <a:spcPts val="226"/>
              </a:spcBef>
              <a:tabLst/>
            </a:pPr>
            <a:r>
              <a:rPr sz="1100" kern="0" spc="-3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20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把控进度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ct val="96000"/>
              </a:lnSpc>
              <a:spcBef>
                <a:spcPts val="235"/>
              </a:spcBef>
              <a:tabLst/>
            </a:pPr>
            <a:r>
              <a:rPr sz="1100" kern="0" spc="-4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2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协调分歧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14"/>
              </a:spcBef>
              <a:tabLst/>
            </a:pPr>
            <a:r>
              <a:rPr sz="1700" b="1" kern="0" spc="-10" dirty="0">
                <a:solidFill>
                  <a:srgbClr val="1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渠道与运营分析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ct val="95000"/>
              </a:lnSpc>
              <a:spcBef>
                <a:spcPts val="838"/>
              </a:spcBef>
              <a:tabLst/>
            </a:pPr>
            <a:r>
              <a:rPr sz="1100" kern="0" spc="-10" dirty="0">
                <a:solidFill>
                  <a:srgbClr val="2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90" dirty="0">
                <a:solidFill>
                  <a:srgbClr val="2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设计触达方式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ct val="96000"/>
              </a:lnSpc>
              <a:spcBef>
                <a:spcPts val="299"/>
              </a:spcBef>
              <a:tabLst/>
            </a:pPr>
            <a:r>
              <a:rPr sz="1100" kern="0" spc="0" dirty="0">
                <a:solidFill>
                  <a:srgbClr val="2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40" dirty="0">
                <a:solidFill>
                  <a:srgbClr val="2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思考客户关系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925" algn="l" rtl="0" eaLnBrk="0">
              <a:lnSpc>
                <a:spcPct val="95000"/>
              </a:lnSpc>
              <a:spcBef>
                <a:spcPts val="280"/>
              </a:spcBef>
              <a:tabLst/>
            </a:pPr>
            <a:r>
              <a:rPr sz="1100" kern="0" spc="0" dirty="0">
                <a:solidFill>
                  <a:srgbClr val="2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20" dirty="0">
                <a:solidFill>
                  <a:srgbClr val="2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梳理关键业务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834906" y="310009"/>
            <a:ext cx="534987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《创新创业基础》实践课|第4次：商业模式画布</a:t>
            </a:r>
            <a:r>
              <a:rPr sz="1700" b="1" kern="0" spc="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5847" y="146037"/>
            <a:ext cx="520773" cy="501690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69494" y="273073"/>
            <a:ext cx="711139" cy="292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6842" y="1670050"/>
            <a:ext cx="5930873" cy="2889261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50041" y="869951"/>
            <a:ext cx="3955968" cy="1231878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12740" y="4578372"/>
            <a:ext cx="10559974" cy="1390643"/>
            <a:chOff x="0" y="0"/>
            <a:chExt cx="10559974" cy="1390643"/>
          </a:xfrm>
        </p:grpSpPr>
        <p:pic>
          <p:nvPicPr>
            <p:cNvPr id="200" name="picture 2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0559974" cy="1390643"/>
            </a:xfrm>
            <a:prstGeom prst="rect">
              <a:avLst/>
            </a:prstGeom>
          </p:spPr>
        </p:pic>
        <p:sp>
          <p:nvSpPr>
            <p:cNvPr id="202" name="textbox 202"/>
            <p:cNvSpPr/>
            <p:nvPr/>
          </p:nvSpPr>
          <p:spPr>
            <a:xfrm>
              <a:off x="-12700" y="-12700"/>
              <a:ext cx="10585450" cy="1435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43964" algn="l" rtl="0" eaLnBrk="0">
                <a:lnSpc>
                  <a:spcPct val="94000"/>
                </a:lnSpc>
                <a:spcBef>
                  <a:spcPts val="4"/>
                </a:spcBef>
                <a:tabLst/>
              </a:pP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800" b="1" kern="0" spc="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适合帮助</a:t>
              </a:r>
              <a:r>
                <a:rPr sz="1800" b="1" kern="0" spc="80" dirty="0">
                  <a:solidFill>
                    <a:srgbClr val="F0E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整理与启发，不替代</a:t>
              </a:r>
              <a:r>
                <a:rPr sz="1800" b="1" kern="0" spc="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团队思考与项目判断。</a:t>
              </a:r>
              <a:endParaRPr sz="1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981075" algn="l" rtl="0" eaLnBrk="0">
                <a:lnSpc>
                  <a:spcPct val="94000"/>
                </a:lnSpc>
                <a:spcBef>
                  <a:spcPts val="2"/>
                </a:spcBef>
                <a:tabLst/>
              </a:pPr>
              <a:r>
                <a:rPr sz="1900" b="1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善用</a:t>
              </a:r>
              <a:r>
                <a:rPr sz="19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AI,  </a:t>
              </a:r>
              <a:r>
                <a:rPr sz="1900" b="1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让商业模</a:t>
              </a:r>
              <a:r>
                <a:rPr sz="19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式梳理更高效。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107976" y="12727"/>
            <a:ext cx="10477477" cy="628606"/>
            <a:chOff x="0" y="0"/>
            <a:chExt cx="10477477" cy="628606"/>
          </a:xfrm>
        </p:grpSpPr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0477477" cy="628606"/>
            </a:xfrm>
            <a:prstGeom prst="rect">
              <a:avLst/>
            </a:prstGeom>
          </p:spPr>
        </p:pic>
        <p:sp>
          <p:nvSpPr>
            <p:cNvPr id="206" name="textbox 206"/>
            <p:cNvSpPr/>
            <p:nvPr/>
          </p:nvSpPr>
          <p:spPr>
            <a:xfrm>
              <a:off x="-12700" y="-12700"/>
              <a:ext cx="10502900" cy="678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0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6214" algn="l" rtl="0" eaLnBrk="0">
                <a:lnSpc>
                  <a:spcPct val="88000"/>
                </a:lnSpc>
                <a:tabLst/>
              </a:pPr>
              <a:r>
                <a:rPr sz="2500" kern="0" spc="80" baseline="-6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  <a:r>
                <a:rPr sz="1600" kern="0" spc="8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</a:t>
              </a:r>
              <a:r>
                <a:rPr sz="1500" b="1" kern="0" spc="80" dirty="0">
                  <a:solidFill>
                    <a:srgbClr val="102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《创新创业基础》实践课|第4次：商业模式画布初建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08" name="textbox 208"/>
          <p:cNvSpPr/>
          <p:nvPr/>
        </p:nvSpPr>
        <p:spPr>
          <a:xfrm>
            <a:off x="298490" y="833678"/>
            <a:ext cx="5744209" cy="788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400" b="1" kern="0" spc="-20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3400" b="1" kern="0" spc="-2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工具演</a:t>
            </a:r>
            <a:r>
              <a:rPr sz="3400" b="1" kern="0" spc="-1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示：辅助梳理商业模</a:t>
            </a:r>
            <a:r>
              <a:rPr sz="3400" b="1" kern="0" spc="-1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式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进行要素归纳、价值提炼与方案启发，但最终判断仍需结合真实项目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7623211" y="2405185"/>
            <a:ext cx="2559050" cy="808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9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5575" indent="-69850" algn="l" rtl="0" eaLnBrk="0">
              <a:lnSpc>
                <a:spcPct val="118000"/>
              </a:lnSpc>
              <a:tabLst/>
            </a:pP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“请根据我们的项目方向，帮助我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从目标用户、核心痛点、价值主张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渠道触达和收入来源五个方面梳理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商业模式画布初稿。”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7664490" y="3630483"/>
            <a:ext cx="2053589" cy="656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100" kern="0" spc="-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以真实调研和项目事实为基础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64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建议进行筛选与修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100" kern="0" spc="-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不照搬，重在启发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8304436" y="1534988"/>
            <a:ext cx="1508760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tabLst/>
            </a:pP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补充渠道与运营启发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梳理收入与成本可能项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6502438" y="1629624"/>
            <a:ext cx="1814829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25"/>
              </a:lnSpc>
              <a:tabLst/>
            </a:pPr>
            <a:r>
              <a:rPr sz="1400" b="1" kern="0" spc="-10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b="1" kern="0" spc="-1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可辅助的环节</a:t>
            </a:r>
            <a:r>
              <a:rPr sz="1400" kern="0" spc="1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600" kern="0" spc="-100" baseline="-3775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endParaRPr sz="1600" baseline="-37759" dirty="0">
              <a:latin typeface="SimHei"/>
              <a:ea typeface="SimHei"/>
              <a:cs typeface="Sim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8210532" y="1059251"/>
            <a:ext cx="131889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100" kern="0" spc="-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提炼价值主张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100" kern="0" spc="-3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生成客户细分思路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15138" y="2330446"/>
            <a:ext cx="514297" cy="520692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496027" y="3555990"/>
            <a:ext cx="520773" cy="508024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6504800" y="2899369"/>
            <a:ext cx="86423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提示词示例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6504800" y="4080456"/>
            <a:ext cx="680084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使用原则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8210532" y="1534988"/>
            <a:ext cx="106679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6"/>
              </a:lnSpc>
              <a:tabLst/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0" y="5022879"/>
            <a:ext cx="10566449" cy="939743"/>
            <a:chOff x="0" y="0"/>
            <a:chExt cx="10566449" cy="939743"/>
          </a:xfrm>
        </p:grpSpPr>
        <p:pic>
          <p:nvPicPr>
            <p:cNvPr id="232" name="picture 2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66449" cy="939743"/>
            </a:xfrm>
            <a:prstGeom prst="rect">
              <a:avLst/>
            </a:prstGeom>
          </p:spPr>
        </p:pic>
        <p:sp>
          <p:nvSpPr>
            <p:cNvPr id="234" name="textbox 234"/>
            <p:cNvSpPr/>
            <p:nvPr/>
          </p:nvSpPr>
          <p:spPr>
            <a:xfrm>
              <a:off x="-12700" y="-12700"/>
              <a:ext cx="10592434" cy="984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89989" algn="l" rtl="0" eaLnBrk="0">
                <a:lnSpc>
                  <a:spcPct val="92000"/>
                </a:lnSpc>
                <a:spcBef>
                  <a:spcPts val="2"/>
                </a:spcBef>
                <a:tabLst/>
              </a:pPr>
              <a:r>
                <a:rPr sz="1700" b="1" kern="0" spc="1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成果提交越规范，后续迭代越高效。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36" name="textbox 236"/>
          <p:cNvSpPr/>
          <p:nvPr/>
        </p:nvSpPr>
        <p:spPr>
          <a:xfrm>
            <a:off x="4584653" y="1546231"/>
            <a:ext cx="4167504" cy="1809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5640" algn="l" rtl="0" eaLnBrk="0">
              <a:lnSpc>
                <a:spcPct val="99000"/>
              </a:lnSpc>
              <a:tabLst/>
            </a:pPr>
            <a:r>
              <a:rPr sz="1300" b="1" kern="0" spc="-1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内容完整：</a:t>
            </a:r>
            <a:r>
              <a:rPr sz="1300" kern="0" spc="1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九要素填写基本完整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5640" algn="l" rtl="0" eaLnBrk="0">
              <a:lnSpc>
                <a:spcPct val="99000"/>
              </a:lnSpc>
              <a:spcBef>
                <a:spcPts val="396"/>
              </a:spcBef>
              <a:tabLst/>
            </a:pPr>
            <a:r>
              <a:rPr sz="1300" b="1" kern="0" spc="-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表达清晰：</a:t>
            </a:r>
            <a:r>
              <a:rPr sz="1300" kern="0" spc="2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用词准确、条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理清楚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5640" algn="l" rtl="0" eaLnBrk="0">
              <a:lnSpc>
                <a:spcPct val="99000"/>
              </a:lnSpc>
              <a:spcBef>
                <a:spcPts val="391"/>
              </a:spcBef>
              <a:tabLst/>
            </a:pPr>
            <a:r>
              <a:rPr sz="1300" b="1" kern="0" spc="-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逻辑匹配：</a:t>
            </a:r>
            <a:r>
              <a:rPr sz="1300" kern="0" spc="22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各要素之间相互支撑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82600" algn="l" rtl="0" eaLnBrk="0">
              <a:lnSpc>
                <a:spcPct val="99000"/>
              </a:lnSpc>
              <a:tabLst>
                <a:tab pos="675640" algn="l"/>
              </a:tabLst>
            </a:pPr>
            <a:r>
              <a:rPr sz="13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4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版面规范：</a:t>
            </a:r>
            <a:r>
              <a:rPr sz="1300" kern="0" spc="2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字迹清晰、排版整洁、成员信息完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97353" y="2870199"/>
            <a:ext cx="469917" cy="450840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374615" y="936234"/>
            <a:ext cx="3898900" cy="1101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7000"/>
              </a:lnSpc>
              <a:tabLst/>
            </a:pPr>
            <a:r>
              <a:rPr sz="47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</a:t>
            </a:r>
            <a:endParaRPr sz="4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本次实践课重点提交“商业模式画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布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V1”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及相关说明材料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42" name="table 242"/>
          <p:cNvGraphicFramePr>
            <a:graphicFrameLocks noGrp="1"/>
          </p:cNvGraphicFramePr>
          <p:nvPr/>
        </p:nvGraphicFramePr>
        <p:xfrm>
          <a:off x="8194683" y="3565542"/>
          <a:ext cx="1835150" cy="1167764"/>
        </p:xfrm>
        <a:graphic>
          <a:graphicData uri="http://schemas.openxmlformats.org/drawingml/2006/table">
            <a:tbl>
              <a:tblPr/>
              <a:tblGrid>
                <a:gridCol w="1835150"/>
              </a:tblGrid>
              <a:tr h="11614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0544" algn="l" rtl="0" eaLnBrk="0">
                        <a:lnSpc>
                          <a:spcPts val="846"/>
                        </a:lnSpc>
                        <a:tabLst/>
                      </a:pPr>
                      <a:r>
                        <a:rPr sz="700" b="1" kern="0" spc="3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关键要素说明卡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4" name="table 244"/>
          <p:cNvGraphicFramePr>
            <a:graphicFrameLocks noGrp="1"/>
          </p:cNvGraphicFramePr>
          <p:nvPr/>
        </p:nvGraphicFramePr>
        <p:xfrm>
          <a:off x="4327474" y="3565542"/>
          <a:ext cx="1828800" cy="1136014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11296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11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894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800" b="1" kern="0" spc="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商业模式画布V1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table 246"/>
          <p:cNvGraphicFramePr>
            <a:graphicFrameLocks noGrp="1"/>
          </p:cNvGraphicFramePr>
          <p:nvPr/>
        </p:nvGraphicFramePr>
        <p:xfrm>
          <a:off x="6340495" y="3565542"/>
          <a:ext cx="1688464" cy="1142364"/>
        </p:xfrm>
        <a:graphic>
          <a:graphicData uri="http://schemas.openxmlformats.org/drawingml/2006/table">
            <a:tbl>
              <a:tblPr/>
              <a:tblGrid>
                <a:gridCol w="1688464"/>
              </a:tblGrid>
              <a:tr h="11360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974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项目价值主张简表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8" name="textbox 248"/>
          <p:cNvSpPr/>
          <p:nvPr/>
        </p:nvSpPr>
        <p:spPr>
          <a:xfrm>
            <a:off x="558823" y="2628882"/>
            <a:ext cx="1804035" cy="1007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19100" indent="-101600" algn="l" rtl="0" eaLnBrk="0">
              <a:lnSpc>
                <a:spcPct val="127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商业模式画布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项目价值主张简表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5000"/>
              </a:lnSpc>
              <a:spcBef>
                <a:spcPts val="2"/>
              </a:spcBef>
              <a:tabLst>
                <a:tab pos="41910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关键要素说明卡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1523" y="3295644"/>
            <a:ext cx="304819" cy="304802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1523" y="2641582"/>
            <a:ext cx="304819" cy="292134"/>
          </a:xfrm>
          <a:prstGeom prst="rect">
            <a:avLst/>
          </a:prstGeom>
        </p:spPr>
      </p:pic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4378331" y="3743309"/>
          <a:ext cx="1726565" cy="948690"/>
        </p:xfrm>
        <a:graphic>
          <a:graphicData uri="http://schemas.openxmlformats.org/drawingml/2006/table">
            <a:tbl>
              <a:tblPr/>
              <a:tblGrid>
                <a:gridCol w="351790"/>
                <a:gridCol w="342900"/>
                <a:gridCol w="171450"/>
                <a:gridCol w="171450"/>
                <a:gridCol w="349250"/>
                <a:gridCol w="339725"/>
              </a:tblGrid>
              <a:tr h="35877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504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400" kern="0" spc="30" dirty="0">
                          <a:solidFill>
                            <a:srgbClr val="0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关瞳合作伙锦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ts val="50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400" kern="0" spc="40" dirty="0">
                          <a:solidFill>
                            <a:srgbClr val="0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业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ts val="50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客</a:t>
                      </a:r>
                      <a:r>
                        <a:rPr sz="400" kern="0" spc="40" dirty="0">
                          <a:solidFill>
                            <a:srgbClr val="0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户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细分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algn="l" rtl="0" eaLnBrk="0">
                        <a:lnSpc>
                          <a:spcPts val="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00" kern="0" spc="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核心责源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06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ts val="50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00" kern="0" spc="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成本</a:t>
                      </a:r>
                      <a:r>
                        <a:rPr sz="400" kern="0" spc="40" dirty="0">
                          <a:solidFill>
                            <a:srgbClr val="2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结构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504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400" kern="0" spc="30" dirty="0">
                          <a:solidFill>
                            <a:srgbClr val="0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来源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256" name="table 256"/>
          <p:cNvGraphicFramePr>
            <a:graphicFrameLocks noGrp="1"/>
          </p:cNvGraphicFramePr>
          <p:nvPr/>
        </p:nvGraphicFramePr>
        <p:xfrm>
          <a:off x="8245434" y="3743309"/>
          <a:ext cx="1733550" cy="939800"/>
        </p:xfrm>
        <a:graphic>
          <a:graphicData uri="http://schemas.openxmlformats.org/drawingml/2006/table">
            <a:tbl>
              <a:tblPr/>
              <a:tblGrid>
                <a:gridCol w="606425"/>
                <a:gridCol w="1127125"/>
              </a:tblGrid>
              <a:tr h="161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要素名称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要素说明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关键内容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支撑依据/数据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与其他要素关系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table 258"/>
          <p:cNvGraphicFramePr>
            <a:graphicFrameLocks noGrp="1"/>
          </p:cNvGraphicFramePr>
          <p:nvPr/>
        </p:nvGraphicFramePr>
        <p:xfrm>
          <a:off x="6384875" y="3743309"/>
          <a:ext cx="1593850" cy="926465"/>
        </p:xfrm>
        <a:graphic>
          <a:graphicData uri="http://schemas.openxmlformats.org/drawingml/2006/table">
            <a:tbl>
              <a:tblPr/>
              <a:tblGrid>
                <a:gridCol w="530225"/>
                <a:gridCol w="1063625"/>
              </a:tblGrid>
              <a:tr h="149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项目名称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2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面向客户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5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核心问题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解决方案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5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7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核心价值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44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差异化优势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0" name="textbox 260"/>
          <p:cNvSpPr/>
          <p:nvPr/>
        </p:nvSpPr>
        <p:spPr>
          <a:xfrm>
            <a:off x="803161" y="278280"/>
            <a:ext cx="534987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《创新创业基础》实践课|第4次：商业模式画布</a:t>
            </a:r>
            <a:r>
              <a:rPr sz="1700" b="1" kern="0" spc="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571458" y="4202139"/>
            <a:ext cx="1743710" cy="723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20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截图或清晰照片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473"/>
              </a:spcBef>
              <a:tabLst/>
            </a:pPr>
            <a:r>
              <a:rPr sz="1300" kern="0" spc="-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1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电子版文档整理上传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300" kern="0" spc="-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小组统一命名提交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97353" y="1377975"/>
            <a:ext cx="469917" cy="1454101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4603723" y="920742"/>
            <a:ext cx="1511358" cy="387381"/>
            <a:chOff x="0" y="0"/>
            <a:chExt cx="1511358" cy="387381"/>
          </a:xfrm>
        </p:grpSpPr>
        <p:pic>
          <p:nvPicPr>
            <p:cNvPr id="266" name="picture 2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511358" cy="387381"/>
            </a:xfrm>
            <a:prstGeom prst="rect">
              <a:avLst/>
            </a:prstGeom>
          </p:spPr>
        </p:pic>
        <p:sp>
          <p:nvSpPr>
            <p:cNvPr id="268" name="textbox 268"/>
            <p:cNvSpPr/>
            <p:nvPr/>
          </p:nvSpPr>
          <p:spPr>
            <a:xfrm>
              <a:off x="-12700" y="-12700"/>
              <a:ext cx="1537335" cy="4413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485140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600" b="1" kern="0" spc="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规范要求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514297" y="2222471"/>
            <a:ext cx="1397011" cy="342925"/>
            <a:chOff x="0" y="0"/>
            <a:chExt cx="1397011" cy="342925"/>
          </a:xfrm>
        </p:grpSpPr>
        <p:pic>
          <p:nvPicPr>
            <p:cNvPr id="270" name="picture 2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397011" cy="342925"/>
            </a:xfrm>
            <a:prstGeom prst="rect">
              <a:avLst/>
            </a:prstGeom>
          </p:spPr>
        </p:pic>
        <p:sp>
          <p:nvSpPr>
            <p:cNvPr id="272" name="textbox 272"/>
            <p:cNvSpPr/>
            <p:nvPr/>
          </p:nvSpPr>
          <p:spPr>
            <a:xfrm>
              <a:off x="-12700" y="-12700"/>
              <a:ext cx="1423035" cy="3968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21640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600" b="1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必交成果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08033" y="3765546"/>
            <a:ext cx="1403275" cy="336531"/>
            <a:chOff x="0" y="0"/>
            <a:chExt cx="1403275" cy="336531"/>
          </a:xfrm>
        </p:grpSpPr>
        <p:pic>
          <p:nvPicPr>
            <p:cNvPr id="274" name="picture 2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403275" cy="336531"/>
            </a:xfrm>
            <a:prstGeom prst="rect">
              <a:avLst/>
            </a:prstGeom>
          </p:spPr>
        </p:pic>
        <p:sp>
          <p:nvSpPr>
            <p:cNvPr id="276" name="textbox 276"/>
            <p:cNvSpPr/>
            <p:nvPr/>
          </p:nvSpPr>
          <p:spPr>
            <a:xfrm>
              <a:off x="-12700" y="-12700"/>
              <a:ext cx="1428750" cy="390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27990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600" b="1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提交形式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8451822" y="4794262"/>
            <a:ext cx="1276399" cy="177766"/>
            <a:chOff x="0" y="0"/>
            <a:chExt cx="1276399" cy="177766"/>
          </a:xfrm>
        </p:grpSpPr>
        <p:pic>
          <p:nvPicPr>
            <p:cNvPr id="278" name="picture 27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276399" cy="177766"/>
            </a:xfrm>
            <a:prstGeom prst="rect">
              <a:avLst/>
            </a:prstGeom>
          </p:spPr>
        </p:pic>
        <p:sp>
          <p:nvSpPr>
            <p:cNvPr id="280" name="textbox 280"/>
            <p:cNvSpPr/>
            <p:nvPr/>
          </p:nvSpPr>
          <p:spPr>
            <a:xfrm>
              <a:off x="-12700" y="-12700"/>
              <a:ext cx="1302385" cy="2184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85420" algn="l" rtl="0" eaLnBrk="0">
                <a:lnSpc>
                  <a:spcPct val="100000"/>
                </a:lnSpc>
                <a:spcBef>
                  <a:spcPts val="1"/>
                </a:spcBef>
                <a:tabLst/>
              </a:pPr>
              <a:r>
                <a:rPr sz="900" b="1" kern="0" spc="1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关键要素说明卡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82" name="picture 2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6842" y="152371"/>
            <a:ext cx="495292" cy="457233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6584999" y="4794262"/>
            <a:ext cx="1168317" cy="185031"/>
            <a:chOff x="0" y="0"/>
            <a:chExt cx="1168317" cy="185031"/>
          </a:xfrm>
        </p:grpSpPr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1168317" cy="184160"/>
            </a:xfrm>
            <a:prstGeom prst="rect">
              <a:avLst/>
            </a:prstGeom>
          </p:spPr>
        </p:pic>
        <p:sp>
          <p:nvSpPr>
            <p:cNvPr id="286" name="textbox 286"/>
            <p:cNvSpPr/>
            <p:nvPr/>
          </p:nvSpPr>
          <p:spPr>
            <a:xfrm>
              <a:off x="-12700" y="-12700"/>
              <a:ext cx="1193800" cy="2292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89864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100" kern="0" spc="-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价值主张简表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88" name="picture 28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671101" y="247678"/>
            <a:ext cx="704770" cy="285741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667215" y="4794262"/>
            <a:ext cx="1117672" cy="177766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632424" y="4470398"/>
            <a:ext cx="203213" cy="184160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813307" y="3892522"/>
            <a:ext cx="171467" cy="177826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156243" y="3892522"/>
            <a:ext cx="184102" cy="165098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470371" y="3892522"/>
            <a:ext cx="171468" cy="171492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505443" y="3892522"/>
            <a:ext cx="177837" cy="165098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743446" y="4470398"/>
            <a:ext cx="146092" cy="184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306" name="textbox 306"/>
          <p:cNvSpPr/>
          <p:nvPr/>
        </p:nvSpPr>
        <p:spPr>
          <a:xfrm>
            <a:off x="6051525" y="1172414"/>
            <a:ext cx="3492500" cy="3150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20090" algn="l" rtl="0" eaLnBrk="0">
              <a:lnSpc>
                <a:spcPct val="95000"/>
              </a:lnSpc>
              <a:tabLst/>
            </a:pPr>
            <a:r>
              <a:rPr sz="1700" b="1" kern="0" spc="1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课堂评价方式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0" algn="l" rtl="0" eaLnBrk="0">
              <a:lnSpc>
                <a:spcPts val="1595"/>
              </a:lnSpc>
              <a:spcBef>
                <a:spcPts val="397"/>
              </a:spcBef>
              <a:tabLst/>
            </a:pPr>
            <a:r>
              <a:rPr sz="1300" kern="0" spc="-4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32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教师点评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47650" algn="l" rtl="0" eaLnBrk="0">
              <a:lnSpc>
                <a:spcPct val="96000"/>
              </a:lnSpc>
              <a:spcBef>
                <a:spcPts val="1247"/>
              </a:spcBef>
              <a:tabLst/>
            </a:pPr>
            <a:r>
              <a:rPr sz="1300" kern="0" spc="-4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28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72415" algn="l" rtl="0" eaLnBrk="0">
              <a:lnSpc>
                <a:spcPct val="96000"/>
              </a:lnSpc>
              <a:spcBef>
                <a:spcPts val="1053"/>
              </a:spcBef>
              <a:tabLst/>
            </a:pPr>
            <a:r>
              <a:rPr sz="1300" kern="0" spc="-1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4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组内自评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3740" algn="l" rtl="0" eaLnBrk="0">
              <a:lnSpc>
                <a:spcPct val="95000"/>
              </a:lnSpc>
              <a:spcBef>
                <a:spcPts val="521"/>
              </a:spcBef>
              <a:tabLst/>
            </a:pPr>
            <a:r>
              <a:rPr sz="1700" b="1" kern="0" spc="1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课后延伸任务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kern="0" spc="-4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3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根据反馈完善商业模式画布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818"/>
              </a:spcBef>
              <a:tabLst/>
            </a:pPr>
            <a:r>
              <a:rPr sz="1300" kern="0" spc="-3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34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补充项目价值主张说明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300" kern="0" spc="-4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2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为下次“团队分工与项目方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案迭代”做好准备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228628" y="338086"/>
            <a:ext cx="5127625" cy="147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200" b="1" kern="0" spc="-50" dirty="0">
                <a:solidFill>
                  <a:srgbClr val="C0E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1291"/>
              </a:spcBef>
              <a:tabLst/>
            </a:pPr>
            <a:r>
              <a:rPr sz="4300" b="1" kern="0" spc="-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评价标准与课后延伸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266065" algn="l" rtl="0" eaLnBrk="0">
              <a:lnSpc>
                <a:spcPct val="92000"/>
              </a:lnSpc>
              <a:spcBef>
                <a:spcPts val="77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通过课堂评价与课后优化，持续完善项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目商业模式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1057514" y="4674160"/>
            <a:ext cx="7251700" cy="1002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88464" algn="l" rtl="0" eaLnBrk="0">
              <a:lnSpc>
                <a:spcPct val="94000"/>
              </a:lnSpc>
              <a:tabLst/>
            </a:pPr>
            <a:r>
              <a:rPr sz="1700" b="1" kern="0" spc="-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下一次实践课将进入团队分工、资源梳理</a:t>
            </a:r>
            <a:r>
              <a:rPr sz="1700" b="1" kern="0" spc="-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与项目方案迭代。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b="1" kern="0" spc="-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一版不是终点，持续迭代才是项目成长</a:t>
            </a:r>
            <a:r>
              <a:rPr sz="1900" b="1" kern="0" spc="-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682159" y="2125236"/>
            <a:ext cx="1826260" cy="216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评价维度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527050" algn="l" rtl="0" eaLnBrk="0">
              <a:lnSpc>
                <a:spcPct val="95000"/>
              </a:lnSpc>
              <a:spcBef>
                <a:spcPts val="1378"/>
              </a:spcBef>
              <a:tabLst/>
            </a:pPr>
            <a:r>
              <a:rPr sz="1500" b="1" kern="0" spc="-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逻辑完整性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27050" algn="l" rtl="0" eaLnBrk="0">
              <a:lnSpc>
                <a:spcPct val="96000"/>
              </a:lnSpc>
              <a:spcBef>
                <a:spcPts val="458"/>
              </a:spcBef>
              <a:tabLst/>
            </a:pPr>
            <a:r>
              <a:rPr sz="1500" b="1" kern="0" spc="-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内容合理性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52"/>
              </a:spcBef>
              <a:tabLst/>
            </a:pPr>
            <a:r>
              <a:rPr sz="1500" b="1" kern="0" spc="-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可行性与匹配度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2705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500" b="1" kern="0" spc="-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表达与规范性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2698720" y="2532142"/>
            <a:ext cx="1929764" cy="1827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九要素较为完整，结构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清晰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0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用户、价值、渠道、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226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成本收益分析基本合理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9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项目方案与场景需求较匹配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展示清晰，材料规范，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组内协作良好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809531" y="290948"/>
            <a:ext cx="523620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《创新创业基础》实践课|第4次：商业模式画布初建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0528" y="2387570"/>
            <a:ext cx="476287" cy="2000307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4781602" y="2619177"/>
            <a:ext cx="439419" cy="1228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ct val="79000"/>
              </a:lnSpc>
              <a:tabLst/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30%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482"/>
              </a:spcBef>
              <a:tabLst/>
            </a:pP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25%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3"/>
              </a:spcBef>
              <a:tabLst/>
            </a:pP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25%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4794302" y="3943372"/>
            <a:ext cx="463546" cy="438112"/>
            <a:chOff x="0" y="0"/>
            <a:chExt cx="463546" cy="438112"/>
          </a:xfrm>
        </p:grpSpPr>
        <p:pic>
          <p:nvPicPr>
            <p:cNvPr id="322" name="picture 3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005" y="0"/>
              <a:ext cx="444541" cy="438112"/>
            </a:xfrm>
            <a:prstGeom prst="rect">
              <a:avLst/>
            </a:prstGeom>
          </p:spPr>
        </p:pic>
        <p:sp>
          <p:nvSpPr>
            <p:cNvPr id="324" name="textbox 324"/>
            <p:cNvSpPr/>
            <p:nvPr/>
          </p:nvSpPr>
          <p:spPr>
            <a:xfrm>
              <a:off x="-12700" y="-12700"/>
              <a:ext cx="488950" cy="463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317"/>
                </a:lnSpc>
                <a:spcBef>
                  <a:spcPts val="7"/>
                </a:spcBef>
                <a:tabLst/>
              </a:pPr>
              <a:r>
                <a:rPr sz="17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20%</a:t>
              </a:r>
              <a:endParaRPr sz="17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2026-05-06T02:34:38</vt:filetime>
  </property>
  <property fmtid="{D5CDD505-2E9C-101B-9397-08002B2CF9AE}" pid="4" name="UsrData">
    <vt:lpwstr>69fa3830d3e451001f863050wl</vt:lpwstr>
  </property>
</Properties>
</file>