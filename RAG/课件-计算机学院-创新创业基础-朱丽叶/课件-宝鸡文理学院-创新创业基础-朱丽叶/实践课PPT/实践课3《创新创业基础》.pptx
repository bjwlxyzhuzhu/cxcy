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617200" cy="59753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5" Type="http://schemas.openxmlformats.org/officeDocument/2006/relationships/tableStyles" Target="tableStyles.xml"/><Relationship Id="rId14" Type="http://schemas.openxmlformats.org/officeDocument/2006/relationships/presProps" Target="presProps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jpeg"/><Relationship Id="rId8" Type="http://schemas.openxmlformats.org/officeDocument/2006/relationships/image" Target="../media/image14.jpeg"/><Relationship Id="rId7" Type="http://schemas.openxmlformats.org/officeDocument/2006/relationships/image" Target="../media/image13.jpeg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5" Type="http://schemas.openxmlformats.org/officeDocument/2006/relationships/image" Target="../media/image21.jpeg"/><Relationship Id="rId14" Type="http://schemas.openxmlformats.org/officeDocument/2006/relationships/image" Target="../media/image20.jpeg"/><Relationship Id="rId13" Type="http://schemas.openxmlformats.org/officeDocument/2006/relationships/image" Target="../media/image19.jpeg"/><Relationship Id="rId12" Type="http://schemas.openxmlformats.org/officeDocument/2006/relationships/image" Target="../media/image18.jpeg"/><Relationship Id="rId11" Type="http://schemas.openxmlformats.org/officeDocument/2006/relationships/image" Target="../media/image17.jpeg"/><Relationship Id="rId10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jpeg"/><Relationship Id="rId8" Type="http://schemas.openxmlformats.org/officeDocument/2006/relationships/image" Target="../media/image31.jpeg"/><Relationship Id="rId7" Type="http://schemas.openxmlformats.org/officeDocument/2006/relationships/image" Target="../media/image30.jpeg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2" Type="http://schemas.openxmlformats.org/officeDocument/2006/relationships/image" Target="../media/image35.jpeg"/><Relationship Id="rId11" Type="http://schemas.openxmlformats.org/officeDocument/2006/relationships/image" Target="../media/image34.jpeg"/><Relationship Id="rId10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jpeg"/><Relationship Id="rId8" Type="http://schemas.openxmlformats.org/officeDocument/2006/relationships/image" Target="../media/image42.jpeg"/><Relationship Id="rId7" Type="http://schemas.openxmlformats.org/officeDocument/2006/relationships/image" Target="../media/image41.jpeg"/><Relationship Id="rId6" Type="http://schemas.openxmlformats.org/officeDocument/2006/relationships/image" Target="../media/image40.jpeg"/><Relationship Id="rId5" Type="http://schemas.openxmlformats.org/officeDocument/2006/relationships/image" Target="../media/image39.jpeg"/><Relationship Id="rId4" Type="http://schemas.openxmlformats.org/officeDocument/2006/relationships/image" Target="../media/image38.jpeg"/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4" Type="http://schemas.openxmlformats.org/officeDocument/2006/relationships/image" Target="../media/image48.png"/><Relationship Id="rId13" Type="http://schemas.openxmlformats.org/officeDocument/2006/relationships/image" Target="../media/image47.png"/><Relationship Id="rId12" Type="http://schemas.openxmlformats.org/officeDocument/2006/relationships/image" Target="../media/image46.jpeg"/><Relationship Id="rId11" Type="http://schemas.openxmlformats.org/officeDocument/2006/relationships/image" Target="../media/image45.jpeg"/><Relationship Id="rId10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image" Target="../media/image51.jpeg"/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jpeg"/><Relationship Id="rId8" Type="http://schemas.openxmlformats.org/officeDocument/2006/relationships/image" Target="../media/image59.jpeg"/><Relationship Id="rId7" Type="http://schemas.openxmlformats.org/officeDocument/2006/relationships/image" Target="../media/image58.jpeg"/><Relationship Id="rId6" Type="http://schemas.openxmlformats.org/officeDocument/2006/relationships/image" Target="../media/image57.jpeg"/><Relationship Id="rId5" Type="http://schemas.openxmlformats.org/officeDocument/2006/relationships/image" Target="../media/image56.jpeg"/><Relationship Id="rId4" Type="http://schemas.openxmlformats.org/officeDocument/2006/relationships/image" Target="../media/image55.jpeg"/><Relationship Id="rId3" Type="http://schemas.openxmlformats.org/officeDocument/2006/relationships/image" Target="../media/image54.jpeg"/><Relationship Id="rId2" Type="http://schemas.openxmlformats.org/officeDocument/2006/relationships/image" Target="../media/image53.png"/><Relationship Id="rId14" Type="http://schemas.openxmlformats.org/officeDocument/2006/relationships/image" Target="../media/image65.jpeg"/><Relationship Id="rId13" Type="http://schemas.openxmlformats.org/officeDocument/2006/relationships/image" Target="../media/image64.jpeg"/><Relationship Id="rId12" Type="http://schemas.openxmlformats.org/officeDocument/2006/relationships/image" Target="../media/image63.jpeg"/><Relationship Id="rId11" Type="http://schemas.openxmlformats.org/officeDocument/2006/relationships/image" Target="../media/image62.jpeg"/><Relationship Id="rId10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jpeg"/><Relationship Id="rId8" Type="http://schemas.openxmlformats.org/officeDocument/2006/relationships/image" Target="../media/image75.jpeg"/><Relationship Id="rId7" Type="http://schemas.openxmlformats.org/officeDocument/2006/relationships/image" Target="../media/image74.jpeg"/><Relationship Id="rId6" Type="http://schemas.openxmlformats.org/officeDocument/2006/relationships/image" Target="../media/image73.jpeg"/><Relationship Id="rId5" Type="http://schemas.openxmlformats.org/officeDocument/2006/relationships/image" Target="../media/image72.jpeg"/><Relationship Id="rId4" Type="http://schemas.openxmlformats.org/officeDocument/2006/relationships/image" Target="../media/image71.jpeg"/><Relationship Id="rId3" Type="http://schemas.openxmlformats.org/officeDocument/2006/relationships/image" Target="../media/image70.jpeg"/><Relationship Id="rId2" Type="http://schemas.openxmlformats.org/officeDocument/2006/relationships/image" Target="../media/image69.png"/><Relationship Id="rId10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5.jpeg"/><Relationship Id="rId8" Type="http://schemas.openxmlformats.org/officeDocument/2006/relationships/image" Target="../media/image84.jpeg"/><Relationship Id="rId7" Type="http://schemas.openxmlformats.org/officeDocument/2006/relationships/image" Target="../media/image83.jpeg"/><Relationship Id="rId6" Type="http://schemas.openxmlformats.org/officeDocument/2006/relationships/image" Target="../media/image82.jpeg"/><Relationship Id="rId5" Type="http://schemas.openxmlformats.org/officeDocument/2006/relationships/image" Target="../media/image81.jpeg"/><Relationship Id="rId4" Type="http://schemas.openxmlformats.org/officeDocument/2006/relationships/image" Target="../media/image80.jpeg"/><Relationship Id="rId3" Type="http://schemas.openxmlformats.org/officeDocument/2006/relationships/image" Target="../media/image79.jpeg"/><Relationship Id="rId2" Type="http://schemas.openxmlformats.org/officeDocument/2006/relationships/image" Target="../media/image78.png"/><Relationship Id="rId12" Type="http://schemas.openxmlformats.org/officeDocument/2006/relationships/image" Target="../media/image88.jpeg"/><Relationship Id="rId11" Type="http://schemas.openxmlformats.org/officeDocument/2006/relationships/image" Target="../media/image87.jpeg"/><Relationship Id="rId10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15888" y="139671"/>
            <a:ext cx="6590665" cy="2463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2615" algn="l" rtl="0" eaLnBrk="0">
              <a:lnSpc>
                <a:spcPct val="94000"/>
              </a:lnSpc>
              <a:tabLst>
                <a:tab pos="802640" algn="l"/>
              </a:tabLst>
            </a:pPr>
            <a:r>
              <a:rPr sz="17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1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22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1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|第3次：需求调研与</a:t>
            </a:r>
            <a:r>
              <a:rPr sz="1700" b="1" kern="0" spc="1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竞品分析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4954" algn="l" rtl="0" eaLnBrk="0">
              <a:lnSpc>
                <a:spcPct val="97000"/>
              </a:lnSpc>
              <a:spcBef>
                <a:spcPts val="1411"/>
              </a:spcBef>
              <a:tabLst/>
            </a:pPr>
            <a:r>
              <a:rPr sz="4700" b="1" kern="0" spc="-1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需求调研与竞品分析</a:t>
            </a:r>
            <a:endParaRPr sz="4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10515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对应理论模块：模块2用户需求与机会识别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8588" y="152371"/>
            <a:ext cx="590528" cy="584210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7823219" y="1464043"/>
            <a:ext cx="922019" cy="2664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ts val="855"/>
              </a:lnSpc>
              <a:tabLst/>
            </a:pPr>
            <a:r>
              <a:rPr sz="700" kern="0" spc="-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调研计划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50800" algn="l" rtl="0" eaLnBrk="0">
              <a:lnSpc>
                <a:spcPts val="659"/>
              </a:lnSpc>
              <a:spcBef>
                <a:spcPts val="485"/>
              </a:spcBef>
              <a:tabLst/>
            </a:pPr>
            <a:r>
              <a:rPr sz="500" kern="0" spc="30" dirty="0">
                <a:solidFill>
                  <a:srgbClr val="1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1.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用户访谈</a:t>
            </a:r>
            <a:endParaRPr sz="500" dirty="0">
              <a:latin typeface="SimHei"/>
              <a:ea typeface="SimHei"/>
              <a:cs typeface="SimHei"/>
            </a:endParaRPr>
          </a:p>
          <a:p>
            <a:pPr marL="50800" algn="l" rtl="0" eaLnBrk="0">
              <a:lnSpc>
                <a:spcPts val="627"/>
              </a:lnSpc>
              <a:spcBef>
                <a:spcPts val="543"/>
              </a:spcBef>
              <a:tabLst/>
            </a:pP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2.需求归纳</a:t>
            </a:r>
            <a:endParaRPr sz="500" dirty="0">
              <a:latin typeface="SimHei"/>
              <a:ea typeface="SimHei"/>
              <a:cs typeface="SimHei"/>
            </a:endParaRPr>
          </a:p>
          <a:p>
            <a:pPr marL="50800" algn="l" rtl="0" eaLnBrk="0">
              <a:lnSpc>
                <a:spcPts val="740"/>
              </a:lnSpc>
              <a:spcBef>
                <a:spcPts val="425"/>
              </a:spcBef>
              <a:tabLst/>
            </a:pPr>
            <a:r>
              <a:rPr sz="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3.竞品分析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50800" algn="l" rtl="0" eaLnBrk="0">
              <a:lnSpc>
                <a:spcPts val="738"/>
              </a:lnSpc>
              <a:spcBef>
                <a:spcPts val="457"/>
              </a:spcBef>
              <a:tabLst/>
            </a:pPr>
            <a:r>
              <a:rPr sz="600" kern="0" spc="-40" dirty="0">
                <a:solidFill>
                  <a:srgbClr val="203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4.</a:t>
            </a:r>
            <a:r>
              <a:rPr sz="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项目方向修正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710"/>
              </a:lnSpc>
              <a:spcBef>
                <a:spcPts val="159"/>
              </a:spcBef>
              <a:tabLst/>
            </a:pP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</a:t>
            </a: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户访谈记录</a:t>
            </a:r>
            <a:endParaRPr sz="5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516"/>
              </a:lnSpc>
              <a:spcBef>
                <a:spcPts val="1"/>
              </a:spcBef>
              <a:tabLst/>
            </a:pPr>
            <a:r>
              <a:rPr sz="400" kern="0" spc="40" dirty="0">
                <a:solidFill>
                  <a:srgbClr val="203060">
                    <a:alpha val="100000"/>
                  </a:srgbClr>
                </a:solidFill>
                <a:latin typeface="LiSu"/>
                <a:ea typeface="LiSu"/>
                <a:cs typeface="LiSu"/>
              </a:rPr>
              <a:t>鬼</a:t>
            </a:r>
            <a:r>
              <a:rPr sz="400" b="1" kern="0" spc="40" dirty="0">
                <a:solidFill>
                  <a:srgbClr val="20306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品对比</a:t>
            </a: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分</a:t>
            </a:r>
            <a:r>
              <a:rPr sz="400" kern="0" spc="40" dirty="0">
                <a:solidFill>
                  <a:srgbClr val="20306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析</a:t>
            </a:r>
            <a:endParaRPr sz="400" dirty="0">
              <a:latin typeface="STXingkai"/>
              <a:ea typeface="STXingkai"/>
              <a:cs typeface="STXingka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9024650" y="1382250"/>
            <a:ext cx="1426844" cy="955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48994" algn="l" rtl="0" eaLnBrk="0">
              <a:lnSpc>
                <a:spcPct val="100000"/>
              </a:lnSpc>
              <a:tabLst/>
            </a:pPr>
            <a:r>
              <a:rPr sz="800" kern="0" spc="-30" dirty="0">
                <a:solidFill>
                  <a:srgbClr val="1040B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痛点</a:t>
            </a:r>
            <a:r>
              <a:rPr sz="800" b="1" kern="0" spc="-30" dirty="0">
                <a:solidFill>
                  <a:srgbClr val="104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问</a:t>
            </a:r>
            <a:r>
              <a:rPr sz="800" kern="0" spc="-30" dirty="0">
                <a:solidFill>
                  <a:srgbClr val="1040B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题</a:t>
            </a:r>
            <a:endParaRPr sz="800" dirty="0">
              <a:latin typeface="STXingkai"/>
              <a:ea typeface="STXingkai"/>
              <a:cs typeface="STXingkai"/>
            </a:endParaRPr>
          </a:p>
          <a:p>
            <a:pPr marL="12700" algn="l" rtl="0" eaLnBrk="0">
              <a:lnSpc>
                <a:spcPts val="1025"/>
              </a:lnSpc>
              <a:tabLst/>
            </a:pPr>
            <a:r>
              <a:rPr sz="800" b="1" kern="0" spc="-70" dirty="0">
                <a:solidFill>
                  <a:srgbClr val="104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使用场景</a:t>
            </a:r>
            <a:endParaRPr sz="800" dirty="0">
              <a:latin typeface="KaiTi"/>
              <a:ea typeface="KaiTi"/>
              <a:cs typeface="KaiTi"/>
            </a:endParaRPr>
          </a:p>
          <a:p>
            <a:pPr marL="315595" algn="l" rtl="0" eaLnBrk="0">
              <a:lnSpc>
                <a:spcPts val="1781"/>
              </a:lnSpc>
              <a:spcBef>
                <a:spcPts val="817"/>
              </a:spcBef>
              <a:tabLst/>
            </a:pPr>
            <a:r>
              <a:rPr sz="1400" kern="0" spc="-120" dirty="0">
                <a:solidFill>
                  <a:srgbClr val="104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用户需</a:t>
            </a:r>
            <a:r>
              <a:rPr sz="1400" kern="0" spc="-120" dirty="0">
                <a:solidFill>
                  <a:srgbClr val="1040B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求</a:t>
            </a:r>
            <a:endParaRPr sz="1400" dirty="0">
              <a:latin typeface="STXingkai"/>
              <a:ea typeface="STXingkai"/>
              <a:cs typeface="STXingka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89"/>
              </a:lnSpc>
              <a:spcBef>
                <a:spcPts val="2"/>
              </a:spcBef>
              <a:tabLst/>
            </a:pPr>
            <a:r>
              <a:rPr sz="800" kern="0" spc="-50" dirty="0">
                <a:solidFill>
                  <a:srgbClr val="1040B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瓶垫/</a:t>
            </a:r>
            <a:r>
              <a:rPr sz="800" b="1" kern="0" spc="-40" dirty="0">
                <a:solidFill>
                  <a:srgbClr val="104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重视</a:t>
            </a:r>
            <a:r>
              <a:rPr sz="800" b="1" kern="0" spc="-10" dirty="0">
                <a:solidFill>
                  <a:srgbClr val="104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度</a:t>
            </a:r>
            <a:endParaRPr sz="800" dirty="0">
              <a:latin typeface="KaiTi"/>
              <a:ea typeface="KaiTi"/>
              <a:cs typeface="KaiT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1337359" y="5384496"/>
            <a:ext cx="4237354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1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调研越扎实，项目方</a:t>
            </a:r>
            <a:r>
              <a:rPr sz="21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向就越清晰。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1316447" y="4166003"/>
            <a:ext cx="4507865" cy="183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100" b="1" kern="0" spc="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</a:t>
            </a:r>
            <a:r>
              <a:rPr sz="1100" kern="0" spc="-21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b="1" kern="0" spc="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践</a:t>
            </a:r>
            <a:r>
              <a:rPr sz="1100" kern="0" spc="-21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b="1" kern="0" spc="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</a:t>
            </a:r>
            <a:r>
              <a:rPr sz="1100" kern="0" spc="-1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b="1" kern="0" spc="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</a:t>
            </a:r>
            <a:r>
              <a:rPr sz="1100" kern="0" spc="-24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b="1" kern="0" spc="5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调研记录表/需求归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纳表/竞品分析表/项目方向修正说明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95292" y="3911583"/>
            <a:ext cx="692135" cy="654061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241503" y="2990841"/>
            <a:ext cx="571523" cy="590543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962444" y="3009903"/>
            <a:ext cx="571417" cy="57148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5153" y="3028964"/>
            <a:ext cx="539778" cy="533359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12268" y="349259"/>
            <a:ext cx="768366" cy="304802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2895563" y="3207503"/>
            <a:ext cx="748665" cy="2305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需求归纳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1168357" y="3205547"/>
            <a:ext cx="743584" cy="228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用户访谈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4603764" y="3206970"/>
            <a:ext cx="730250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竞品比较</a:t>
            </a:r>
            <a:endParaRPr sz="14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1009695" y="2683760"/>
          <a:ext cx="4461509" cy="1506854"/>
        </p:xfrm>
        <a:graphic>
          <a:graphicData uri="http://schemas.openxmlformats.org/drawingml/2006/table">
            <a:tbl>
              <a:tblPr/>
              <a:tblGrid>
                <a:gridCol w="3048000"/>
                <a:gridCol w="1413510"/>
              </a:tblGrid>
              <a:tr h="15068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从访谈、观察和资料中获取真实需求信息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ts val="2754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学会整理调研记录并归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纳核心需求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000"/>
                        </a:lnSpc>
                        <a:spcBef>
                          <a:spcPts val="336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学会通过竞品比较理解现有解决方案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ts val="2799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形成对项目方向更清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晰的判断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5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8465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用户访谈实施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418465" algn="l" rtl="0" eaLnBrk="0">
                        <a:lnSpc>
                          <a:spcPct val="17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调研记录整理</a:t>
                      </a: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</a:t>
                      </a:r>
                      <a:r>
                        <a:rPr sz="1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需求归类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418465" algn="l" rtl="0" eaLnBrk="0">
                        <a:lnSpc>
                          <a:spcPct val="172000"/>
                        </a:lnSpc>
                        <a:spcBef>
                          <a:spcPts val="71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竞品搜集与比较</a:t>
                      </a:r>
                      <a:r>
                        <a:rPr sz="11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</a:t>
                      </a: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辅助分析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6" name="textbox 36"/>
          <p:cNvSpPr/>
          <p:nvPr/>
        </p:nvSpPr>
        <p:spPr>
          <a:xfrm>
            <a:off x="457217" y="960165"/>
            <a:ext cx="4489450" cy="835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2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034" algn="l" rtl="0" eaLnBrk="0">
              <a:lnSpc>
                <a:spcPct val="95000"/>
              </a:lnSpc>
              <a:tabLst/>
            </a:pPr>
            <a:r>
              <a:rPr sz="38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实践目标与核心任务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307"/>
              </a:spcBef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从“收集信息”走向“形成判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断”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203147" y="133337"/>
            <a:ext cx="6203315" cy="550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1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9750" algn="l" rtl="0" eaLnBrk="0">
              <a:lnSpc>
                <a:spcPct val="94000"/>
              </a:lnSpc>
              <a:tabLst>
                <a:tab pos="732790" algn="l"/>
              </a:tabLst>
            </a:pPr>
            <a:r>
              <a:rPr sz="17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</a:t>
            </a:r>
            <a:r>
              <a:rPr sz="17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践课|第3次：需求调研与竞品分析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15847" y="146037"/>
            <a:ext cx="527143" cy="501690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7232689" y="2684845"/>
            <a:ext cx="1525269" cy="12712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1315" algn="l" rtl="0" eaLnBrk="0">
              <a:lnSpc>
                <a:spcPct val="85000"/>
              </a:lnSpc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调研记录表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61315" algn="l" rtl="0" eaLnBrk="0">
              <a:lnSpc>
                <a:spcPts val="2653"/>
              </a:lnSpc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需求归纳表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1586"/>
              </a:spcBef>
              <a:tabLst/>
            </a:pPr>
            <a:r>
              <a:rPr sz="2600" kern="0" spc="80" baseline="-6010" dirty="0">
                <a:solidFill>
                  <a:srgbClr val="80F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600" kern="0" spc="250" dirty="0">
                <a:solidFill>
                  <a:srgbClr val="80F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kern="0" spc="80" baseline="325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竞品分析表</a:t>
            </a:r>
            <a:endParaRPr sz="1600" baseline="3255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项目方向修正说明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1197330" y="5397845"/>
            <a:ext cx="486664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先把信息收集完整，再做更</a:t>
            </a:r>
            <a:r>
              <a:rPr sz="1900" b="1" kern="0" spc="-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准确的项目判断。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4070356" y="1962153"/>
            <a:ext cx="1650364" cy="612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0550" algn="l" rtl="0" eaLnBrk="0">
              <a:lnSpc>
                <a:spcPct val="95000"/>
              </a:lnSpc>
              <a:spcBef>
                <a:spcPts val="6"/>
              </a:spcBef>
              <a:tabLst>
                <a:tab pos="726440" algn="l"/>
              </a:tabLst>
            </a:pPr>
            <a:r>
              <a:rPr sz="1700" kern="0" spc="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7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重点任务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83056" y="1974853"/>
            <a:ext cx="577894" cy="558814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641319" y="1962153"/>
            <a:ext cx="1635760" cy="609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84200" algn="l" rtl="0" eaLnBrk="0">
              <a:lnSpc>
                <a:spcPct val="94000"/>
              </a:lnSpc>
              <a:tabLst>
                <a:tab pos="726440" algn="l"/>
              </a:tabLst>
            </a:pPr>
            <a:r>
              <a:rPr sz="1700" kern="0" spc="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4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52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54019" y="1974853"/>
            <a:ext cx="571523" cy="558814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70596" y="3467077"/>
            <a:ext cx="527037" cy="704852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155962" y="3676632"/>
            <a:ext cx="482551" cy="514357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44542" y="4362423"/>
            <a:ext cx="495292" cy="476295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3949744" y="4470425"/>
            <a:ext cx="932814" cy="284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95000"/>
              </a:lnSpc>
              <a:spcBef>
                <a:spcPts val="3"/>
              </a:spcBef>
              <a:tabLst>
                <a:tab pos="348615" algn="l"/>
              </a:tabLst>
            </a:pPr>
            <a:r>
              <a:rPr sz="11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用户访谈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962444" y="4483125"/>
            <a:ext cx="253963" cy="241284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6527813" y="4470425"/>
            <a:ext cx="928369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1465" algn="l" rtl="0" eaLnBrk="0">
              <a:lnSpc>
                <a:spcPct val="96000"/>
              </a:lnSpc>
              <a:spcBef>
                <a:spcPts val="2"/>
              </a:spcBef>
              <a:tabLst>
                <a:tab pos="361315" algn="l"/>
              </a:tabLst>
            </a:pPr>
            <a:r>
              <a:rPr sz="11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竞品分析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540513" y="4483125"/>
            <a:ext cx="279337" cy="241284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7829588" y="4470425"/>
            <a:ext cx="899794" cy="285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59715" algn="l" rtl="0" eaLnBrk="0">
              <a:lnSpc>
                <a:spcPct val="95000"/>
              </a:lnSpc>
              <a:spcBef>
                <a:spcPts val="2"/>
              </a:spcBef>
              <a:tabLst>
                <a:tab pos="335915" algn="l"/>
              </a:tabLst>
            </a:pPr>
            <a:r>
              <a:rPr sz="11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方向判断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842288" y="4483125"/>
            <a:ext cx="247592" cy="241284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575758" y="266680"/>
            <a:ext cx="717616" cy="292134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1043917" y="4511840"/>
            <a:ext cx="1124585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3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本次课关键词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2616224" y="4489427"/>
            <a:ext cx="91630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96000"/>
              </a:lnSpc>
              <a:spcBef>
                <a:spcPts val="3"/>
              </a:spcBef>
              <a:tabLst>
                <a:tab pos="335915" algn="l"/>
              </a:tabLst>
            </a:pPr>
            <a:r>
              <a:rPr sz="11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真实需求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628924" y="4502127"/>
            <a:ext cx="253963" cy="222283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7896167" y="2145517"/>
            <a:ext cx="928369" cy="274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700" b="1" kern="0" spc="60" dirty="0">
                <a:solidFill>
                  <a:srgbClr val="108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成果产出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086877" y="4489427"/>
            <a:ext cx="907414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85750" algn="l" rtl="0" eaLnBrk="0">
              <a:lnSpc>
                <a:spcPct val="96000"/>
              </a:lnSpc>
              <a:spcBef>
                <a:spcPts val="3"/>
              </a:spcBef>
              <a:tabLst>
                <a:tab pos="349250" algn="l"/>
              </a:tabLst>
            </a:pPr>
            <a:r>
              <a:rPr sz="11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3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团队协作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099577" y="4502127"/>
            <a:ext cx="273074" cy="222283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5264154" y="4489427"/>
            <a:ext cx="892175" cy="259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59715" algn="l" rtl="0" eaLnBrk="0">
              <a:lnSpc>
                <a:spcPct val="95000"/>
              </a:lnSpc>
              <a:tabLst>
                <a:tab pos="329565" algn="l"/>
              </a:tabLst>
            </a:pPr>
            <a:r>
              <a:rPr sz="11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需求归类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88" name="picture 8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276854" y="4502127"/>
            <a:ext cx="247593" cy="2159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425367" y="1017837"/>
            <a:ext cx="8664575" cy="15074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2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任务导入：从调研信</a:t>
            </a:r>
            <a:r>
              <a:rPr sz="3400" b="1" kern="0" spc="2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息到需求判断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44450" algn="l" rtl="0" eaLnBrk="0">
              <a:lnSpc>
                <a:spcPct val="92000"/>
              </a:lnSpc>
              <a:spcBef>
                <a:spcPts val="423"/>
              </a:spcBef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先收集真实信息，再提炼高频问题与项目启示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600" b="1" kern="0" spc="5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为什么要做调研</a:t>
            </a:r>
            <a:r>
              <a:rPr sz="1600" kern="0" spc="2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</a:t>
            </a:r>
            <a:r>
              <a:rPr sz="1600" b="1" kern="0" spc="5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本次</a:t>
            </a:r>
            <a:r>
              <a:rPr sz="1600" b="1" kern="0" spc="4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关注重点</a:t>
            </a:r>
            <a:r>
              <a:rPr sz="1600" kern="0" spc="4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</a:t>
            </a:r>
            <a:r>
              <a:rPr sz="1700" b="1" kern="0" spc="40" dirty="0">
                <a:solidFill>
                  <a:srgbClr val="2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课堂启动活动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28685" y="2799651"/>
            <a:ext cx="2566670" cy="948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2265" algn="l" rtl="0" eaLnBrk="0">
              <a:lnSpc>
                <a:spcPct val="96000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验证前期关于用户的初步假设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1522"/>
              </a:spcBef>
              <a:tabLst/>
            </a:pPr>
            <a:r>
              <a:rPr sz="2600" kern="0" spc="-30" baseline="-12020" dirty="0">
                <a:solidFill>
                  <a:srgbClr val="407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1600" kern="0" spc="-30" dirty="0">
                <a:solidFill>
                  <a:srgbClr val="407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找到高频、真实、可验证的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7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让项目方向建立在事实而非想象上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7512027" y="2799041"/>
            <a:ext cx="2078354" cy="968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回顾上次形成的用户画像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63"/>
              </a:spcBef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确定本次访谈对象与竞品对象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明确每组的调研分工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与输出要求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4400550" y="2748251"/>
            <a:ext cx="1360169" cy="1222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465" algn="l" rtl="0" eaLnBrk="0">
              <a:lnSpc>
                <a:spcPct val="95000"/>
              </a:lnSpc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目标用户说了什么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1219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真实场景发生了什么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749"/>
              </a:lnSpc>
              <a:tabLst/>
            </a:pPr>
            <a:r>
              <a:rPr sz="11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竞品已经怎么做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我们还能改进什么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6704" y="165098"/>
            <a:ext cx="463546" cy="450840"/>
          </a:xfrm>
          <a:prstGeom prst="rect">
            <a:avLst/>
          </a:prstGeom>
        </p:spPr>
      </p:pic>
      <p:sp>
        <p:nvSpPr>
          <p:cNvPr id="102" name="textbox 102"/>
          <p:cNvSpPr/>
          <p:nvPr/>
        </p:nvSpPr>
        <p:spPr>
          <a:xfrm>
            <a:off x="374615" y="298811"/>
            <a:ext cx="6063615" cy="3194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4000" kern="0" spc="80" baseline="-3906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600" kern="0" spc="1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</a:t>
            </a:r>
            <a:r>
              <a:rPr sz="17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3次：需求调研与竞品分析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04" name="picture 1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537749" y="292075"/>
            <a:ext cx="692135" cy="2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533448" y="1873240"/>
            <a:ext cx="2242185" cy="310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386715" algn="l" rtl="0" eaLnBrk="0">
              <a:lnSpc>
                <a:spcPct val="96000"/>
              </a:lnSpc>
              <a:spcBef>
                <a:spcPts val="5"/>
              </a:spcBef>
              <a:tabLst>
                <a:tab pos="440055" algn="l"/>
              </a:tabLst>
            </a:pPr>
            <a:r>
              <a:rPr sz="1300" kern="0" spc="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4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校园二手交易信息分散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85000"/>
              </a:lnSpc>
              <a:spcBef>
                <a:spcPts val="339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买卖双方匹配效率低，商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62864" algn="l" rtl="0" eaLnBrk="0">
              <a:lnSpc>
                <a:spcPts val="1601"/>
              </a:lnSpc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可信度与交易安全感不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足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3065" algn="l" rtl="0" eaLnBrk="0">
              <a:lnSpc>
                <a:spcPct val="95000"/>
              </a:lnSpc>
              <a:spcBef>
                <a:spcPts val="397"/>
              </a:spcBef>
              <a:tabLst>
                <a:tab pos="446405" algn="l"/>
              </a:tabLst>
            </a:pPr>
            <a:r>
              <a:rPr sz="1300" kern="0" spc="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4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共享充电服务体验不稳定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85000"/>
              </a:lnSpc>
              <a:spcBef>
                <a:spcPts val="342"/>
              </a:spcBef>
              <a:tabLst/>
            </a:pP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设备分布不均、借还不便、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62864" algn="l" rtl="0" eaLnBrk="0">
              <a:lnSpc>
                <a:spcPts val="1499"/>
              </a:lnSpc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故障反馈不及时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41705" algn="l" rtl="0" eaLnBrk="0">
              <a:lnSpc>
                <a:spcPct val="96000"/>
              </a:lnSpc>
              <a:tabLst/>
            </a:pPr>
            <a:r>
              <a:rPr sz="1300" b="1" kern="0" spc="12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案例启示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110" name="picture 1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6148" y="3308372"/>
            <a:ext cx="380945" cy="419051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6148" y="1885940"/>
            <a:ext cx="374574" cy="393715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5435622" y="1873239"/>
            <a:ext cx="2210435" cy="2407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4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5765" algn="l" rtl="0" eaLnBrk="0">
              <a:lnSpc>
                <a:spcPct val="96000"/>
              </a:lnSpc>
              <a:tabLst>
                <a:tab pos="478155" algn="l"/>
              </a:tabLst>
            </a:pPr>
            <a:r>
              <a:rPr sz="1400" kern="0" spc="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b="1" kern="0" spc="-7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食堂高峰排队时间长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85000"/>
              </a:lnSpc>
              <a:spcBef>
                <a:spcPts val="333"/>
              </a:spcBef>
              <a:tabLst/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点餐高峰拥堵明显，用户对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50800" algn="l" rtl="0" eaLnBrk="0">
              <a:lnSpc>
                <a:spcPts val="1597"/>
              </a:lnSpc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效率与提醒服务有更高期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待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05765" algn="l" rtl="0" eaLnBrk="0">
              <a:lnSpc>
                <a:spcPct val="95000"/>
              </a:lnSpc>
              <a:spcBef>
                <a:spcPts val="402"/>
              </a:spcBef>
              <a:tabLst>
                <a:tab pos="465455" algn="l"/>
              </a:tabLst>
            </a:pPr>
            <a:r>
              <a:rPr sz="1300" kern="0" spc="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7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自习空间预约信息不透明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85000"/>
              </a:lnSpc>
              <a:spcBef>
                <a:spcPts val="332"/>
              </a:spcBef>
              <a:tabLst/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空位信息不清晰，用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户重复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50800" algn="l" rtl="0" eaLnBrk="0">
              <a:lnSpc>
                <a:spcPts val="1549"/>
              </a:lnSpc>
              <a:tabLst/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寻找，时间成本较高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454692" y="3314705"/>
            <a:ext cx="387315" cy="387322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48322" y="1885939"/>
            <a:ext cx="393685" cy="400049"/>
          </a:xfrm>
          <a:prstGeom prst="rect">
            <a:avLst/>
          </a:prstGeom>
        </p:spPr>
      </p:pic>
      <p:sp>
        <p:nvSpPr>
          <p:cNvPr id="120" name="textbox 120"/>
          <p:cNvSpPr/>
          <p:nvPr/>
        </p:nvSpPr>
        <p:spPr>
          <a:xfrm>
            <a:off x="495228" y="909863"/>
            <a:ext cx="4983479" cy="741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1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项目背景与调研案例情境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94"/>
              </a:spcBef>
              <a:tabLst/>
            </a:pP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通过真实校园场景理解需求调研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与竞品分析的价值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766056" y="3244854"/>
            <a:ext cx="2336845" cy="1339852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766056" y="1803420"/>
            <a:ext cx="2324105" cy="1333458"/>
          </a:xfrm>
          <a:prstGeom prst="rect">
            <a:avLst/>
          </a:prstGeom>
        </p:spPr>
      </p:pic>
      <p:pic>
        <p:nvPicPr>
          <p:cNvPr id="126" name="picture 1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952749" y="1778025"/>
            <a:ext cx="2279618" cy="1358854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952749" y="3251187"/>
            <a:ext cx="2241503" cy="1327184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60333" y="158765"/>
            <a:ext cx="463547" cy="438112"/>
          </a:xfrm>
          <a:prstGeom prst="rect">
            <a:avLst/>
          </a:prstGeom>
        </p:spPr>
      </p:pic>
      <p:sp>
        <p:nvSpPr>
          <p:cNvPr id="132" name="textbox 132"/>
          <p:cNvSpPr/>
          <p:nvPr/>
        </p:nvSpPr>
        <p:spPr>
          <a:xfrm>
            <a:off x="387356" y="322777"/>
            <a:ext cx="5695315" cy="262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900" b="1" kern="0" spc="70" baseline="-5388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8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6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《创新创业基础》实践课|第3次：需求调研与竞品分</a:t>
            </a:r>
            <a:r>
              <a:rPr sz="1600" b="1" kern="0" spc="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析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1000083" y="5519280"/>
            <a:ext cx="5041900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从真实场景出发，更容易找到有价值的项目机会。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2787692" y="4754515"/>
            <a:ext cx="4629150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真实场景+用户表达+竞品对比，才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能让需求判断更有依据。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138" name="picture 1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556753" y="254012"/>
            <a:ext cx="660389" cy="2857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330694"/>
            <a:ext cx="10610830" cy="1644655"/>
          </a:xfrm>
          <a:prstGeom prst="rect">
            <a:avLst/>
          </a:prstGeom>
        </p:spPr>
      </p:pic>
      <p:pic>
        <p:nvPicPr>
          <p:cNvPr id="142" name="picture 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03213" y="6333"/>
            <a:ext cx="10375872" cy="768370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32200" y="1943124"/>
            <a:ext cx="2794022" cy="2228805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7169157" y="1974853"/>
            <a:ext cx="2946379" cy="2190742"/>
            <a:chOff x="0" y="0"/>
            <a:chExt cx="2946379" cy="2190742"/>
          </a:xfrm>
        </p:grpSpPr>
        <p:pic>
          <p:nvPicPr>
            <p:cNvPr id="146" name="picture 14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946379" cy="2190742"/>
            </a:xfrm>
            <a:prstGeom prst="rect">
              <a:avLst/>
            </a:prstGeom>
          </p:spPr>
        </p:pic>
        <p:sp>
          <p:nvSpPr>
            <p:cNvPr id="148" name="textbox 148"/>
            <p:cNvSpPr/>
            <p:nvPr/>
          </p:nvSpPr>
          <p:spPr>
            <a:xfrm>
              <a:off x="-12700" y="-12700"/>
              <a:ext cx="2971800" cy="2235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6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13740" algn="l" rtl="0" eaLnBrk="0">
                <a:lnSpc>
                  <a:spcPct val="96000"/>
                </a:lnSpc>
                <a:spcBef>
                  <a:spcPts val="5"/>
                </a:spcBef>
                <a:tabLst/>
              </a:pPr>
              <a:r>
                <a:rPr sz="1700" b="1" kern="0" spc="-30" dirty="0">
                  <a:solidFill>
                    <a:srgbClr val="109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竞品分析框架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05765" algn="l" rtl="0" eaLnBrk="0">
                <a:lnSpc>
                  <a:spcPct val="96000"/>
                </a:lnSpc>
                <a:spcBef>
                  <a:spcPts val="335"/>
                </a:spcBef>
                <a:tabLst/>
              </a:pPr>
              <a:r>
                <a:rPr sz="1100" kern="0" spc="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竞品名称与定位</a:t>
              </a:r>
              <a:endParaRPr sz="1100" dirty="0">
                <a:latin typeface="SimHei"/>
                <a:ea typeface="SimHei"/>
                <a:cs typeface="SimHei"/>
              </a:endParaRPr>
            </a:p>
            <a:p>
              <a:pPr marL="405765" algn="l" rtl="0" eaLnBrk="0">
                <a:lnSpc>
                  <a:spcPct val="95000"/>
                </a:lnSpc>
                <a:spcBef>
                  <a:spcPts val="1492"/>
                </a:spcBef>
                <a:tabLst/>
              </a:pPr>
              <a:r>
                <a:rPr sz="1200" kern="0" spc="-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核心功能与服务流程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75564" algn="l" rtl="0" eaLnBrk="0">
                <a:lnSpc>
                  <a:spcPct val="95000"/>
                </a:lnSpc>
                <a:spcBef>
                  <a:spcPts val="1285"/>
                </a:spcBef>
                <a:tabLst/>
              </a:pPr>
              <a:r>
                <a:rPr sz="2500" kern="0" spc="-20" baseline="-8334" dirty="0">
                  <a:solidFill>
                    <a:srgbClr val="70E0D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③</a:t>
              </a:r>
              <a:r>
                <a:rPr sz="1600" kern="0" spc="220" dirty="0">
                  <a:solidFill>
                    <a:srgbClr val="70E0D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800" kern="0" spc="-20" baseline="2893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优点与不足</a:t>
              </a:r>
              <a:endParaRPr sz="1800" baseline="2893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405765" algn="l" rtl="0" eaLnBrk="0">
                <a:lnSpc>
                  <a:spcPct val="96000"/>
                </a:lnSpc>
                <a:spcBef>
                  <a:spcPts val="6"/>
                </a:spcBef>
                <a:tabLst/>
              </a:pPr>
              <a:r>
                <a:rPr sz="1100" kern="0" spc="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对本项目的启示</a:t>
              </a:r>
              <a:endParaRPr sz="11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50" name="textbox 150"/>
          <p:cNvSpPr/>
          <p:nvPr/>
        </p:nvSpPr>
        <p:spPr>
          <a:xfrm>
            <a:off x="438106" y="1536208"/>
            <a:ext cx="3679190" cy="1096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u="sng" kern="0" spc="11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0000FF"/>
                  </a:solidFill>
                </a:uFill>
                <a:latin typeface="SimHei"/>
                <a:ea typeface="SimHei"/>
                <a:cs typeface="SimHei"/>
              </a:rPr>
              <a:t>用结构</a:t>
            </a:r>
            <a:r>
              <a:rPr sz="1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化方法提高调研质量与竞品比较效率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717550" algn="l" rtl="0" eaLnBrk="0">
              <a:lnSpc>
                <a:spcPct val="96000"/>
              </a:lnSpc>
              <a:spcBef>
                <a:spcPts val="2"/>
              </a:spcBef>
              <a:tabLst>
                <a:tab pos="847089" algn="l"/>
              </a:tabLst>
            </a:pPr>
            <a:r>
              <a:rPr sz="1700" kern="0" spc="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调研工具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96898" y="2031977"/>
            <a:ext cx="558783" cy="558814"/>
          </a:xfrm>
          <a:prstGeom prst="rect">
            <a:avLst/>
          </a:prstGeom>
        </p:spPr>
      </p:pic>
      <p:sp>
        <p:nvSpPr>
          <p:cNvPr id="154" name="textbox 154"/>
          <p:cNvSpPr/>
          <p:nvPr/>
        </p:nvSpPr>
        <p:spPr>
          <a:xfrm>
            <a:off x="622314" y="2728184"/>
            <a:ext cx="2724150" cy="1096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5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2265" algn="l" rtl="0" eaLnBrk="0">
              <a:lnSpc>
                <a:spcPct val="110000"/>
              </a:lnSpc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访谈提纲：围绕用户、场景、痛点、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需求展开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24765" algn="l" rtl="0" eaLnBrk="0">
              <a:lnSpc>
                <a:spcPct val="96000"/>
              </a:lnSpc>
              <a:spcBef>
                <a:spcPts val="1190"/>
              </a:spcBef>
              <a:tabLst/>
            </a:pPr>
            <a:r>
              <a:rPr sz="2400" kern="0" spc="-30" baseline="-8681" dirty="0">
                <a:solidFill>
                  <a:srgbClr val="508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1500" kern="0" spc="200" dirty="0">
                <a:solidFill>
                  <a:srgbClr val="508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观察记录：记录真实行为与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关键情境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47650" algn="l" rtl="0" eaLnBrk="0">
              <a:lnSpc>
                <a:spcPct val="96000"/>
              </a:lnSpc>
              <a:spcBef>
                <a:spcPts val="1"/>
              </a:spcBef>
              <a:tabLst>
                <a:tab pos="34226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问卷补充：用于扩大信息覆盖面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35014" y="3543323"/>
            <a:ext cx="234958" cy="247618"/>
          </a:xfrm>
          <a:prstGeom prst="rect">
            <a:avLst/>
          </a:prstGeom>
        </p:spPr>
      </p:pic>
      <p:sp>
        <p:nvSpPr>
          <p:cNvPr id="158" name="textbox 158"/>
          <p:cNvSpPr/>
          <p:nvPr/>
        </p:nvSpPr>
        <p:spPr>
          <a:xfrm>
            <a:off x="4413291" y="2183580"/>
            <a:ext cx="1640204" cy="1798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0990" algn="l" rtl="0" eaLnBrk="0">
              <a:lnSpc>
                <a:spcPct val="96000"/>
              </a:lnSpc>
              <a:tabLst/>
            </a:pPr>
            <a:r>
              <a:rPr sz="1700" b="1" kern="0" spc="-4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需求归纳法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335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标记高频问题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211000"/>
              </a:lnSpc>
              <a:spcBef>
                <a:spcPts val="38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区分显性需求与隐性需求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归纳典型场景与影响对象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提炼关键结论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445098" y="936259"/>
            <a:ext cx="3469640" cy="584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工具与方法说明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393726" y="310009"/>
            <a:ext cx="6412865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2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tabLst/>
            </a:pPr>
            <a:r>
              <a:rPr sz="3300" kern="0" spc="160" baseline="-11049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2100" kern="0" spc="4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700" b="1" kern="0" spc="1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</a:t>
            </a:r>
            <a:r>
              <a:rPr sz="1700" b="1" kern="0" spc="1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</a:t>
            </a:r>
            <a:r>
              <a:rPr sz="1700" kern="0" spc="-1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1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|第3次：需求调研与竞品分析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1152893" y="5397845"/>
            <a:ext cx="359029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方法越清晰，分析越有说服力。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6845268" y="4489427"/>
            <a:ext cx="1201419" cy="306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54000" algn="l" rtl="0" eaLnBrk="0">
              <a:lnSpc>
                <a:spcPct val="96000"/>
              </a:lnSpc>
              <a:spcBef>
                <a:spcPts val="2"/>
              </a:spcBef>
              <a:tabLst>
                <a:tab pos="400050" algn="l"/>
              </a:tabLst>
            </a:pPr>
            <a:r>
              <a:rPr sz="12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3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结论有依据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168" name="picture 16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857968" y="4502127"/>
            <a:ext cx="241328" cy="260346"/>
          </a:xfrm>
          <a:prstGeom prst="rect">
            <a:avLst/>
          </a:prstGeom>
        </p:spPr>
      </p:pic>
      <p:pic>
        <p:nvPicPr>
          <p:cNvPr id="170" name="picture 17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086101" y="3473470"/>
            <a:ext cx="488922" cy="609605"/>
          </a:xfrm>
          <a:prstGeom prst="rect">
            <a:avLst/>
          </a:prstGeom>
        </p:spPr>
      </p:pic>
      <p:sp>
        <p:nvSpPr>
          <p:cNvPr id="172" name="textbox 172"/>
          <p:cNvSpPr/>
          <p:nvPr/>
        </p:nvSpPr>
        <p:spPr>
          <a:xfrm>
            <a:off x="4984709" y="4483093"/>
            <a:ext cx="1085214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04800" algn="l" rtl="0" eaLnBrk="0">
              <a:lnSpc>
                <a:spcPct val="96000"/>
              </a:lnSpc>
              <a:spcBef>
                <a:spcPts val="1"/>
              </a:spcBef>
              <a:tabLst>
                <a:tab pos="450850" algn="l"/>
              </a:tabLst>
            </a:pPr>
            <a:r>
              <a:rPr sz="12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2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比较客观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174" name="picture 1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997409" y="4495793"/>
            <a:ext cx="292185" cy="273073"/>
          </a:xfrm>
          <a:prstGeom prst="rect">
            <a:avLst/>
          </a:prstGeom>
        </p:spPr>
      </p:pic>
      <p:sp>
        <p:nvSpPr>
          <p:cNvPr id="176" name="textbox 176"/>
          <p:cNvSpPr/>
          <p:nvPr/>
        </p:nvSpPr>
        <p:spPr>
          <a:xfrm>
            <a:off x="8769317" y="4489427"/>
            <a:ext cx="1059814" cy="307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72415" algn="l" rtl="0" eaLnBrk="0">
              <a:lnSpc>
                <a:spcPct val="96000"/>
              </a:lnSpc>
              <a:tabLst>
                <a:tab pos="419100" algn="l"/>
              </a:tabLst>
            </a:pPr>
            <a:r>
              <a:rPr sz="13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6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表达简洁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178" name="picture 17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782017" y="4502127"/>
            <a:ext cx="260333" cy="260346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3168637" y="4489427"/>
            <a:ext cx="1045210" cy="306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96000"/>
              </a:lnSpc>
              <a:tabLst>
                <a:tab pos="399415" algn="l"/>
              </a:tabLst>
            </a:pPr>
            <a:r>
              <a:rPr sz="1200" kern="0" spc="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4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记录真实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181337" y="4502127"/>
            <a:ext cx="253963" cy="260346"/>
          </a:xfrm>
          <a:prstGeom prst="rect">
            <a:avLst/>
          </a:prstGeom>
        </p:spPr>
      </p:pic>
      <p:sp>
        <p:nvSpPr>
          <p:cNvPr id="184" name="textbox 184"/>
          <p:cNvSpPr/>
          <p:nvPr/>
        </p:nvSpPr>
        <p:spPr>
          <a:xfrm>
            <a:off x="1368105" y="4506789"/>
            <a:ext cx="859155" cy="259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600" b="1" kern="0" spc="20" dirty="0">
                <a:solidFill>
                  <a:srgbClr val="005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使用原则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186" name="picture 18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76288" y="4171929"/>
            <a:ext cx="6254698" cy="12726"/>
          </a:xfrm>
          <a:prstGeom prst="rect">
            <a:avLst/>
          </a:prstGeom>
        </p:spPr>
      </p:pic>
      <p:sp>
        <p:nvSpPr>
          <p:cNvPr id="188" name="textbox 188"/>
          <p:cNvSpPr/>
          <p:nvPr/>
        </p:nvSpPr>
        <p:spPr>
          <a:xfrm>
            <a:off x="4070356" y="3446832"/>
            <a:ext cx="198120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400" kern="0" spc="-10" dirty="0">
                <a:solidFill>
                  <a:srgbClr val="6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pic>
        <p:nvPicPr>
          <p:cNvPr id="190" name="picture 19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65210" y="2508264"/>
            <a:ext cx="2489202" cy="6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94" name="textbox 194"/>
          <p:cNvSpPr/>
          <p:nvPr/>
        </p:nvSpPr>
        <p:spPr>
          <a:xfrm>
            <a:off x="1050833" y="4494169"/>
            <a:ext cx="5471159" cy="1221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600" b="1" kern="0" spc="10" baseline="-10016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过程提醒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先记录事实，再归纳结论；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先比较现状，再提出改进。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09550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900" b="1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流程走顺，小组分析就会更高效</a:t>
            </a:r>
            <a:r>
              <a:rPr sz="1900" b="1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96" name="textbox 196"/>
          <p:cNvSpPr/>
          <p:nvPr/>
        </p:nvSpPr>
        <p:spPr>
          <a:xfrm>
            <a:off x="484031" y="1159585"/>
            <a:ext cx="5130800" cy="880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4300" b="1" kern="0" spc="9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操作步骤说明</a:t>
            </a:r>
            <a:endParaRPr sz="4300" dirty="0">
              <a:latin typeface="SimHei"/>
              <a:ea typeface="SimHei"/>
              <a:cs typeface="SimHei"/>
            </a:endParaRPr>
          </a:p>
          <a:p>
            <a:pPr marL="17145" algn="l" rtl="0" eaLnBrk="0">
              <a:lnSpc>
                <a:spcPct val="95000"/>
              </a:lnSpc>
              <a:spcBef>
                <a:spcPts val="90"/>
              </a:spcBef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按照“访谈—整理—归纳—比较—判断”的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流程完成本次任务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222258" y="133337"/>
            <a:ext cx="6438265" cy="639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8965" algn="l" rtl="0" eaLnBrk="0">
              <a:lnSpc>
                <a:spcPct val="94000"/>
              </a:lnSpc>
              <a:tabLst>
                <a:tab pos="777240" algn="l"/>
              </a:tabLst>
            </a:pPr>
            <a:r>
              <a:rPr sz="17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1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</a:t>
            </a:r>
            <a:r>
              <a:rPr sz="1700" b="1" kern="0" spc="1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课|第3次：需求调研与竞品分析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4958" y="146037"/>
            <a:ext cx="596899" cy="590543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2616224" y="2379069"/>
            <a:ext cx="1288414" cy="167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4300" kern="0" spc="-70" baseline="-6056" dirty="0">
                <a:solidFill>
                  <a:srgbClr val="7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②</a:t>
            </a:r>
            <a:r>
              <a:rPr sz="2700" kern="0" spc="-540" dirty="0">
                <a:solidFill>
                  <a:srgbClr val="7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kern="0" spc="-70" baseline="8681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整理记录</a:t>
            </a:r>
            <a:endParaRPr sz="2400" baseline="8681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12115" indent="-285750" algn="l" rtl="0" eaLnBrk="0">
              <a:lnSpc>
                <a:spcPct val="108000"/>
              </a:lnSpc>
              <a:spcBef>
                <a:spcPts val="1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把原始信息整理成</a:t>
            </a: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清晰记录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8604218" y="2379069"/>
            <a:ext cx="1250950" cy="167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4300" kern="0" spc="-40" baseline="-6056" dirty="0">
                <a:solidFill>
                  <a:srgbClr val="7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⑤</a:t>
            </a:r>
            <a:r>
              <a:rPr sz="2700" kern="0" spc="-610" dirty="0">
                <a:solidFill>
                  <a:srgbClr val="7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b="1" kern="0" spc="-40" baseline="8681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形成判断</a:t>
            </a:r>
            <a:endParaRPr sz="2400" baseline="8681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61950" indent="-203200" algn="l" rtl="0" eaLnBrk="0">
              <a:lnSpc>
                <a:spcPct val="109000"/>
              </a:lnSpc>
              <a:spcBef>
                <a:spcPts val="1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修正项目方向并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输出结论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06" name="textbox 206"/>
          <p:cNvSpPr/>
          <p:nvPr/>
        </p:nvSpPr>
        <p:spPr>
          <a:xfrm>
            <a:off x="673064" y="2460244"/>
            <a:ext cx="1309369" cy="159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70840" algn="l" rtl="0" eaLnBrk="0">
              <a:lnSpc>
                <a:spcPct val="95000"/>
              </a:lnSpc>
              <a:tabLst/>
            </a:pPr>
            <a:r>
              <a:rPr sz="1500" b="1" kern="0" spc="2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实施访谈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49250" indent="-336550" algn="l" rtl="0" eaLnBrk="0">
              <a:lnSpc>
                <a:spcPct val="108000"/>
              </a:lnSpc>
              <a:spcBef>
                <a:spcPts val="2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围绕提纲与目标用户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进行交流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6762771" y="2449357"/>
            <a:ext cx="1081405" cy="1608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600" b="1" kern="0" spc="-3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搜集竞品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2400" indent="-139700" algn="l" rtl="0" eaLnBrk="0">
              <a:lnSpc>
                <a:spcPct val="108000"/>
              </a:lnSpc>
              <a:spcBef>
                <a:spcPts val="2"/>
              </a:spcBef>
              <a:tabLst/>
            </a:pP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比较同类产品或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服务的做法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4800607" y="2474752"/>
            <a:ext cx="1062355" cy="15830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600" b="1" kern="0" spc="-5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提炼需求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15900" indent="-203200" algn="l" rtl="0" eaLnBrk="0">
              <a:lnSpc>
                <a:spcPct val="108000"/>
              </a:lnSpc>
              <a:spcBef>
                <a:spcPts val="1"/>
              </a:spcBef>
              <a:tabLst/>
            </a:pP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归纳高频痛点与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典型场景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212" name="picture 2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404396" y="368320"/>
            <a:ext cx="812746" cy="298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16" name="textbox 216"/>
          <p:cNvSpPr/>
          <p:nvPr/>
        </p:nvSpPr>
        <p:spPr>
          <a:xfrm>
            <a:off x="1031283" y="4582403"/>
            <a:ext cx="8652509" cy="1149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00000"/>
              </a:lnSpc>
              <a:tabLst/>
            </a:pPr>
            <a:r>
              <a:rPr sz="1400" b="1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协作关键词</a:t>
            </a:r>
            <a:r>
              <a:rPr sz="14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300" kern="0" spc="1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</a:t>
            </a:r>
            <a:r>
              <a:rPr sz="1300" kern="0" spc="1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</a:t>
            </a:r>
            <a:r>
              <a:rPr sz="1300" kern="0" spc="1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清晰</a:t>
            </a:r>
            <a:r>
              <a:rPr sz="1300" kern="0" spc="2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</a:t>
            </a:r>
            <a:r>
              <a:rPr sz="1400" kern="0" spc="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协同</a:t>
            </a:r>
            <a:r>
              <a:rPr sz="1400" kern="0" spc="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1300" kern="0" spc="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高效</a:t>
            </a:r>
            <a:r>
              <a:rPr sz="1300" kern="0" spc="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</a:t>
            </a:r>
            <a:r>
              <a:rPr sz="1400" kern="0" spc="0" dirty="0">
                <a:solidFill>
                  <a:srgbClr val="2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聚焦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780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700" b="1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分工不是分散，而是为了形成</a:t>
            </a: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更高质量的共同成果。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323865" y="303715"/>
            <a:ext cx="5961379" cy="1308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3300" kern="0" spc="130" baseline="-6313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2100" kern="0" spc="13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600" b="1" kern="0" spc="13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</a:t>
            </a:r>
            <a:r>
              <a:rPr sz="1600" b="1" kern="0" spc="12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课|第3次：需求调研与竞品分析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58750" algn="l" rtl="0" eaLnBrk="0">
              <a:lnSpc>
                <a:spcPct val="95000"/>
              </a:lnSpc>
              <a:spcBef>
                <a:spcPts val="2186"/>
              </a:spcBef>
              <a:tabLst/>
            </a:pPr>
            <a:r>
              <a:rPr sz="3800" b="1" kern="0" spc="-4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小组分工与协作说明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158114" algn="l" rtl="0" eaLnBrk="0">
              <a:lnSpc>
                <a:spcPct val="91000"/>
              </a:lnSpc>
              <a:spcBef>
                <a:spcPts val="16"/>
              </a:spcBef>
              <a:tabLst/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通过合理协作，提高调研执行与分析质量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1386490" y="1880282"/>
            <a:ext cx="3198495" cy="2132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84910" algn="l" rtl="0" eaLnBrk="0">
              <a:lnSpc>
                <a:spcPct val="96000"/>
              </a:lnSpc>
              <a:tabLst/>
            </a:pPr>
            <a:r>
              <a:rPr sz="1500" kern="0" spc="1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建议角色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61"/>
              </a:spcBef>
              <a:tabLst/>
            </a:pPr>
            <a:r>
              <a:rPr sz="12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访谈执行员：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负责与用户沟通并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收集原始信息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66"/>
              </a:spcBef>
              <a:tabLst/>
            </a:pPr>
            <a:r>
              <a:rPr sz="12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记录整理员：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负责整理访谈记录与调研表格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402"/>
              </a:spcBef>
              <a:tabLst/>
            </a:pP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竞品分析员：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负责搜集竞品并完成比较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3"/>
              </a:spcBef>
              <a:tabLst/>
            </a:pP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汇报负责人：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负责整合结论并课堂汇报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6070636" y="1877557"/>
            <a:ext cx="2416810" cy="2252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56689" algn="l" rtl="0" eaLnBrk="0">
              <a:lnSpc>
                <a:spcPct val="96000"/>
              </a:lnSpc>
              <a:tabLst/>
            </a:pPr>
            <a:r>
              <a:rPr sz="1500" b="1" kern="0" spc="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协作要求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60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分工明确，避免重复和遗漏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214000"/>
              </a:lnSpc>
              <a:spcBef>
                <a:spcPts val="150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所有记录必须真实、完整、可追溯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结论形成前应进行组内交叉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核对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369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统一表达口径，突出关键发现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最终聚焦一个更清晰的项目方向</a:t>
            </a:r>
            <a:endParaRPr sz="12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7073920" y="1911335"/>
            <a:ext cx="2971754" cy="2209804"/>
            <a:chOff x="0" y="0"/>
            <a:chExt cx="2971754" cy="2209804"/>
          </a:xfrm>
        </p:grpSpPr>
        <p:pic>
          <p:nvPicPr>
            <p:cNvPr id="226" name="picture 22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971754" cy="2209804"/>
            </a:xfrm>
            <a:prstGeom prst="rect">
              <a:avLst/>
            </a:prstGeom>
          </p:spPr>
        </p:pic>
        <p:sp>
          <p:nvSpPr>
            <p:cNvPr id="228" name="textbox 228"/>
            <p:cNvSpPr/>
            <p:nvPr/>
          </p:nvSpPr>
          <p:spPr>
            <a:xfrm>
              <a:off x="-12700" y="-12700"/>
              <a:ext cx="2997200" cy="22555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37540" algn="l" rtl="0" eaLnBrk="0">
                <a:lnSpc>
                  <a:spcPct val="96000"/>
                </a:lnSpc>
                <a:spcBef>
                  <a:spcPts val="1"/>
                </a:spcBef>
                <a:tabLst/>
              </a:pPr>
              <a:r>
                <a:rPr sz="1600" b="1" kern="0" spc="0" dirty="0">
                  <a:solidFill>
                    <a:srgbClr val="0040D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使用原则</a:t>
              </a:r>
              <a:endParaRPr sz="1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6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24815" algn="l" rtl="0" eaLnBrk="0">
                <a:lnSpc>
                  <a:spcPct val="85000"/>
                </a:lnSpc>
                <a:spcBef>
                  <a:spcPts val="365"/>
                </a:spcBef>
                <a:tabLst/>
              </a:pP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先有真实数据，再用</a:t>
              </a:r>
              <a:r>
                <a:rPr sz="12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</a:t>
              </a: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辅助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424815" algn="l" rtl="0" eaLnBrk="0">
                <a:lnSpc>
                  <a:spcPts val="2696"/>
                </a:lnSpc>
                <a:tabLst/>
              </a:pP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不虚构访谈内容与竞品信息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marL="424815" algn="l" rtl="0" eaLnBrk="0">
                <a:lnSpc>
                  <a:spcPts val="2604"/>
                </a:lnSpc>
                <a:tabLst/>
              </a:pP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输出结果必须人工复核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marL="424815" algn="l" rtl="0" eaLnBrk="0">
                <a:lnSpc>
                  <a:spcPct val="95000"/>
                </a:lnSpc>
                <a:tabLst/>
              </a:pPr>
              <a:r>
                <a:rPr sz="12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最终项目判断由小组完成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30" name="textbox 230"/>
          <p:cNvSpPr/>
          <p:nvPr/>
        </p:nvSpPr>
        <p:spPr>
          <a:xfrm>
            <a:off x="444476" y="931821"/>
            <a:ext cx="4914900" cy="779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3800" b="1" kern="0" spc="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3800" b="1" kern="0" spc="3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辅助分析与样例展示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31750" algn="l" rtl="0" eaLnBrk="0">
              <a:lnSpc>
                <a:spcPct val="95000"/>
              </a:lnSpc>
              <a:spcBef>
                <a:spcPts val="9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借助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工具提高需求归纳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与竞品比较效率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4038570" y="2603519"/>
            <a:ext cx="2520950" cy="1377950"/>
          </a:xfrm>
          <a:prstGeom prst="rect">
            <a:avLst/>
          </a:prstGeom>
          <a:solidFill>
            <a:srgbClr val="EEF2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50" algn="l" rtl="0" eaLnBrk="0">
              <a:lnSpc>
                <a:spcPct val="135000"/>
              </a:lnSpc>
              <a:spcBef>
                <a:spcPts val="7"/>
              </a:spcBef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请根据以下调研记录，提炼核心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需求、典型场景、受影响用户，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并比较两种竞品方案的优缺点，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输出简洁的分析结论。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996995" y="2633333"/>
            <a:ext cx="1886585" cy="1203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提炼访谈中的高频问题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79000"/>
              </a:lnSpc>
              <a:spcBef>
                <a:spcPts val="114"/>
              </a:spcBef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归纳需求类别与典型场景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生成竞品对比表初稿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辅助形成项目方向修正建议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36" name="picture 2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7699" y="152371"/>
            <a:ext cx="457176" cy="438172"/>
          </a:xfrm>
          <a:prstGeom prst="rect">
            <a:avLst/>
          </a:prstGeom>
        </p:spPr>
      </p:pic>
      <p:sp>
        <p:nvSpPr>
          <p:cNvPr id="238" name="textbox 238"/>
          <p:cNvSpPr/>
          <p:nvPr/>
        </p:nvSpPr>
        <p:spPr>
          <a:xfrm>
            <a:off x="368351" y="284614"/>
            <a:ext cx="6082665" cy="29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7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3300" kern="0" spc="80" baseline="-94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2100" kern="0" spc="8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</a:t>
            </a:r>
            <a:r>
              <a:rPr sz="17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创业基础》实践课|第3次：需求调研与竞品分析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1117607" y="5424033"/>
            <a:ext cx="5013959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是辅助工具，真实数据与</a:t>
            </a:r>
            <a:r>
              <a:rPr sz="17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独立判断始终是核心。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615944" y="1974820"/>
            <a:ext cx="1899920" cy="497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69265" algn="l" rtl="0" eaLnBrk="0">
              <a:lnSpc>
                <a:spcPct val="96000"/>
              </a:lnSpc>
              <a:spcBef>
                <a:spcPts val="6"/>
              </a:spcBef>
              <a:tabLst>
                <a:tab pos="634365" algn="l"/>
              </a:tabLst>
            </a:pPr>
            <a:r>
              <a:rPr sz="1600" b="1" kern="0" spc="0" dirty="0">
                <a:solidFill>
                  <a:srgbClr val="004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600" b="1" kern="0" spc="0" dirty="0">
                <a:solidFill>
                  <a:srgbClr val="0040D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600" b="1" kern="0" spc="30" dirty="0">
                <a:solidFill>
                  <a:srgbClr val="1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可帮助什么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8644" y="1987520"/>
            <a:ext cx="457176" cy="444506"/>
          </a:xfrm>
          <a:prstGeom prst="rect">
            <a:avLst/>
          </a:prstGeom>
        </p:spPr>
      </p:pic>
      <p:sp>
        <p:nvSpPr>
          <p:cNvPr id="246" name="textbox 246"/>
          <p:cNvSpPr/>
          <p:nvPr/>
        </p:nvSpPr>
        <p:spPr>
          <a:xfrm>
            <a:off x="3949744" y="1955819"/>
            <a:ext cx="1619250" cy="535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481965" algn="l" rtl="0" eaLnBrk="0">
              <a:lnSpc>
                <a:spcPct val="96000"/>
              </a:lnSpc>
              <a:spcBef>
                <a:spcPts val="5"/>
              </a:spcBef>
              <a:tabLst>
                <a:tab pos="605790" algn="l"/>
              </a:tabLst>
            </a:pPr>
            <a:r>
              <a:rPr sz="1600" kern="0" spc="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600" b="1" kern="0" spc="-4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示例提示词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248" name="picture 2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962444" y="1968519"/>
            <a:ext cx="469810" cy="482569"/>
          </a:xfrm>
          <a:prstGeom prst="rect">
            <a:avLst/>
          </a:prstGeom>
        </p:spPr>
      </p:pic>
      <p:sp>
        <p:nvSpPr>
          <p:cNvPr id="250" name="textbox 250"/>
          <p:cNvSpPr/>
          <p:nvPr/>
        </p:nvSpPr>
        <p:spPr>
          <a:xfrm>
            <a:off x="7981945" y="4298933"/>
            <a:ext cx="1550035" cy="532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7365" algn="l" rtl="0" eaLnBrk="0">
              <a:lnSpc>
                <a:spcPct val="96000"/>
              </a:lnSpc>
              <a:tabLst>
                <a:tab pos="622300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形成分析表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52" name="picture 2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994645" y="4311633"/>
            <a:ext cx="495292" cy="482628"/>
          </a:xfrm>
          <a:prstGeom prst="rect">
            <a:avLst/>
          </a:prstGeom>
        </p:spPr>
      </p:pic>
      <p:sp>
        <p:nvSpPr>
          <p:cNvPr id="254" name="textbox 254"/>
          <p:cNvSpPr/>
          <p:nvPr/>
        </p:nvSpPr>
        <p:spPr>
          <a:xfrm>
            <a:off x="984255" y="4286265"/>
            <a:ext cx="1393825" cy="544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94665" algn="l" rtl="0" eaLnBrk="0">
              <a:lnSpc>
                <a:spcPct val="96000"/>
              </a:lnSpc>
              <a:spcBef>
                <a:spcPts val="6"/>
              </a:spcBef>
              <a:tabLst>
                <a:tab pos="640715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调研记录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56" name="picture 25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96955" y="4298965"/>
            <a:ext cx="482551" cy="495296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5664210" y="4298933"/>
            <a:ext cx="1349375" cy="540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8950" algn="l" rtl="0" eaLnBrk="0">
              <a:lnSpc>
                <a:spcPct val="97000"/>
              </a:lnSpc>
              <a:spcBef>
                <a:spcPts val="6"/>
              </a:spcBef>
              <a:tabLst>
                <a:tab pos="608965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人工判断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60" name="picture 26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676910" y="4311633"/>
            <a:ext cx="476287" cy="488962"/>
          </a:xfrm>
          <a:prstGeom prst="rect">
            <a:avLst/>
          </a:prstGeom>
        </p:spPr>
      </p:pic>
      <p:sp>
        <p:nvSpPr>
          <p:cNvPr id="262" name="textbox 262"/>
          <p:cNvSpPr/>
          <p:nvPr/>
        </p:nvSpPr>
        <p:spPr>
          <a:xfrm>
            <a:off x="3448082" y="4298933"/>
            <a:ext cx="1194435" cy="535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01015" algn="l" rtl="0" eaLnBrk="0">
              <a:lnSpc>
                <a:spcPct val="97000"/>
              </a:lnSpc>
              <a:spcBef>
                <a:spcPts val="4"/>
              </a:spcBef>
              <a:tabLst>
                <a:tab pos="621665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4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整理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64" name="picture 26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460782" y="4311633"/>
            <a:ext cx="488922" cy="482628"/>
          </a:xfrm>
          <a:prstGeom prst="rect">
            <a:avLst/>
          </a:prstGeom>
        </p:spPr>
      </p:pic>
      <p:pic>
        <p:nvPicPr>
          <p:cNvPr id="266" name="picture 26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965490" y="3397225"/>
            <a:ext cx="577788" cy="558814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016520" y="4438669"/>
            <a:ext cx="355569" cy="241284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806656" y="4438669"/>
            <a:ext cx="342935" cy="241284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334255" y="4445003"/>
            <a:ext cx="349199" cy="234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2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62787" y="2133618"/>
            <a:ext cx="2990865" cy="2019310"/>
          </a:xfrm>
          <a:prstGeom prst="rect">
            <a:avLst/>
          </a:prstGeom>
        </p:spPr>
      </p:pic>
      <p:sp>
        <p:nvSpPr>
          <p:cNvPr id="278" name="textbox 278"/>
          <p:cNvSpPr/>
          <p:nvPr/>
        </p:nvSpPr>
        <p:spPr>
          <a:xfrm>
            <a:off x="438106" y="329070"/>
            <a:ext cx="6133465" cy="1541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1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《创新创业基础》实践课|第3次：需求调研与竞品分析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034" algn="l" rtl="0" eaLnBrk="0">
              <a:lnSpc>
                <a:spcPct val="96000"/>
              </a:lnSpc>
              <a:spcBef>
                <a:spcPts val="1293"/>
              </a:spcBef>
              <a:tabLst/>
            </a:pPr>
            <a:r>
              <a:rPr sz="4300" b="1" kern="0" spc="-2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成果提交要求</a:t>
            </a:r>
            <a:endParaRPr sz="4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164"/>
              </a:spcBef>
              <a:tabLst/>
            </a:pP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按要求整理调研与分析成果，确保</a:t>
            </a:r>
            <a:r>
              <a:rPr sz="14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内容完整、表达清晰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7524767" y="2335364"/>
            <a:ext cx="1727200" cy="1654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0040" algn="l" rtl="0" eaLnBrk="0">
              <a:lnSpc>
                <a:spcPct val="96000"/>
              </a:lnSpc>
              <a:tabLst/>
            </a:pPr>
            <a:r>
              <a:rPr sz="1700" b="1" kern="0" spc="120" dirty="0">
                <a:solidFill>
                  <a:srgbClr val="1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呈现建议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71"/>
              </a:spcBef>
              <a:tabLst/>
            </a:pPr>
            <a:r>
              <a:rPr sz="12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一页一个重点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060"/>
              </a:spcBef>
              <a:tabLst/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重点突出高频需求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018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竞品比较要有差异点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7"/>
              </a:spcBef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为下次方案设计做好街接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673064" y="2336012"/>
            <a:ext cx="1647189" cy="1654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75640" algn="l" rtl="0" eaLnBrk="0">
              <a:lnSpc>
                <a:spcPct val="96000"/>
              </a:lnSpc>
              <a:tabLst/>
            </a:pPr>
            <a:r>
              <a:rPr sz="1700" b="1" kern="0" spc="13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必交成果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0" algn="l" rtl="0" eaLnBrk="0">
              <a:lnSpc>
                <a:spcPct val="85000"/>
              </a:lnSpc>
              <a:spcBef>
                <a:spcPts val="372"/>
              </a:spcBef>
              <a:tabLst/>
            </a:pP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调研记录表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349250" algn="l" rtl="0" eaLnBrk="0">
              <a:lnSpc>
                <a:spcPts val="2453"/>
              </a:lnSpc>
              <a:tabLst/>
            </a:pP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需求归纳表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1125"/>
              </a:spcBef>
              <a:tabLst/>
            </a:pPr>
            <a:r>
              <a:rPr sz="2300" kern="0" spc="60" baseline="-9058" dirty="0">
                <a:solidFill>
                  <a:srgbClr val="507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400" kern="0" spc="520" dirty="0">
                <a:solidFill>
                  <a:srgbClr val="507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竞品分析表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项目方向修正说明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4279939" y="2336012"/>
            <a:ext cx="1405255" cy="165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51790" algn="l" rtl="0" eaLnBrk="0">
              <a:lnSpc>
                <a:spcPct val="96000"/>
              </a:lnSpc>
              <a:tabLst/>
            </a:pPr>
            <a:r>
              <a:rPr sz="1700" b="1" kern="0" spc="120" dirty="0">
                <a:solidFill>
                  <a:srgbClr val="0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提交要求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367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内容真实、信息完整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72000"/>
              </a:lnSpc>
              <a:spcBef>
                <a:spcPts val="37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关键结论有事实依据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图表清晰、结构规范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小组信息标注准确</a:t>
            </a:r>
            <a:endParaRPr sz="12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picture 2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88" name="textbox 288"/>
          <p:cNvSpPr/>
          <p:nvPr/>
        </p:nvSpPr>
        <p:spPr>
          <a:xfrm>
            <a:off x="5511748" y="2213858"/>
            <a:ext cx="2551429" cy="1743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18490" algn="l" rtl="0" eaLnBrk="0">
              <a:lnSpc>
                <a:spcPct val="95000"/>
              </a:lnSpc>
              <a:tabLst/>
            </a:pPr>
            <a:r>
              <a:rPr sz="1700" b="1" kern="0" spc="0" dirty="0">
                <a:solidFill>
                  <a:srgbClr val="208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课后延伸任务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2900" algn="l" rtl="0" eaLnBrk="0">
              <a:lnSpc>
                <a:spcPct val="95000"/>
              </a:lnSpc>
              <a:spcBef>
                <a:spcPts val="337"/>
              </a:spcBef>
              <a:tabLst/>
            </a:pP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补充2位目标用户访谈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42900" algn="l" rtl="0" eaLnBrk="0">
              <a:lnSpc>
                <a:spcPct val="95000"/>
              </a:lnSpc>
              <a:spcBef>
                <a:spcPts val="1505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完善竞品资料与对比表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1446"/>
              </a:spcBef>
              <a:tabLst/>
            </a:pPr>
            <a:r>
              <a:rPr sz="2300" kern="0" spc="50" baseline="-11323" dirty="0">
                <a:solidFill>
                  <a:srgbClr val="8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400" kern="0" spc="420" dirty="0">
                <a:solidFill>
                  <a:srgbClr val="80E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根据调研结果修订项目方向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为下一次商业模式画布初建做准备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508589" y="980715"/>
            <a:ext cx="4574540" cy="782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11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评价标准与课后延伸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18415" algn="l" rtl="0" eaLnBrk="0">
              <a:lnSpc>
                <a:spcPct val="92000"/>
              </a:lnSpc>
              <a:spcBef>
                <a:spcPts val="8"/>
              </a:spcBef>
              <a:tabLst/>
            </a:pPr>
            <a:r>
              <a:rPr sz="14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通过过程评价与延伸任务，帮助小组继续修正项目方向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793782" y="2208327"/>
            <a:ext cx="1512569" cy="1799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700" b="1" kern="0" spc="0" dirty="0">
                <a:solidFill>
                  <a:srgbClr val="206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评价维度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74015" algn="l" rtl="0" eaLnBrk="0">
              <a:lnSpc>
                <a:spcPct val="96000"/>
              </a:lnSpc>
              <a:spcBef>
                <a:spcPts val="331"/>
              </a:spcBef>
              <a:tabLst/>
            </a:pP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调研真实性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74015" algn="l" rtl="0" eaLnBrk="0">
              <a:lnSpc>
                <a:spcPct val="96000"/>
              </a:lnSpc>
              <a:spcBef>
                <a:spcPts val="991"/>
              </a:spcBef>
              <a:tabLst/>
            </a:pP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需求分析质量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978"/>
              </a:spcBef>
              <a:tabLst/>
            </a:pPr>
            <a:r>
              <a:rPr sz="2100" kern="0" spc="40" baseline="-9921" dirty="0">
                <a:solidFill>
                  <a:srgbClr val="307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300" kern="0" spc="120" dirty="0">
                <a:solidFill>
                  <a:srgbClr val="307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竞品比较深度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74015" indent="-361315" algn="l" rtl="0" eaLnBrk="0">
              <a:lnSpc>
                <a:spcPct val="116000"/>
              </a:lnSpc>
              <a:spcBef>
                <a:spcPts val="1"/>
              </a:spcBef>
              <a:tabLst/>
            </a:pPr>
            <a:r>
              <a:rPr sz="2300" kern="0" spc="-20" baseline="-9058" dirty="0">
                <a:solidFill>
                  <a:srgbClr val="6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④</a:t>
            </a:r>
            <a:r>
              <a:rPr sz="1400" kern="0" spc="-20" dirty="0">
                <a:solidFill>
                  <a:srgbClr val="60A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工具应用质量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团队协作表现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336499" y="335404"/>
            <a:ext cx="6330315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kern="0" spc="110" baseline="-8681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1700" b="1" kern="0" spc="11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</a:t>
            </a:r>
            <a:r>
              <a:rPr sz="1700" b="1" kern="0" spc="10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新创业基础》实践课|第3次：需求调研与竞品分析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96" name="textbox 296"/>
          <p:cNvSpPr/>
          <p:nvPr/>
        </p:nvSpPr>
        <p:spPr>
          <a:xfrm>
            <a:off x="910565" y="4425022"/>
            <a:ext cx="605726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14"/>
              </a:lnSpc>
              <a:tabLst/>
            </a:pPr>
            <a:r>
              <a:rPr sz="2100" b="1" kern="0" spc="-20" baseline="-13878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b="1" kern="0" spc="-20" baseline="-13878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范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b="1" kern="0" spc="-20" baseline="-13878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b="1" kern="0" spc="-20" baseline="-13878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醒</a:t>
            </a:r>
            <a:r>
              <a:rPr sz="13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坚持真实调研、尊重用户表达、保持学术诚信、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注重团队合作。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98" name="textbox 298"/>
          <p:cNvSpPr/>
          <p:nvPr/>
        </p:nvSpPr>
        <p:spPr>
          <a:xfrm>
            <a:off x="3206753" y="3529965"/>
            <a:ext cx="1127125" cy="48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200" kern="0" spc="-50" dirty="0">
                <a:solidFill>
                  <a:srgbClr val="307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★★</a:t>
            </a:r>
            <a:r>
              <a:rPr sz="1200" kern="0" spc="370" dirty="0">
                <a:solidFill>
                  <a:srgbClr val="307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50" dirty="0">
                <a:solidFill>
                  <a:srgbClr val="307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★</a:t>
            </a:r>
            <a:r>
              <a:rPr sz="1200" kern="0" spc="340" dirty="0">
                <a:solidFill>
                  <a:srgbClr val="307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50" dirty="0">
                <a:solidFill>
                  <a:srgbClr val="307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★</a:t>
            </a:r>
            <a:r>
              <a:rPr sz="1200" kern="0" spc="320" dirty="0">
                <a:solidFill>
                  <a:srgbClr val="3070D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-50" dirty="0">
                <a:solidFill>
                  <a:srgbClr val="105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☆</a:t>
            </a:r>
            <a:endParaRPr sz="1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200" kern="0" spc="-30" dirty="0">
                <a:solidFill>
                  <a:srgbClr val="206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★</a:t>
            </a:r>
            <a:r>
              <a:rPr sz="1200" kern="0" spc="90" dirty="0">
                <a:solidFill>
                  <a:srgbClr val="206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-30" dirty="0">
                <a:solidFill>
                  <a:srgbClr val="206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★★★</a:t>
            </a:r>
            <a:r>
              <a:rPr sz="1200" kern="0" spc="90" dirty="0">
                <a:solidFill>
                  <a:srgbClr val="206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-30" dirty="0">
                <a:solidFill>
                  <a:srgbClr val="2060E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★</a:t>
            </a:r>
            <a:endParaRPr sz="12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25375" y="4692621"/>
            <a:ext cx="10566449" cy="1276394"/>
            <a:chOff x="0" y="0"/>
            <a:chExt cx="10566449" cy="1276394"/>
          </a:xfrm>
        </p:grpSpPr>
        <p:pic>
          <p:nvPicPr>
            <p:cNvPr id="302" name="picture 3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66449" cy="1276394"/>
            </a:xfrm>
            <a:prstGeom prst="rect">
              <a:avLst/>
            </a:prstGeom>
          </p:spPr>
        </p:pic>
        <p:sp>
          <p:nvSpPr>
            <p:cNvPr id="304" name="textbox 304"/>
            <p:cNvSpPr/>
            <p:nvPr/>
          </p:nvSpPr>
          <p:spPr>
            <a:xfrm>
              <a:off x="-12700" y="-12700"/>
              <a:ext cx="10592434" cy="13208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46505" algn="l" rtl="0" eaLnBrk="0">
                <a:lnSpc>
                  <a:spcPct val="93000"/>
                </a:lnSpc>
                <a:spcBef>
                  <a:spcPts val="6"/>
                </a:spcBef>
                <a:tabLst/>
              </a:pPr>
              <a:r>
                <a:rPr sz="1300" b="1" kern="0" spc="7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案例启示</a:t>
              </a:r>
              <a:r>
                <a:rPr sz="1300" kern="0" spc="10" dirty="0">
                  <a:solidFill>
                    <a:srgbClr val="0040E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</a:t>
              </a:r>
              <a:r>
                <a:rPr sz="1200" kern="0" spc="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真实场景+用户表达+竞品比较，能够让项目判断更有依据、更可执行。</a:t>
              </a:r>
              <a:endParaRPr sz="12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993139" algn="l" rtl="0" eaLnBrk="0">
                <a:lnSpc>
                  <a:spcPct val="92000"/>
                </a:lnSpc>
                <a:spcBef>
                  <a:spcPts val="2"/>
                </a:spcBef>
                <a:tabLst/>
              </a:pPr>
              <a:r>
                <a:rPr sz="1700" b="1" kern="0" spc="10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用扎实调研，让项目方</a:t>
              </a:r>
              <a:r>
                <a:rPr sz="1700" b="1" kern="0" spc="9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向更清晰。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06" name="picture 3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787932" y="3327373"/>
            <a:ext cx="5448216" cy="1250999"/>
          </a:xfrm>
          <a:prstGeom prst="rect">
            <a:avLst/>
          </a:prstGeom>
        </p:spPr>
      </p:pic>
      <p:graphicFrame>
        <p:nvGraphicFramePr>
          <p:cNvPr id="308" name="table 308"/>
          <p:cNvGraphicFramePr>
            <a:graphicFrameLocks noGrp="1"/>
          </p:cNvGraphicFramePr>
          <p:nvPr/>
        </p:nvGraphicFramePr>
        <p:xfrm>
          <a:off x="4822873" y="1774850"/>
          <a:ext cx="5352414" cy="2132964"/>
        </p:xfrm>
        <a:graphic>
          <a:graphicData uri="http://schemas.openxmlformats.org/drawingml/2006/table">
            <a:tbl>
              <a:tblPr/>
              <a:tblGrid>
                <a:gridCol w="1202689"/>
                <a:gridCol w="1238250"/>
                <a:gridCol w="1314450"/>
                <a:gridCol w="1597025"/>
              </a:tblGrid>
              <a:tr h="244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544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比较维度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3854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现有方案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1954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问题表现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algn="l" rtl="0" eaLnBrk="0">
                        <a:lnSpc>
                          <a:spcPct val="9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可优化方向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6689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500" kern="0" spc="-10" baseline="-12501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◎</a:t>
                      </a:r>
                      <a:r>
                        <a:rPr sz="1600" kern="0" spc="3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b="1" kern="0" spc="-10" baseline="138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覆盖范围</a:t>
                      </a:r>
                      <a:endParaRPr sz="1500" baseline="1389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设备点位较少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高峰时段难以借到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优化布点与动态引导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039" algn="l" rtl="0" eaLnBrk="0">
                        <a:lnSpc>
                          <a:spcPts val="156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900" kern="0" spc="20" baseline="-3434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廿</a:t>
                      </a:r>
                      <a:r>
                        <a:rPr sz="12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12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借还流程</a:t>
                      </a:r>
                      <a:endParaRPr sz="12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借还步骤较多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使用时间成本较高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9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简化流程与就近归还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289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kern="0" spc="-10" baseline="-13022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羊</a:t>
                      </a:r>
                      <a:r>
                        <a:rPr sz="1500" kern="0" spc="5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b="1" kern="0" spc="-10" baseline="138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价格体验</a:t>
                      </a:r>
                      <a:endParaRPr sz="1500" baseline="1389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规则不够直观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30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用户决策犹豫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明确计费与套餐说明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9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039" algn="l" rtl="0" eaLnBrk="0">
                        <a:lnSpc>
                          <a:spcPts val="1824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200" kern="0" spc="-30" baseline="-14595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四</a:t>
                      </a:r>
                      <a:r>
                        <a:rPr sz="1400" kern="0" spc="5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b="1" kern="0" spc="-30" baseline="13319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服务反馈</a:t>
                      </a:r>
                      <a:endParaRPr sz="1500" baseline="13319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故障响应偏慢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65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信任感下降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增加反馈入口与状态提醒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655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0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校国共事充电</a:t>
                      </a:r>
                      <a:endParaRPr sz="10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0" name="textbox 310"/>
          <p:cNvSpPr/>
          <p:nvPr/>
        </p:nvSpPr>
        <p:spPr>
          <a:xfrm>
            <a:off x="1047745" y="1489004"/>
            <a:ext cx="3313429" cy="2983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ct val="95000"/>
              </a:lnSpc>
              <a:tabLst/>
            </a:pPr>
            <a:r>
              <a:rPr sz="1300" b="1" kern="0" spc="-3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案例背景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5400" algn="l" rtl="0" eaLnBrk="0">
              <a:lnSpc>
                <a:spcPct val="97000"/>
              </a:lnSpc>
              <a:spcBef>
                <a:spcPts val="622"/>
              </a:spcBef>
              <a:tabLst/>
            </a:pPr>
            <a:r>
              <a:rPr sz="900" kern="0" spc="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900" kern="0" spc="27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校园内学习、就餐、通勤场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景中，学生普遍存在手机续航焦虑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25400" algn="l" rtl="0" eaLnBrk="0">
              <a:lnSpc>
                <a:spcPct val="92000"/>
              </a:lnSpc>
              <a:spcBef>
                <a:spcPts val="406"/>
              </a:spcBef>
              <a:tabLst/>
            </a:pPr>
            <a:r>
              <a:rPr sz="900" kern="0" spc="-1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900" kern="0" spc="33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现有共享充电设备分布不均，借还路径不够顺畅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25400" algn="l" rtl="0" eaLnBrk="0">
              <a:lnSpc>
                <a:spcPts val="967"/>
              </a:lnSpc>
              <a:spcBef>
                <a:spcPts val="495"/>
              </a:spcBef>
              <a:tabLst/>
            </a:pPr>
            <a:r>
              <a:rPr sz="800" kern="0" spc="9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800" kern="0" spc="340" dirty="0">
                <a:solidFill>
                  <a:srgbClr val="102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用户最关注可获得性、借还便利、价格与故障处理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ct val="95000"/>
              </a:lnSpc>
              <a:spcBef>
                <a:spcPts val="396"/>
              </a:spcBef>
              <a:tabLst/>
            </a:pPr>
            <a:r>
              <a:rPr sz="1300" b="1" kern="0" spc="-3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调研发现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71779" indent="-62864" algn="l" rtl="0" eaLnBrk="0">
              <a:lnSpc>
                <a:spcPct val="138000"/>
              </a:lnSpc>
              <a:spcBef>
                <a:spcPts val="376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用户在图书馆、食堂、教学楼的高峰需求最明显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真实痛点集中在“找得到、借得快、还得上”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272415" algn="l" rtl="0" eaLnBrk="0">
              <a:lnSpc>
                <a:spcPct val="100000"/>
              </a:lnSpc>
              <a:spcBef>
                <a:spcPts val="413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故障反馈不及时会显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著降低满意度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272415" algn="l" rtl="0" eaLnBrk="0">
              <a:lnSpc>
                <a:spcPct val="100000"/>
              </a:lnSpc>
              <a:spcBef>
                <a:spcPts val="570"/>
              </a:spcBef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不同场景下对服务时效和提醒机制的期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望不同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ct val="96000"/>
              </a:lnSpc>
              <a:spcBef>
                <a:spcPts val="401"/>
              </a:spcBef>
              <a:tabLst/>
            </a:pPr>
            <a:r>
              <a:rPr sz="1300" b="1" kern="0" spc="-30" dirty="0">
                <a:solidFill>
                  <a:srgbClr val="108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需求判断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25400" algn="l" rtl="0" eaLnBrk="0">
              <a:lnSpc>
                <a:spcPct val="100000"/>
              </a:lnSpc>
              <a:spcBef>
                <a:spcPts val="290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●需求具有高频、刚需、场景明确的特点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25400" algn="l" rtl="0" eaLnBrk="0">
              <a:lnSpc>
                <a:spcPct val="95000"/>
              </a:lnSpc>
              <a:spcBef>
                <a:spcPts val="372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●可以从点位优化、提醒服务、借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还流程改进入手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100000"/>
              </a:lnSpc>
              <a:spcBef>
                <a:spcPts val="2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●项目方向应聚焦“更便捷的校内移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动充电体验”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312" name="picture 3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60445" y="2730495"/>
            <a:ext cx="196842" cy="196828"/>
          </a:xfrm>
          <a:prstGeom prst="rect">
            <a:avLst/>
          </a:prstGeom>
        </p:spPr>
      </p:pic>
      <p:pic>
        <p:nvPicPr>
          <p:cNvPr id="314" name="picture 3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47699" y="120642"/>
            <a:ext cx="425431" cy="380988"/>
          </a:xfrm>
          <a:prstGeom prst="rect">
            <a:avLst/>
          </a:prstGeom>
        </p:spPr>
      </p:pic>
      <p:sp>
        <p:nvSpPr>
          <p:cNvPr id="316" name="textbox 316"/>
          <p:cNvSpPr/>
          <p:nvPr/>
        </p:nvSpPr>
        <p:spPr>
          <a:xfrm>
            <a:off x="298490" y="240197"/>
            <a:ext cx="5740400" cy="1075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2600" kern="0" spc="50" baseline="-8013" dirty="0">
                <a:solidFill>
                  <a:srgbClr val="B0D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600" kern="0" spc="50" dirty="0">
                <a:solidFill>
                  <a:srgbClr val="B0D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600" b="1" kern="0" spc="50" baseline="-8013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600" b="1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600" b="1" kern="0" spc="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《创新创业基础》实践课|第3次：需求调研与竞品分析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783"/>
              </a:spcBef>
              <a:tabLst/>
            </a:pPr>
            <a:r>
              <a:rPr sz="2600" b="1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典型案例分析：从调研发</a:t>
            </a:r>
            <a:r>
              <a:rPr sz="2600" b="1" kern="0" spc="-1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现到项目判断</a:t>
            </a:r>
            <a:endParaRPr sz="2600" dirty="0">
              <a:latin typeface="SimHei"/>
              <a:ea typeface="SimHei"/>
              <a:cs typeface="SimHei"/>
            </a:endParaRPr>
          </a:p>
          <a:p>
            <a:pPr marL="82550" algn="l" rtl="0" eaLnBrk="0">
              <a:lnSpc>
                <a:spcPct val="92000"/>
              </a:lnSpc>
              <a:spcBef>
                <a:spcPts val="110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以校园共享充电服务为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例，展示需求调研与竞品分析如何支撑项目方向修正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318" name="textbox 318"/>
          <p:cNvSpPr/>
          <p:nvPr/>
        </p:nvSpPr>
        <p:spPr>
          <a:xfrm>
            <a:off x="5099056" y="1447795"/>
            <a:ext cx="1437639" cy="346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17500" algn="l" rtl="0" eaLnBrk="0">
              <a:lnSpc>
                <a:spcPct val="96000"/>
              </a:lnSpc>
              <a:spcBef>
                <a:spcPts val="2"/>
              </a:spcBef>
              <a:tabLst>
                <a:tab pos="440055" algn="l"/>
              </a:tabLst>
            </a:pPr>
            <a:r>
              <a:rPr sz="1300" kern="0" spc="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2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竞品比较启示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320" name="picture 3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111756" y="1460495"/>
            <a:ext cx="304819" cy="298468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82551" y="1504951"/>
            <a:ext cx="457282" cy="463567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08033" y="2495545"/>
            <a:ext cx="412690" cy="412776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08033" y="3746484"/>
            <a:ext cx="412690" cy="4064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picture 3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12740" y="4825991"/>
            <a:ext cx="10553708" cy="1136631"/>
            <a:chOff x="0" y="0"/>
            <a:chExt cx="10553708" cy="1136631"/>
          </a:xfrm>
        </p:grpSpPr>
        <p:pic>
          <p:nvPicPr>
            <p:cNvPr id="330" name="picture 33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53708" cy="1136631"/>
            </a:xfrm>
            <a:prstGeom prst="rect">
              <a:avLst/>
            </a:prstGeom>
          </p:spPr>
        </p:pic>
        <p:sp>
          <p:nvSpPr>
            <p:cNvPr id="332" name="textbox 332"/>
            <p:cNvSpPr/>
            <p:nvPr/>
          </p:nvSpPr>
          <p:spPr>
            <a:xfrm>
              <a:off x="-12700" y="-12700"/>
              <a:ext cx="10579734" cy="11823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044575" algn="l" rtl="0" eaLnBrk="0">
                <a:lnSpc>
                  <a:spcPct val="94000"/>
                </a:lnSpc>
                <a:spcBef>
                  <a:spcPts val="5"/>
                </a:spcBef>
                <a:tabLst/>
              </a:pPr>
              <a:r>
                <a:rPr sz="1800" b="1" kern="0" spc="6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把阶段成果整理好，项目设计才更有基础。</a:t>
              </a:r>
              <a:endParaRPr sz="18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34" name="picture 3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5847" y="133369"/>
            <a:ext cx="469917" cy="419051"/>
          </a:xfrm>
          <a:prstGeom prst="rect">
            <a:avLst/>
          </a:prstGeom>
        </p:spPr>
      </p:pic>
      <p:sp>
        <p:nvSpPr>
          <p:cNvPr id="336" name="textbox 336"/>
          <p:cNvSpPr/>
          <p:nvPr/>
        </p:nvSpPr>
        <p:spPr>
          <a:xfrm>
            <a:off x="266744" y="278320"/>
            <a:ext cx="8572500" cy="13055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7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800" kern="0" spc="100" baseline="-7441" dirty="0">
                <a:solidFill>
                  <a:srgbClr val="B0D0F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1800" kern="0" spc="100" dirty="0">
                <a:solidFill>
                  <a:srgbClr val="B0D0F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kern="0" spc="100" baseline="-7441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800" kern="0" spc="1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600" b="1" kern="0" spc="10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600" kern="0" spc="-22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b="1" kern="0" spc="10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|第3次</a:t>
            </a:r>
            <a:r>
              <a:rPr sz="1600" b="1" kern="0" spc="9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：需求调研与竞品分析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1148"/>
              </a:spcBef>
              <a:tabLst/>
            </a:pPr>
            <a:r>
              <a:rPr sz="3800" b="1" kern="0" spc="-150" dirty="0">
                <a:solidFill>
                  <a:srgbClr val="103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成果样例展示：调研记录与竞品分析成果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177164" algn="l" rtl="0" eaLnBrk="0">
              <a:lnSpc>
                <a:spcPct val="91000"/>
              </a:lnSpc>
              <a:spcBef>
                <a:spcPts val="14"/>
              </a:spcBef>
              <a:tabLst/>
            </a:pP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展示本次实践课可提交的阶段性成果表达方式</a:t>
            </a:r>
            <a:r>
              <a:rPr sz="13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，为下一次项目设计做好衔接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338" name="table 338"/>
          <p:cNvGraphicFramePr>
            <a:graphicFrameLocks noGrp="1"/>
          </p:cNvGraphicFramePr>
          <p:nvPr/>
        </p:nvGraphicFramePr>
        <p:xfrm>
          <a:off x="5064095" y="2689198"/>
          <a:ext cx="2456815" cy="1397000"/>
        </p:xfrm>
        <a:graphic>
          <a:graphicData uri="http://schemas.openxmlformats.org/drawingml/2006/table">
            <a:tbl>
              <a:tblPr/>
              <a:tblGrid>
                <a:gridCol w="727075"/>
                <a:gridCol w="565150"/>
                <a:gridCol w="571500"/>
                <a:gridCol w="593090"/>
              </a:tblGrid>
              <a:tr h="257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745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产品/服务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72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优势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070" algn="l" rtl="0" eaLnBrk="0">
                        <a:lnSpc>
                          <a:spcPts val="972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8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不足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5420" algn="l" rtl="0" eaLnBrk="0">
                        <a:lnSpc>
                          <a:spcPts val="966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8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启示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039" algn="l" rtl="0" eaLnBrk="0">
                        <a:lnSpc>
                          <a:spcPct val="10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A品牌充电宝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indent="56514" algn="l" rtl="0" eaLnBrk="0">
                        <a:lnSpc>
                          <a:spcPct val="12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网点多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 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归还便捷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214" algn="l" rtl="0" eaLnBrk="0">
                        <a:lnSpc>
                          <a:spcPct val="9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价格偏高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优化定价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89864" algn="l" rtl="0" eaLnBrk="0">
                        <a:lnSpc>
                          <a:spcPct val="100000"/>
                        </a:lnSpc>
                        <a:spcBef>
                          <a:spcPts val="108"/>
                        </a:spcBef>
                        <a:tabLst/>
                      </a:pPr>
                      <a:r>
                        <a:rPr sz="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策略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039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B共享充电站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70" dirty="0">
                          <a:solidFill>
                            <a:srgbClr val="10203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价格适中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0650" algn="l" rtl="0" eaLnBrk="0">
                        <a:lnSpc>
                          <a:spcPct val="100000"/>
                        </a:lnSpc>
                        <a:spcBef>
                          <a:spcPts val="159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充电快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ts val="966"/>
                        </a:lnSpc>
                        <a:tabLst/>
                      </a:pPr>
                      <a:r>
                        <a:rPr sz="800" kern="0" spc="70" dirty="0">
                          <a:solidFill>
                            <a:srgbClr val="00102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点位少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0650" algn="l" rtl="0" eaLnBrk="0">
                        <a:lnSpc>
                          <a:spcPts val="966"/>
                        </a:lnSpc>
                        <a:spcBef>
                          <a:spcPts val="234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排队久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ts val="966"/>
                        </a:lnSpc>
                        <a:tabLst/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增加点位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6200" algn="l" rtl="0" eaLnBrk="0">
                        <a:lnSpc>
                          <a:spcPct val="100000"/>
                        </a:lnSpc>
                        <a:spcBef>
                          <a:spcPts val="227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提升效率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039" algn="l" rtl="0" eaLnBrk="0">
                        <a:lnSpc>
                          <a:spcPct val="100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C校园自助柜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设备稳定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69214" algn="l" rtl="0" eaLnBrk="0">
                        <a:lnSpc>
                          <a:spcPct val="100000"/>
                        </a:lnSpc>
                        <a:spcBef>
                          <a:spcPts val="90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安全性高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014" indent="-50800" algn="l" rtl="0" eaLnBrk="0">
                        <a:lnSpc>
                          <a:spcPct val="104000"/>
                        </a:lnSpc>
                        <a:tabLst/>
                      </a:pP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操作复杂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 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认知低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0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简化流程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76200" algn="l" rtl="0" eaLnBrk="0">
                        <a:lnSpc>
                          <a:spcPts val="966"/>
                        </a:lnSpc>
                        <a:spcBef>
                          <a:spcPts val="53"/>
                        </a:spcBef>
                        <a:tabLst/>
                      </a:pP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加强引导</a:t>
                      </a:r>
                      <a:endParaRPr sz="8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40" name="picture 3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19453" y="2355841"/>
            <a:ext cx="1276293" cy="234950"/>
          </a:xfrm>
          <a:prstGeom prst="rect">
            <a:avLst/>
          </a:prstGeom>
        </p:spPr>
      </p:pic>
      <p:pic>
        <p:nvPicPr>
          <p:cNvPr id="342" name="picture 34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59343" y="4006830"/>
            <a:ext cx="285708" cy="203221"/>
          </a:xfrm>
          <a:prstGeom prst="rect">
            <a:avLst/>
          </a:prstGeom>
        </p:spPr>
      </p:pic>
      <p:graphicFrame>
        <p:nvGraphicFramePr>
          <p:cNvPr id="344" name="table 344"/>
          <p:cNvGraphicFramePr>
            <a:graphicFrameLocks noGrp="1"/>
          </p:cNvGraphicFramePr>
          <p:nvPr/>
        </p:nvGraphicFramePr>
        <p:xfrm>
          <a:off x="2835226" y="2355841"/>
          <a:ext cx="1987550" cy="1704339"/>
        </p:xfrm>
        <a:graphic>
          <a:graphicData uri="http://schemas.openxmlformats.org/drawingml/2006/table">
            <a:tbl>
              <a:tblPr/>
              <a:tblGrid>
                <a:gridCol w="390525"/>
                <a:gridCol w="342900"/>
                <a:gridCol w="933450"/>
                <a:gridCol w="320675"/>
              </a:tblGrid>
              <a:tr h="10795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rowSpan="2"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需求归纳表示例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rowSpan="2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1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495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高频场景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10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自习充电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49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9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核心用户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本科生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91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495" algn="l" rtl="0" eaLnBrk="0">
                        <a:lnSpc>
                          <a:spcPct val="10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主要痛点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借还不便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1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0495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改进机会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250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优化点位与提醒服务</a:t>
                      </a:r>
                      <a:endParaRPr sz="9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6" name="textbox 346"/>
          <p:cNvSpPr/>
          <p:nvPr/>
        </p:nvSpPr>
        <p:spPr>
          <a:xfrm>
            <a:off x="7924824" y="1809722"/>
            <a:ext cx="2103754" cy="1652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405765" algn="l" rtl="0" eaLnBrk="0">
              <a:lnSpc>
                <a:spcPct val="95000"/>
              </a:lnSpc>
              <a:spcBef>
                <a:spcPts val="5"/>
              </a:spcBef>
              <a:tabLst>
                <a:tab pos="503555" algn="l"/>
              </a:tabLst>
            </a:pPr>
            <a:r>
              <a:rPr sz="1300" kern="0" spc="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-20" dirty="0">
                <a:solidFill>
                  <a:srgbClr val="1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优秀成果特征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0" algn="l" rtl="0" eaLnBrk="0">
              <a:lnSpc>
                <a:spcPct val="89000"/>
              </a:lnSpc>
              <a:spcBef>
                <a:spcPts val="281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能从原始信息中提炼关键需求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349250" algn="l" rtl="0" eaLnBrk="0">
              <a:lnSpc>
                <a:spcPts val="1850"/>
              </a:lnSpc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能区分事实、判断与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349250" algn="l" rtl="0" eaLnBrk="0">
              <a:lnSpc>
                <a:spcPts val="1085"/>
              </a:lnSpc>
              <a:spcBef>
                <a:spcPts val="1036"/>
              </a:spcBef>
              <a:tabLst/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竞品比较有维度、有差异点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349250" algn="l" rtl="0" eaLnBrk="0">
              <a:lnSpc>
                <a:spcPct val="100000"/>
              </a:lnSpc>
              <a:spcBef>
                <a:spcPts val="863"/>
              </a:spcBef>
              <a:tabLst/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结论能够支撑后续方案设计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00000"/>
              </a:lnSpc>
              <a:spcBef>
                <a:spcPts val="6"/>
              </a:spcBef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页面整洁、结构规范、便于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348" name="picture 3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937524" y="1822422"/>
            <a:ext cx="393686" cy="393715"/>
          </a:xfrm>
          <a:prstGeom prst="rect">
            <a:avLst/>
          </a:prstGeom>
        </p:spPr>
      </p:pic>
      <p:sp>
        <p:nvSpPr>
          <p:cNvPr id="350" name="textbox 350"/>
          <p:cNvSpPr/>
          <p:nvPr/>
        </p:nvSpPr>
        <p:spPr>
          <a:xfrm>
            <a:off x="533408" y="3403619"/>
            <a:ext cx="1981200" cy="1320800"/>
          </a:xfrm>
          <a:prstGeom prst="rect">
            <a:avLst/>
          </a:prstGeom>
          <a:solidFill>
            <a:srgbClr val="F4F6F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4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2755" algn="l" rtl="0" eaLnBrk="0">
              <a:lnSpc>
                <a:spcPct val="96000"/>
              </a:lnSpc>
              <a:tabLst/>
            </a:pPr>
            <a:r>
              <a:rPr sz="1100" b="1" kern="0" spc="-2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提交要求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6200" algn="l" rtl="0" eaLnBrk="0">
              <a:lnSpc>
                <a:spcPts val="967"/>
              </a:lnSpc>
              <a:spcBef>
                <a:spcPts val="251"/>
              </a:spcBef>
              <a:tabLst/>
            </a:pPr>
            <a:r>
              <a:rPr sz="800" kern="0" spc="4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800" kern="0" spc="4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信息真实、记录完整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94614" algn="l" rtl="0" eaLnBrk="0">
              <a:lnSpc>
                <a:spcPts val="970"/>
              </a:lnSpc>
              <a:spcBef>
                <a:spcPts val="1036"/>
              </a:spcBef>
              <a:tabLst/>
            </a:pPr>
            <a:r>
              <a:rPr sz="800" kern="0" spc="5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800" kern="0" spc="5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结论有依据、表达清晰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94614" algn="l" rtl="0" eaLnBrk="0">
              <a:lnSpc>
                <a:spcPts val="967"/>
              </a:lnSpc>
              <a:spcBef>
                <a:spcPts val="6"/>
              </a:spcBef>
              <a:tabLst/>
            </a:pPr>
            <a:r>
              <a:rPr sz="800" kern="0" spc="7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800" kern="0" spc="7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小组成员分工明确、署名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规范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7931154" y="3625842"/>
            <a:ext cx="2133632" cy="1092234"/>
            <a:chOff x="0" y="0"/>
            <a:chExt cx="2133632" cy="1092234"/>
          </a:xfrm>
        </p:grpSpPr>
        <p:pic>
          <p:nvPicPr>
            <p:cNvPr id="352" name="picture 35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133632" cy="1092234"/>
            </a:xfrm>
            <a:prstGeom prst="rect">
              <a:avLst/>
            </a:prstGeom>
          </p:spPr>
        </p:pic>
        <p:sp>
          <p:nvSpPr>
            <p:cNvPr id="354" name="textbox 354"/>
            <p:cNvSpPr/>
            <p:nvPr/>
          </p:nvSpPr>
          <p:spPr>
            <a:xfrm>
              <a:off x="-12700" y="-12700"/>
              <a:ext cx="2159635" cy="11328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592455" algn="l" rtl="0" eaLnBrk="0">
                <a:lnSpc>
                  <a:spcPts val="1217"/>
                </a:lnSpc>
                <a:spcBef>
                  <a:spcPts val="4"/>
                </a:spcBef>
                <a:tabLst/>
              </a:pPr>
              <a:r>
                <a:rPr sz="1000" b="1" kern="0" spc="-20" dirty="0">
                  <a:solidFill>
                    <a:srgbClr val="108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过渡提示：</a:t>
              </a:r>
              <a:endParaRPr sz="1000" dirty="0">
                <a:latin typeface="SimHei"/>
                <a:ea typeface="SimHei"/>
                <a:cs typeface="SimHei"/>
              </a:endParaRPr>
            </a:p>
            <a:p>
              <a:pPr marL="590550" algn="l" rtl="0" eaLnBrk="0">
                <a:lnSpc>
                  <a:spcPct val="99000"/>
                </a:lnSpc>
                <a:spcBef>
                  <a:spcPts val="670"/>
                </a:spcBef>
                <a:tabLst/>
              </a:pPr>
              <a:r>
                <a:rPr sz="900" kern="0" spc="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下一次实践课将进入</a:t>
              </a:r>
              <a:endParaRPr sz="900" dirty="0">
                <a:latin typeface="SimHei"/>
                <a:ea typeface="SimHei"/>
                <a:cs typeface="SimHei"/>
              </a:endParaRPr>
            </a:p>
            <a:p>
              <a:pPr marL="590550" algn="l" rtl="0" eaLnBrk="0">
                <a:lnSpc>
                  <a:spcPct val="133000"/>
                </a:lnSpc>
                <a:spcBef>
                  <a:spcPts val="20"/>
                </a:spcBef>
                <a:tabLst/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“商业模式画布初建”</a:t>
              </a:r>
              <a:r>
                <a:rPr sz="900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,请据此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整理价值主张、目标用户与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900" kern="0" spc="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核心方案。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2762276" y="4311633"/>
            <a:ext cx="4902172" cy="431838"/>
            <a:chOff x="0" y="0"/>
            <a:chExt cx="4902172" cy="431838"/>
          </a:xfrm>
        </p:grpSpPr>
        <p:pic>
          <p:nvPicPr>
            <p:cNvPr id="356" name="picture 35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4902172" cy="431838"/>
            </a:xfrm>
            <a:prstGeom prst="rect">
              <a:avLst/>
            </a:prstGeom>
          </p:spPr>
        </p:pic>
        <p:sp>
          <p:nvSpPr>
            <p:cNvPr id="358" name="textbox 358"/>
            <p:cNvSpPr/>
            <p:nvPr/>
          </p:nvSpPr>
          <p:spPr>
            <a:xfrm>
              <a:off x="-12700" y="-12700"/>
              <a:ext cx="4927600" cy="4724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8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44500" algn="l" rtl="0" eaLnBrk="0">
                <a:lnSpc>
                  <a:spcPts val="1088"/>
                </a:lnSpc>
                <a:tabLst/>
              </a:pP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调研记录</a:t>
              </a:r>
              <a:r>
                <a:rPr sz="9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需求归纳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</a:t>
              </a:r>
              <a:r>
                <a:rPr sz="9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竞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品比较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</a:t>
              </a:r>
              <a:r>
                <a:rPr sz="900" kern="0" spc="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方向修正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360" name="textbox 360"/>
          <p:cNvSpPr/>
          <p:nvPr/>
        </p:nvSpPr>
        <p:spPr>
          <a:xfrm>
            <a:off x="552453" y="1828783"/>
            <a:ext cx="1487169" cy="143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74015" algn="l" rtl="0" eaLnBrk="0">
              <a:lnSpc>
                <a:spcPct val="96000"/>
              </a:lnSpc>
              <a:spcBef>
                <a:spcPts val="3"/>
              </a:spcBef>
              <a:tabLst>
                <a:tab pos="516255" algn="l"/>
              </a:tabLst>
            </a:pPr>
            <a:r>
              <a:rPr sz="1300" kern="0" spc="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2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可提交成果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61315" algn="l" rtl="0" eaLnBrk="0">
              <a:lnSpc>
                <a:spcPct val="96000"/>
              </a:lnSpc>
              <a:spcBef>
                <a:spcPts val="335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调研记录表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61315" algn="l" rtl="0" eaLnBrk="0">
              <a:lnSpc>
                <a:spcPct val="96000"/>
              </a:lnSpc>
              <a:spcBef>
                <a:spcPts val="740"/>
              </a:spcBef>
              <a:tabLst/>
            </a:pPr>
            <a:r>
              <a:rPr sz="11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需求归纳表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61315" algn="l" rtl="0" eaLnBrk="0">
              <a:lnSpc>
                <a:spcPct val="96000"/>
              </a:lnSpc>
              <a:spcBef>
                <a:spcPts val="725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竞品分析表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项目方向修正说明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362" name="picture 3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65153" y="1841483"/>
            <a:ext cx="361940" cy="355593"/>
          </a:xfrm>
          <a:prstGeom prst="rect">
            <a:avLst/>
          </a:prstGeom>
        </p:spPr>
      </p:pic>
      <p:sp>
        <p:nvSpPr>
          <p:cNvPr id="364" name="textbox 364"/>
          <p:cNvSpPr/>
          <p:nvPr/>
        </p:nvSpPr>
        <p:spPr>
          <a:xfrm>
            <a:off x="2844813" y="1809722"/>
            <a:ext cx="1894839" cy="4406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750" algn="l" rtl="0" eaLnBrk="0">
              <a:lnSpc>
                <a:spcPct val="95000"/>
              </a:lnSpc>
              <a:tabLst>
                <a:tab pos="516255" algn="l"/>
              </a:tabLst>
            </a:pPr>
            <a:r>
              <a:rPr sz="1300" kern="0" spc="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b="1" kern="0" spc="3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成果样例缩略展示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366" name="picture 36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857513" y="1822422"/>
            <a:ext cx="400056" cy="393715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21600000">
            <a:off x="5670540" y="2355841"/>
            <a:ext cx="1238283" cy="234950"/>
            <a:chOff x="0" y="0"/>
            <a:chExt cx="1238283" cy="234950"/>
          </a:xfrm>
        </p:grpSpPr>
        <p:pic>
          <p:nvPicPr>
            <p:cNvPr id="368" name="picture 36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1238283" cy="234950"/>
            </a:xfrm>
            <a:prstGeom prst="rect">
              <a:avLst/>
            </a:prstGeom>
          </p:spPr>
        </p:pic>
        <p:sp>
          <p:nvSpPr>
            <p:cNvPr id="370" name="textbox 370"/>
            <p:cNvSpPr/>
            <p:nvPr/>
          </p:nvSpPr>
          <p:spPr>
            <a:xfrm>
              <a:off x="-12700" y="-12700"/>
              <a:ext cx="1264285" cy="279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39064" algn="l" rtl="0" eaLnBrk="0">
                <a:lnSpc>
                  <a:spcPct val="96000"/>
                </a:lnSpc>
                <a:spcBef>
                  <a:spcPts val="4"/>
                </a:spcBef>
                <a:tabLst/>
              </a:pPr>
              <a:r>
                <a:rPr sz="1100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需品分析表示例</a:t>
              </a:r>
              <a:endParaRPr sz="1100" dirty="0">
                <a:latin typeface="SimHei"/>
                <a:ea typeface="SimHei"/>
                <a:cs typeface="SimHe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2026-05-06T02:34:27Z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2026-05-06T02:34:36</vt:filetime>
  </property>
  <property fmtid="{D5CDD505-2E9C-101B-9397-08002B2CF9AE}" pid="4" name="UsrData">
    <vt:lpwstr>69fa382e7fe946001f81e35fwl</vt:lpwstr>
  </property>
</Properties>
</file>