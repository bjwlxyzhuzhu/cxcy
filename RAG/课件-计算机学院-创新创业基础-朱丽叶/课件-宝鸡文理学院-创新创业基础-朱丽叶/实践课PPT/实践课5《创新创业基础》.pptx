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jpe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1" Type="http://schemas.openxmlformats.org/officeDocument/2006/relationships/image" Target="../media/image35.jpeg"/><Relationship Id="rId10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jpeg"/><Relationship Id="rId8" Type="http://schemas.openxmlformats.org/officeDocument/2006/relationships/image" Target="../media/image44.jpeg"/><Relationship Id="rId7" Type="http://schemas.openxmlformats.org/officeDocument/2006/relationships/image" Target="../media/image43.jpeg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1" Type="http://schemas.openxmlformats.org/officeDocument/2006/relationships/image" Target="../media/image57.jpeg"/><Relationship Id="rId20" Type="http://schemas.openxmlformats.org/officeDocument/2006/relationships/image" Target="../media/image56.png"/><Relationship Id="rId2" Type="http://schemas.openxmlformats.org/officeDocument/2006/relationships/image" Target="../media/image38.png"/><Relationship Id="rId19" Type="http://schemas.openxmlformats.org/officeDocument/2006/relationships/image" Target="../media/image55.png"/><Relationship Id="rId18" Type="http://schemas.openxmlformats.org/officeDocument/2006/relationships/image" Target="../media/image54.jpeg"/><Relationship Id="rId17" Type="http://schemas.openxmlformats.org/officeDocument/2006/relationships/image" Target="../media/image53.jpeg"/><Relationship Id="rId16" Type="http://schemas.openxmlformats.org/officeDocument/2006/relationships/image" Target="../media/image52.jpeg"/><Relationship Id="rId15" Type="http://schemas.openxmlformats.org/officeDocument/2006/relationships/image" Target="../media/image51.jpeg"/><Relationship Id="rId14" Type="http://schemas.openxmlformats.org/officeDocument/2006/relationships/image" Target="../media/image50.jpeg"/><Relationship Id="rId13" Type="http://schemas.openxmlformats.org/officeDocument/2006/relationships/image" Target="../media/image49.png"/><Relationship Id="rId12" Type="http://schemas.openxmlformats.org/officeDocument/2006/relationships/image" Target="../media/image48.jpeg"/><Relationship Id="rId11" Type="http://schemas.openxmlformats.org/officeDocument/2006/relationships/image" Target="../media/image47.jpeg"/><Relationship Id="rId10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3.jpeg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6370" y="4813323"/>
            <a:ext cx="10547339" cy="1149298"/>
            <a:chOff x="0" y="0"/>
            <a:chExt cx="10547339" cy="114929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47339" cy="1149298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10572750" cy="11963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71575" algn="l" rtl="0" eaLnBrk="0">
                <a:lnSpc>
                  <a:spcPct val="94000"/>
                </a:lnSpc>
                <a:spcBef>
                  <a:spcPts val="4"/>
                </a:spcBef>
                <a:tabLst/>
              </a:pPr>
              <a:r>
                <a:rPr sz="19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分工更清晰，迭代更有效。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8" name="textbox 8"/>
          <p:cNvSpPr/>
          <p:nvPr/>
        </p:nvSpPr>
        <p:spPr>
          <a:xfrm>
            <a:off x="395296" y="1298544"/>
            <a:ext cx="4363084" cy="150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4500" b="1" kern="0" spc="-4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先把团队组织好，</a:t>
            </a:r>
            <a:endParaRPr sz="45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6421"/>
              </a:lnSpc>
              <a:tabLst/>
            </a:pPr>
            <a:r>
              <a:rPr sz="4900" b="1" kern="0" spc="-4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再把方案打磨好</a:t>
            </a:r>
            <a:endParaRPr sz="49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25471" y="3230342"/>
            <a:ext cx="3607434" cy="1065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3000"/>
              </a:lnSpc>
              <a:tabLst/>
            </a:pP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围绕角色分工、资源梳理、风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险识别与迭代优化，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推动项目方案升级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08965" algn="l" rtl="0" eaLnBrk="0">
              <a:lnSpc>
                <a:spcPct val="96000"/>
              </a:lnSpc>
              <a:tabLst/>
            </a:pPr>
            <a:r>
              <a:rPr sz="1200" kern="0" spc="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对应理论模块：模块3商业模式</a:t>
            </a:r>
            <a:r>
              <a:rPr sz="1200" kern="0" spc="-1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与项目设计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203147" y="114276"/>
            <a:ext cx="6777355" cy="575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6100" algn="l" rtl="0" eaLnBrk="0">
              <a:lnSpc>
                <a:spcPct val="94000"/>
              </a:lnSpc>
              <a:tabLst>
                <a:tab pos="78359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b="1" kern="0" spc="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|第5次：团队分工与项目方案迭代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5847" y="126976"/>
            <a:ext cx="533408" cy="527085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896363" y="812827"/>
            <a:ext cx="1714465" cy="1346186"/>
            <a:chOff x="0" y="0"/>
            <a:chExt cx="1714465" cy="1346186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714465" cy="1346186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-12700" y="-12700"/>
              <a:ext cx="1739900" cy="13925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4150" algn="l" rtl="0" eaLnBrk="0">
                <a:lnSpc>
                  <a:spcPts val="738"/>
                </a:lnSpc>
                <a:spcBef>
                  <a:spcPts val="6"/>
                </a:spcBef>
                <a:tabLst/>
              </a:pPr>
              <a:r>
                <a:rPr sz="600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项目题景</a:t>
              </a:r>
              <a:endParaRPr sz="600" dirty="0">
                <a:latin typeface="SimHei"/>
                <a:ea typeface="SimHei"/>
                <a:cs typeface="SimHei"/>
              </a:endParaRPr>
            </a:p>
            <a:p>
              <a:pPr marL="254000" algn="l" rtl="0" eaLnBrk="0">
                <a:lnSpc>
                  <a:spcPct val="95000"/>
                </a:lnSpc>
                <a:spcBef>
                  <a:spcPts val="687"/>
                </a:spcBef>
                <a:tabLst/>
              </a:pPr>
              <a:r>
                <a:rPr sz="1200" kern="0" spc="-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用创新方案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247650" algn="l" rtl="0" eaLnBrk="0">
                <a:lnSpc>
                  <a:spcPct val="96000"/>
                </a:lnSpc>
                <a:spcBef>
                  <a:spcPts val="227"/>
                </a:spcBef>
                <a:tabLst/>
              </a:pPr>
              <a:r>
                <a:rPr sz="1200" kern="0" spc="-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创造真实价值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127586" y="1057269"/>
          <a:ext cx="1561464" cy="932814"/>
        </p:xfrm>
        <a:graphic>
          <a:graphicData uri="http://schemas.openxmlformats.org/drawingml/2006/table">
            <a:tbl>
              <a:tblPr/>
              <a:tblGrid>
                <a:gridCol w="244475"/>
                <a:gridCol w="533400"/>
                <a:gridCol w="342900"/>
                <a:gridCol w="342265"/>
                <a:gridCol w="98425"/>
              </a:tblGrid>
              <a:tr h="161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-3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阶</a:t>
                      </a:r>
                      <a:r>
                        <a:rPr sz="600" b="1" kern="0" spc="-30" dirty="0">
                          <a:solidFill>
                            <a:srgbClr val="305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段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-20" dirty="0">
                          <a:solidFill>
                            <a:srgbClr val="305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-20" dirty="0">
                          <a:solidFill>
                            <a:srgbClr val="104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负责人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8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-20" dirty="0">
                          <a:solidFill>
                            <a:srgbClr val="104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</a:t>
                      </a:r>
                      <a:r>
                        <a:rPr sz="600" b="1" kern="0" spc="-2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度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ts val="75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5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调研分析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小张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3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100%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ts val="75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406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方案设计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80%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04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方案验证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小王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60%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遍代优化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30" dirty="0">
                          <a:solidFill>
                            <a:srgbClr val="202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</a:t>
                      </a:r>
                      <a:r>
                        <a:rPr sz="6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陈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2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30%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04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汇报准备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小赵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7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0%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box 22"/>
          <p:cNvSpPr/>
          <p:nvPr/>
        </p:nvSpPr>
        <p:spPr>
          <a:xfrm>
            <a:off x="6496069" y="3450629"/>
            <a:ext cx="1348739" cy="892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ts val="625"/>
              </a:lnSpc>
              <a:tabLst/>
            </a:pP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</a:t>
            </a:r>
            <a:r>
              <a:rPr sz="500" kern="0" spc="-1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</a:t>
            </a:r>
            <a:r>
              <a:rPr sz="500" kern="0" spc="-2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式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</a:t>
            </a:r>
            <a:r>
              <a:rPr sz="500" kern="0" spc="-4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布</a:t>
            </a:r>
            <a:r>
              <a:rPr sz="500" kern="0" spc="8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</a:t>
            </a:r>
            <a:r>
              <a:rPr sz="500" kern="0" spc="-3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草</a:t>
            </a:r>
            <a:r>
              <a:rPr sz="500" kern="0" spc="-3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</a:t>
            </a:r>
            <a:r>
              <a:rPr sz="500" kern="0" spc="-4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1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74000"/>
              </a:lnSpc>
              <a:spcBef>
                <a:spcPts val="539"/>
              </a:spcBef>
              <a:tabLst/>
            </a:pPr>
            <a:r>
              <a:rPr sz="600" kern="0" spc="-9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关镀业务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    </a:t>
            </a:r>
            <a:r>
              <a:rPr sz="300" b="1" kern="0" spc="7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价</a:t>
            </a:r>
            <a:r>
              <a:rPr sz="300" kern="0" spc="12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00" b="1" kern="0" spc="7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</a:t>
            </a:r>
            <a:r>
              <a:rPr sz="300" kern="0" spc="11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00" b="1" kern="0" spc="7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主</a:t>
            </a:r>
            <a:r>
              <a:rPr sz="300" kern="0" spc="11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00" b="1" kern="0" spc="7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胀</a:t>
            </a:r>
            <a:r>
              <a:rPr sz="300" kern="0" spc="0" dirty="0">
                <a:solidFill>
                  <a:srgbClr val="102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400" kern="0" spc="70" dirty="0">
                <a:solidFill>
                  <a:srgbClr val="102060">
                    <a:alpha val="100000"/>
                  </a:srgbClr>
                </a:solidFill>
                <a:latin typeface="LiSu"/>
                <a:ea typeface="LiSu"/>
                <a:cs typeface="LiSu"/>
              </a:rPr>
              <a:t>客户美肠</a:t>
            </a:r>
            <a:endParaRPr sz="4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21714" algn="l" rtl="0" eaLnBrk="0">
              <a:lnSpc>
                <a:spcPts val="623"/>
              </a:lnSpc>
              <a:tabLst/>
            </a:pPr>
            <a:r>
              <a:rPr sz="500" kern="0" spc="11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收入来源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7581888" y="1220751"/>
            <a:ext cx="803275" cy="948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34"/>
              </a:lnSpc>
              <a:tabLst/>
            </a:pPr>
            <a:r>
              <a:rPr sz="1100" kern="0" spc="-10" baseline="-2793" dirty="0">
                <a:solidFill>
                  <a:srgbClr val="2050B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复鱼</a:t>
            </a:r>
            <a:r>
              <a:rPr sz="700" kern="0" spc="20" dirty="0">
                <a:solidFill>
                  <a:srgbClr val="2050B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        </a:t>
            </a:r>
            <a:r>
              <a:rPr sz="1000" b="1" kern="0" spc="-10" baseline="7344" dirty="0">
                <a:solidFill>
                  <a:srgbClr val="2050B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优</a:t>
            </a:r>
            <a:r>
              <a:rPr sz="1000" kern="0" spc="-10" baseline="7344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</a:t>
            </a:r>
            <a:endParaRPr sz="1000" baseline="7344" dirty="0">
              <a:latin typeface="SimHei"/>
              <a:ea typeface="SimHei"/>
              <a:cs typeface="SimHei"/>
            </a:endParaRPr>
          </a:p>
          <a:p>
            <a:pPr marL="304165" algn="l" rtl="0" eaLnBrk="0">
              <a:lnSpc>
                <a:spcPct val="77000"/>
              </a:lnSpc>
              <a:spcBef>
                <a:spcPts val="989"/>
              </a:spcBef>
              <a:tabLst/>
            </a:pPr>
            <a:r>
              <a:rPr sz="700" kern="0" spc="-20" dirty="0">
                <a:solidFill>
                  <a:srgbClr val="2050B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验证</a:t>
            </a:r>
            <a:endParaRPr sz="700" dirty="0">
              <a:latin typeface="STXingkai"/>
              <a:ea typeface="STXingkai"/>
              <a:cs typeface="STXingkai"/>
            </a:endParaRPr>
          </a:p>
          <a:p>
            <a:pPr marL="222250" algn="l" rtl="0" eaLnBrk="0">
              <a:lnSpc>
                <a:spcPct val="85000"/>
              </a:lnSpc>
              <a:spcBef>
                <a:spcPts val="1272"/>
              </a:spcBef>
              <a:tabLst/>
            </a:pPr>
            <a:r>
              <a:rPr sz="600" kern="0" spc="8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枝心目标</a:t>
            </a:r>
            <a:endParaRPr sz="600" dirty="0">
              <a:latin typeface="STXingkai"/>
              <a:ea typeface="STXingkai"/>
              <a:cs typeface="STXingkai"/>
            </a:endParaRPr>
          </a:p>
          <a:p>
            <a:pPr marL="222250" algn="l" rtl="0" eaLnBrk="0">
              <a:lnSpc>
                <a:spcPts val="759"/>
              </a:lnSpc>
              <a:spcBef>
                <a:spcPts val="168"/>
              </a:spcBef>
              <a:tabLst/>
            </a:pPr>
            <a:r>
              <a:rPr sz="500" kern="0" spc="0" dirty="0">
                <a:solidFill>
                  <a:srgbClr val="1040C0">
                    <a:alpha val="100000"/>
                  </a:srgbClr>
                </a:solidFill>
                <a:latin typeface="LiSu"/>
                <a:ea typeface="LiSu"/>
                <a:cs typeface="LiSu"/>
              </a:rPr>
              <a:t>√</a:t>
            </a:r>
            <a:r>
              <a:rPr sz="500" kern="0" spc="0" dirty="0">
                <a:solidFill>
                  <a:srgbClr val="1040C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500" kern="0" spc="0" dirty="0">
                <a:solidFill>
                  <a:srgbClr val="1040C0">
                    <a:alpha val="100000"/>
                  </a:srgbClr>
                </a:solidFill>
                <a:latin typeface="LiSu"/>
                <a:ea typeface="LiSu"/>
                <a:cs typeface="LiSu"/>
              </a:rPr>
              <a:t>客户价值提升</a:t>
            </a:r>
            <a:endParaRPr sz="5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121000"/>
              </a:lnSpc>
              <a:tabLst/>
            </a:pPr>
            <a:r>
              <a:rPr sz="500" kern="0" spc="-20" dirty="0">
                <a:solidFill>
                  <a:srgbClr val="2070F0">
                    <a:alpha val="100000"/>
                  </a:srgbClr>
                </a:solidFill>
                <a:latin typeface="LiSu"/>
                <a:ea typeface="LiSu"/>
                <a:cs typeface="LiSu"/>
              </a:rPr>
              <a:t>√</a:t>
            </a:r>
            <a:r>
              <a:rPr sz="500" kern="0" spc="-70" dirty="0">
                <a:solidFill>
                  <a:srgbClr val="2070F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500" kern="0" spc="-20" dirty="0">
                <a:solidFill>
                  <a:srgbClr val="2050B0">
                    <a:alpha val="100000"/>
                  </a:srgbClr>
                </a:solidFill>
                <a:latin typeface="LiSu"/>
                <a:ea typeface="LiSu"/>
                <a:cs typeface="LiSu"/>
              </a:rPr>
              <a:t>底本铭构仇化</a:t>
            </a:r>
            <a:r>
              <a:rPr sz="500" kern="0" spc="0" dirty="0">
                <a:solidFill>
                  <a:srgbClr val="2050B0">
                    <a:alpha val="100000"/>
                  </a:srgbClr>
                </a:solidFill>
                <a:latin typeface="LiSu"/>
                <a:ea typeface="LiSu"/>
                <a:cs typeface="LiSu"/>
              </a:rPr>
              <a:t>     </a:t>
            </a:r>
            <a:r>
              <a:rPr sz="600" kern="0" spc="-40" dirty="0">
                <a:solidFill>
                  <a:srgbClr val="2070F0">
                    <a:alpha val="100000"/>
                  </a:srgbClr>
                </a:solidFill>
                <a:latin typeface="LiSu"/>
                <a:ea typeface="LiSu"/>
                <a:cs typeface="LiSu"/>
              </a:rPr>
              <a:t>√</a:t>
            </a:r>
            <a:r>
              <a:rPr sz="600" kern="0" spc="-20" dirty="0">
                <a:solidFill>
                  <a:srgbClr val="2070F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600" kern="0" spc="-40" dirty="0">
                <a:solidFill>
                  <a:srgbClr val="2050B0">
                    <a:alpha val="100000"/>
                  </a:srgbClr>
                </a:solidFill>
                <a:latin typeface="LiSu"/>
                <a:ea typeface="LiSu"/>
                <a:cs typeface="LiSu"/>
              </a:rPr>
              <a:t>可续仪益件</a:t>
            </a:r>
            <a:endParaRPr sz="600" dirty="0">
              <a:latin typeface="LiSu"/>
              <a:ea typeface="LiSu"/>
              <a:cs typeface="LiSu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832353" y="3661482"/>
            <a:ext cx="538480" cy="874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800" kern="0" spc="-7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任</a:t>
            </a:r>
            <a:r>
              <a:rPr sz="800" kern="0" spc="-7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务清单</a:t>
            </a:r>
            <a:endParaRPr sz="800" dirty="0">
              <a:latin typeface="LiSu"/>
              <a:ea typeface="LiSu"/>
              <a:cs typeface="LiSu"/>
            </a:endParaRPr>
          </a:p>
          <a:p>
            <a:pPr marL="13334" algn="l" rtl="0" eaLnBrk="0">
              <a:lnSpc>
                <a:spcPts val="504"/>
              </a:lnSpc>
              <a:spcBef>
                <a:spcPts val="658"/>
              </a:spcBef>
              <a:tabLst/>
            </a:pPr>
            <a:r>
              <a:rPr sz="4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市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场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调研与</a:t>
            </a:r>
            <a:r>
              <a:rPr sz="4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</a:t>
            </a:r>
            <a:endParaRPr sz="400" dirty="0">
              <a:latin typeface="SimSun"/>
              <a:ea typeface="SimSun"/>
              <a:cs typeface="SimSun"/>
            </a:endParaRPr>
          </a:p>
          <a:p>
            <a:pPr marL="12700" indent="-635" algn="l" rtl="0" eaLnBrk="0">
              <a:lnSpc>
                <a:spcPct val="123000"/>
              </a:lnSpc>
              <a:spcBef>
                <a:spcPts val="406"/>
              </a:spcBef>
              <a:tabLst/>
            </a:pP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用  户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需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求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较理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    </a:t>
            </a:r>
            <a:r>
              <a:rPr sz="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方案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设计与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</a:t>
            </a:r>
            <a:r>
              <a:rPr sz="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证</a:t>
            </a:r>
            <a:endParaRPr sz="500" dirty="0">
              <a:latin typeface="SimSun"/>
              <a:ea typeface="SimSun"/>
              <a:cs typeface="SimSun"/>
            </a:endParaRPr>
          </a:p>
          <a:p>
            <a:pPr marL="57150" algn="l" rtl="0" eaLnBrk="0">
              <a:lnSpc>
                <a:spcPts val="516"/>
              </a:lnSpc>
              <a:spcBef>
                <a:spcPts val="434"/>
              </a:spcBef>
              <a:tabLst/>
            </a:pP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成   本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与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定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价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测</a:t>
            </a:r>
            <a:endParaRPr sz="400" dirty="0">
              <a:latin typeface="SimHei"/>
              <a:ea typeface="SimHei"/>
              <a:cs typeface="SimHei"/>
            </a:endParaRPr>
          </a:p>
          <a:p>
            <a:pPr marL="69214" algn="l" rtl="0" eaLnBrk="0">
              <a:lnSpc>
                <a:spcPts val="495"/>
              </a:lnSpc>
              <a:spcBef>
                <a:spcPts val="509"/>
              </a:spcBef>
              <a:tabLst/>
            </a:pP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方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案追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代</a:t>
            </a:r>
            <a:r>
              <a:rPr sz="400" kern="0" spc="-7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优</a:t>
            </a:r>
            <a:r>
              <a:rPr sz="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化</a:t>
            </a:r>
            <a:endParaRPr sz="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16"/>
              </a:lnSpc>
              <a:spcBef>
                <a:spcPts val="3"/>
              </a:spcBef>
              <a:tabLst/>
            </a:pP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汇报与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限示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滑备</a:t>
            </a:r>
            <a:endParaRPr sz="4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5340385" y="873505"/>
            <a:ext cx="2821304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72"/>
              </a:lnSpc>
              <a:tabLst/>
            </a:pPr>
            <a:r>
              <a:rPr sz="800" kern="0" spc="-10" dirty="0">
                <a:solidFill>
                  <a:srgbClr val="1040C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项目进度看板</a:t>
            </a:r>
            <a:r>
              <a:rPr sz="800" kern="0" spc="10" dirty="0">
                <a:solidFill>
                  <a:srgbClr val="1040C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                                </a:t>
            </a:r>
            <a:r>
              <a:rPr sz="700" kern="0" spc="-1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迭</a:t>
            </a:r>
            <a:r>
              <a:rPr sz="700" kern="0" spc="16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700" kern="0" spc="-1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代</a:t>
            </a:r>
            <a:r>
              <a:rPr sz="700" kern="0" spc="15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700" kern="0" spc="-1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思</a:t>
            </a:r>
            <a:r>
              <a:rPr sz="700" kern="0" spc="13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700" kern="0" spc="-10" dirty="0">
                <a:solidFill>
                  <a:srgbClr val="1040C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路</a:t>
            </a:r>
            <a:endParaRPr sz="700" dirty="0">
              <a:latin typeface="STXingkai"/>
              <a:ea typeface="STXingkai"/>
              <a:cs typeface="STXingka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81051" y="3892522"/>
            <a:ext cx="546042" cy="55881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77365" y="260346"/>
            <a:ext cx="679501" cy="285741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6889753" y="2973668"/>
            <a:ext cx="1539239" cy="96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6"/>
              </a:lnSpc>
              <a:tabLst/>
            </a:pPr>
            <a:r>
              <a:rPr sz="600" kern="0" spc="40" baseline="-400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运管负责人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</a:t>
            </a:r>
            <a:r>
              <a:rPr sz="600" kern="0" spc="40" baseline="13357" dirty="0">
                <a:solidFill>
                  <a:srgbClr val="D03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市场负责人</a:t>
            </a:r>
            <a:endParaRPr sz="600" baseline="13357" dirty="0">
              <a:latin typeface="SimHei"/>
              <a:ea typeface="SimHei"/>
              <a:cs typeface="Sim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9004275" y="3615328"/>
            <a:ext cx="337820" cy="369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32"/>
              </a:lnSpc>
              <a:tabLst/>
            </a:pP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下</a:t>
            </a:r>
            <a:r>
              <a:rPr sz="400" kern="0" spc="30" dirty="0">
                <a:solidFill>
                  <a:srgbClr val="101040">
                    <a:alpha val="100000"/>
                  </a:srgbClr>
                </a:solidFill>
                <a:latin typeface="LiSu"/>
                <a:ea typeface="LiSu"/>
                <a:cs typeface="LiSu"/>
              </a:rPr>
              <a:t>次</a:t>
            </a:r>
            <a:r>
              <a:rPr sz="400" kern="0" spc="30" dirty="0">
                <a:solidFill>
                  <a:srgbClr val="102060">
                    <a:alpha val="100000"/>
                  </a:srgbClr>
                </a:solidFill>
                <a:latin typeface="LiSu"/>
                <a:ea typeface="LiSu"/>
                <a:cs typeface="LiSu"/>
              </a:rPr>
              <a:t>迎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代</a:t>
            </a:r>
            <a:endParaRPr sz="400" dirty="0">
              <a:latin typeface="LiSu"/>
              <a:ea typeface="LiSu"/>
              <a:cs typeface="LiSu"/>
            </a:endParaRPr>
          </a:p>
          <a:p>
            <a:pPr marL="31750" algn="l" rtl="0" eaLnBrk="0">
              <a:lnSpc>
                <a:spcPct val="82000"/>
              </a:lnSpc>
              <a:spcBef>
                <a:spcPts val="893"/>
              </a:spcBef>
              <a:tabLst/>
            </a:pP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穷监漫澄设针</a:t>
            </a:r>
            <a:endParaRPr sz="4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10"/>
              </a:lnSpc>
              <a:spcBef>
                <a:spcPts val="2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忱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化欣入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皓鸭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8478053" y="3601694"/>
            <a:ext cx="346709" cy="313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96000"/>
              </a:lnSpc>
              <a:tabLst/>
            </a:pP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本</a:t>
            </a:r>
            <a:r>
              <a:rPr sz="300" kern="0" spc="12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次</a:t>
            </a:r>
            <a:r>
              <a:rPr sz="300" kern="0" spc="1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逸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代</a:t>
            </a:r>
            <a:endParaRPr sz="3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11429" algn="l" rtl="0" eaLnBrk="0">
              <a:lnSpc>
                <a:spcPct val="165000"/>
              </a:lnSpc>
              <a:spcBef>
                <a:spcPts val="2"/>
              </a:spcBef>
              <a:tabLst/>
            </a:pPr>
            <a:r>
              <a:rPr sz="400" kern="0" spc="-20" dirty="0">
                <a:solidFill>
                  <a:srgbClr val="A0303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使</a:t>
            </a:r>
            <a:r>
              <a:rPr sz="400" kern="0" spc="10" dirty="0">
                <a:solidFill>
                  <a:srgbClr val="A0303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化价值主张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 </a:t>
            </a: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铝化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寡户确劳</a:t>
            </a:r>
            <a:endParaRPr sz="400" dirty="0">
              <a:latin typeface="LiSu"/>
              <a:ea typeface="LiSu"/>
              <a:cs typeface="LiSu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7156457" y="2612128"/>
            <a:ext cx="320675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indent="-18415" algn="l" rtl="0" eaLnBrk="0">
              <a:lnSpc>
                <a:spcPct val="108000"/>
              </a:lnSpc>
              <a:tabLst/>
            </a:pP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明憩分工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各负其责</a:t>
            </a:r>
            <a:endParaRPr sz="500" dirty="0">
              <a:latin typeface="LiSu"/>
              <a:ea typeface="LiSu"/>
              <a:cs typeface="LiSu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8775687" y="3427756"/>
            <a:ext cx="382270" cy="126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迭代计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划</a:t>
            </a:r>
            <a:endParaRPr sz="7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7886709" y="3569336"/>
            <a:ext cx="31051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客户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6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分</a:t>
            </a:r>
            <a:endParaRPr sz="600" dirty="0">
              <a:latin typeface="LiSu"/>
              <a:ea typeface="LiSu"/>
              <a:cs typeface="LiS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603203" y="2115285"/>
            <a:ext cx="2980054" cy="1934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2960" algn="l" rtl="0" eaLnBrk="0">
              <a:lnSpc>
                <a:spcPct val="96000"/>
              </a:lnSpc>
              <a:tabLst/>
            </a:pPr>
            <a:r>
              <a:rPr sz="2100" b="1" kern="0" spc="13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kern="0" spc="-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2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明确团队内部角色与任务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068"/>
              </a:spcBef>
              <a:tabLst/>
            </a:pPr>
            <a:r>
              <a:rPr sz="1300" kern="0" spc="-6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29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学会梳理项目推进所需资源与支持条件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568"/>
              </a:spcBef>
              <a:tabLst/>
            </a:pPr>
            <a:r>
              <a:rPr sz="1300" kern="0" spc="-5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-5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学会识别项目中的主要风险点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6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16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在反馈基础上完成第一次方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案迭代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374615" y="776193"/>
            <a:ext cx="5125720" cy="935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69" algn="l" rtl="0" eaLnBrk="0">
              <a:lnSpc>
                <a:spcPct val="94000"/>
              </a:lnSpc>
              <a:tabLst/>
            </a:pPr>
            <a:r>
              <a:rPr sz="4300" b="1" kern="0" spc="11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实践目标与核心任务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从“有创意”走向“能推进”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861334" y="2121565"/>
            <a:ext cx="1584960" cy="2014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100" b="1" kern="0" spc="1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60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团队分工表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341"/>
              </a:lnSpc>
              <a:tabLst/>
            </a:pP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任务进度表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00"/>
              </a:lnSpc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资源清单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134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风险清单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项目方案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4699000" y="2088395"/>
            <a:ext cx="1506219" cy="2047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300" b="1" kern="0" spc="-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8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团队角色分配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868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任务清单制定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014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资源清单梳理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880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风险识别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方案迭代优化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35815" y="4512235"/>
            <a:ext cx="8559800" cy="217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300" b="1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</a:t>
            </a:r>
            <a:r>
              <a:rPr sz="1300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角色分工</a:t>
            </a:r>
            <a:r>
              <a:rPr sz="1300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资源配置</a:t>
            </a:r>
            <a:r>
              <a:rPr sz="13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风险识别</a:t>
            </a:r>
            <a:r>
              <a:rPr sz="1300" kern="0" spc="4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3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方案迭代</a:t>
            </a:r>
            <a:r>
              <a:rPr sz="13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项目推进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834906" y="214762"/>
            <a:ext cx="61010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59967" y="165098"/>
            <a:ext cx="679394" cy="292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374615" y="338645"/>
            <a:ext cx="7240269" cy="1696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2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1116"/>
              </a:spcBef>
              <a:tabLst/>
            </a:pPr>
            <a:r>
              <a:rPr sz="3700" b="1" kern="0" spc="-27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任务导入：为什么项目推进常常卡</a:t>
            </a:r>
            <a:r>
              <a:rPr sz="3700" b="1" kern="0" spc="-28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住?</a:t>
            </a:r>
            <a:endParaRPr sz="3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3339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6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好想法不等于能落地，</a:t>
            </a:r>
            <a:r>
              <a:rPr sz="16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问题往往出在协作与推进机制上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4895843" y="4038587"/>
            <a:ext cx="5007609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9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9115" algn="l" rtl="0" eaLnBrk="0">
              <a:lnSpc>
                <a:spcPct val="92000"/>
              </a:lnSpc>
              <a:tabLst>
                <a:tab pos="732790" algn="l"/>
              </a:tabLst>
            </a:pPr>
            <a:r>
              <a:rPr sz="1700" kern="0" spc="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-7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项目不是一次定型，而是在</a:t>
            </a:r>
            <a:r>
              <a:rPr sz="1700" b="1" kern="0" spc="-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协作中不断变好。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08543" y="4051287"/>
            <a:ext cx="527037" cy="533419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1289074" y="2621155"/>
            <a:ext cx="3060700" cy="827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2000"/>
              </a:lnSpc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分工模糊，事情容易重复或遗漏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31000"/>
              </a:lnSpc>
              <a:spcBef>
                <a:spcPts val="99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任务不拆解，大家只知道“要做”却不知道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“怎么做”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资源不清楚，推进时才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发现条件不足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缺少复盘与反馈，方案停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留在初版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1130347" y="3700905"/>
            <a:ext cx="1998979" cy="1137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600" b="1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为什么要迭代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732"/>
              </a:spcBef>
              <a:tabLst/>
            </a:pPr>
            <a:r>
              <a:rPr sz="900" kern="0" spc="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30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让方案从想法走向可执行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444"/>
              </a:spcBef>
              <a:tabLst/>
            </a:pPr>
            <a:r>
              <a:rPr sz="1100" kern="0" spc="-10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2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在反馈中修正逻辑漏洞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537"/>
              </a:spcBef>
              <a:tabLst/>
            </a:pPr>
            <a:r>
              <a:rPr sz="900" kern="0" spc="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27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逐步补齐资源、进度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与风险安排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100" kern="0" spc="-9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26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形成更成熟的项目方案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V2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854017" y="303675"/>
            <a:ext cx="61074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133889" y="5410513"/>
            <a:ext cx="41744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推进机制越清楚，项目越容</a:t>
            </a:r>
            <a:r>
              <a:rPr sz="19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易落地。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4158" y="3683026"/>
            <a:ext cx="438171" cy="438112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4158" y="2279655"/>
            <a:ext cx="438171" cy="431778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1133253" y="2296173"/>
            <a:ext cx="822960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常见卡点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7139646" y="3157733"/>
            <a:ext cx="66294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执行推进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996647" y="3153816"/>
            <a:ext cx="63754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</a:t>
            </a:r>
            <a:r>
              <a:rPr sz="13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</a:t>
            </a:r>
            <a:r>
              <a:rPr sz="13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8301578" y="3171517"/>
            <a:ext cx="651509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收集反馈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419252" y="3171517"/>
            <a:ext cx="64960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方案优化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4840902" y="3172583"/>
            <a:ext cx="630555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初步想法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130347" y="2621155"/>
            <a:ext cx="92710" cy="815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6"/>
              </a:lnSpc>
              <a:tabLst/>
            </a:pPr>
            <a:r>
              <a:rPr sz="500" kern="0" spc="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74000"/>
              </a:lnSpc>
              <a:spcBef>
                <a:spcPts val="189"/>
              </a:spcBef>
              <a:tabLst/>
            </a:pPr>
            <a:r>
              <a:rPr sz="500" kern="0" spc="1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500" kern="0" spc="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1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6"/>
              </a:lnSpc>
              <a:spcBef>
                <a:spcPts val="2"/>
              </a:spcBef>
              <a:tabLst/>
            </a:pPr>
            <a:r>
              <a:rPr sz="500" kern="0" spc="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368351" y="350904"/>
            <a:ext cx="7288530" cy="2165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9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200" algn="l" rtl="0" eaLnBrk="0">
              <a:lnSpc>
                <a:spcPct val="97000"/>
              </a:lnSpc>
              <a:spcBef>
                <a:spcPts val="1142"/>
              </a:spcBef>
              <a:tabLst/>
            </a:pPr>
            <a:r>
              <a:rPr sz="3800" b="1" kern="0" spc="1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团队角色分配与职责设计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56514" algn="l" rtl="0" eaLnBrk="0">
              <a:lnSpc>
                <a:spcPct val="98000"/>
              </a:lnSpc>
              <a:spcBef>
                <a:spcPts val="431"/>
              </a:spcBef>
              <a:tabLst/>
            </a:pP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先明确谁负责什么,再进入高效协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1300" b="1" kern="0" spc="-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项目负责人</a:t>
            </a:r>
            <a:r>
              <a:rPr sz="1300" kern="0" spc="2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1300" b="1" kern="0" spc="-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用户研究负责人</a:t>
            </a:r>
            <a:r>
              <a:rPr sz="1300" kern="0" spc="-6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1300" kern="0" spc="-7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300" b="1" kern="0" spc="-7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产品方案负责人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146523" y="4758487"/>
            <a:ext cx="4737734" cy="949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94179" algn="l" rtl="0" eaLnBrk="0">
              <a:lnSpc>
                <a:spcPct val="92000"/>
              </a:lnSpc>
              <a:tabLst/>
            </a:pPr>
            <a:r>
              <a:rPr sz="1300" b="1" kern="0" spc="-2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分工不是分家，而是为了更高效地协同</a:t>
            </a:r>
            <a:r>
              <a:rPr sz="1300" b="1" kern="0" spc="-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9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角色更清楚，协作更顺畅。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8676985" y="1369850"/>
            <a:ext cx="1010919" cy="296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6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协作原则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ct val="97000"/>
              </a:lnSpc>
              <a:spcBef>
                <a:spcPts val="457"/>
              </a:spcBef>
              <a:tabLst/>
            </a:pPr>
            <a:r>
              <a:rPr sz="15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目标一致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ct val="96000"/>
              </a:lnSpc>
              <a:spcBef>
                <a:spcPts val="455"/>
              </a:spcBef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信息同步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60"/>
              </a:spcBef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定期复盘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互相补位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854017" y="297282"/>
            <a:ext cx="61074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1596255" y="3590833"/>
            <a:ext cx="4295775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商业与财务负责人</a:t>
            </a:r>
            <a:r>
              <a:rPr sz="1300" kern="0" spc="4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300" kern="0" spc="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500" kern="0" spc="0" baseline="-1875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300" b="1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</a:t>
            </a:r>
            <a:r>
              <a:rPr sz="1300" b="1" kern="0" spc="-1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演与材料负责人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4190967" y="4006134"/>
            <a:ext cx="1632585" cy="412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整理文档、可视化材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料、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汇报表达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3746531" y="2716075"/>
            <a:ext cx="1638300" cy="398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34" rIns="0" bIns="0"/>
          <a:lstStyle/>
          <a:p>
            <a:pPr marL="24765" indent="-12064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跟进用户信息、反馈整理、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需求验证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238218" y="4005524"/>
            <a:ext cx="1555114" cy="410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8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分析成本、收益、资源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与可行性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238218" y="2716075"/>
            <a:ext cx="1442085" cy="40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统筹目标、分配任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务、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把控节奏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6318229" y="2716075"/>
            <a:ext cx="1285875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1500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梳理方案结构、明确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功能与流程</a:t>
            </a:r>
            <a:endParaRPr sz="1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40" y="4311633"/>
            <a:ext cx="10598089" cy="1650989"/>
          </a:xfrm>
          <a:prstGeom prst="rect">
            <a:avLst/>
          </a:prstGeom>
        </p:spPr>
      </p:pic>
      <p:graphicFrame>
        <p:nvGraphicFramePr>
          <p:cNvPr id="122" name="table 122"/>
          <p:cNvGraphicFramePr>
            <a:graphicFrameLocks noGrp="1"/>
          </p:cNvGraphicFramePr>
          <p:nvPr/>
        </p:nvGraphicFramePr>
        <p:xfrm>
          <a:off x="5013345" y="1577962"/>
          <a:ext cx="5193664" cy="2640964"/>
        </p:xfrm>
        <a:graphic>
          <a:graphicData uri="http://schemas.openxmlformats.org/drawingml/2006/table">
            <a:tbl>
              <a:tblPr/>
              <a:tblGrid>
                <a:gridCol w="765175"/>
                <a:gridCol w="1524000"/>
                <a:gridCol w="1174114"/>
                <a:gridCol w="742950"/>
                <a:gridCol w="987425"/>
              </a:tblGrid>
              <a:tr h="403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阶段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354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主要任务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负责人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输出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102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第1阶段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项目问题与目标梳理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527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项目负责人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第1周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项目目标卡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第2阶段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用户验证与反馈整理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用户研究负责人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第1-2周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反馈记录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第3阶段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商业模式与资源修订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商业与财务负责人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第2周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修订说明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第4阶段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方案优化与V2整合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产品方案负责人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第3周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项目方案V2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第5阶段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材料汇总与展示准备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路演与材料负责人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第3周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展示材料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4" name="table 124"/>
          <p:cNvGraphicFramePr>
            <a:graphicFrameLocks noGrp="1"/>
          </p:cNvGraphicFramePr>
          <p:nvPr/>
        </p:nvGraphicFramePr>
        <p:xfrm>
          <a:off x="419060" y="2162172"/>
          <a:ext cx="2952114" cy="2476500"/>
        </p:xfrm>
        <a:graphic>
          <a:graphicData uri="http://schemas.openxmlformats.org/drawingml/2006/table">
            <a:tbl>
              <a:tblPr/>
              <a:tblGrid>
                <a:gridCol w="2952114"/>
              </a:tblGrid>
              <a:tr h="498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22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000" b="1" kern="0" spc="-50" baseline="-5208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1900" kern="0" spc="5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b="1" kern="0" spc="-5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任务拆解建议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000" kern="0" spc="-40" baseline="-347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①</a:t>
                      </a:r>
                      <a:r>
                        <a:rPr sz="1900" kern="0" spc="4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-40" baseline="260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方案梳理</a:t>
                      </a:r>
                      <a:endParaRPr sz="2000" baseline="2604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14300" algn="l" rtl="0" eaLnBrk="0">
                        <a:lnSpc>
                          <a:spcPct val="96000"/>
                        </a:lnSpc>
                        <a:spcBef>
                          <a:spcPts val="711"/>
                        </a:spcBef>
                        <a:tabLst/>
                      </a:pPr>
                      <a:r>
                        <a:rPr sz="3300" kern="0" spc="-30" baseline="-6313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②</a:t>
                      </a:r>
                      <a:r>
                        <a:rPr sz="2100" kern="0" spc="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-30" baseline="520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用户验证</a:t>
                      </a:r>
                      <a:endParaRPr sz="2000" baseline="5208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000" kern="0" spc="-20" baseline="-347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③</a:t>
                      </a:r>
                      <a:r>
                        <a:rPr sz="1900" kern="0" spc="4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-20" baseline="260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资源确认</a:t>
                      </a:r>
                      <a:endParaRPr sz="2000" baseline="2604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3000" kern="0" spc="-40" baseline="-5208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④</a:t>
                      </a:r>
                      <a:r>
                        <a:rPr sz="1900" kern="0" spc="4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-40" baseline="520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风险修订</a:t>
                      </a:r>
                      <a:endParaRPr sz="2000" baseline="5208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9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300" kern="0" spc="-30" baseline="-6313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⑤</a:t>
                      </a:r>
                      <a:r>
                        <a:rPr sz="2100" kern="0" spc="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-30" baseline="520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汇报材料准备</a:t>
                      </a:r>
                      <a:endParaRPr sz="2000" baseline="5208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6" name="textbox 126"/>
          <p:cNvSpPr/>
          <p:nvPr/>
        </p:nvSpPr>
        <p:spPr>
          <a:xfrm>
            <a:off x="300943" y="950029"/>
            <a:ext cx="4398009" cy="1057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4200" b="1" kern="0" spc="-4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任务清单与进度安</a:t>
            </a:r>
            <a:r>
              <a:rPr sz="4200" b="1" kern="0" spc="-1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排</a:t>
            </a:r>
            <a:endParaRPr sz="4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把大任务拆解成可执行、可追踪、可交付的小任务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7838" y="165098"/>
            <a:ext cx="463547" cy="438172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298490" y="271986"/>
            <a:ext cx="5862320" cy="313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300" kern="0" spc="10" baseline="-15784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600" b="1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《创新创业基础》实践课|第5次：团队分工与项目方案</a:t>
            </a:r>
            <a:r>
              <a:rPr sz="16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迭代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108563" y="5270187"/>
            <a:ext cx="3609340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-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把任务拆小，项目推</a:t>
            </a:r>
            <a:r>
              <a:rPr sz="2100" b="1" kern="0" spc="-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进更可控。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5086315" y="965226"/>
            <a:ext cx="1903095" cy="521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5000"/>
              </a:lnSpc>
              <a:spcBef>
                <a:spcPts val="3"/>
              </a:spcBef>
              <a:tabLst>
                <a:tab pos="574040" algn="l"/>
              </a:tabLst>
            </a:pPr>
            <a:r>
              <a:rPr sz="16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-15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</a:t>
            </a:r>
            <a:r>
              <a:rPr sz="1600" b="1" kern="0" spc="-14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进度表示</a:t>
            </a:r>
            <a:r>
              <a:rPr sz="1600" b="1" kern="0" spc="-1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例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99015" y="977926"/>
            <a:ext cx="463547" cy="469901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5353020" y="4431416"/>
            <a:ext cx="261112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14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工具建议：甘特图/看板/周例会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740856" y="247678"/>
            <a:ext cx="635014" cy="273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40" y="4794262"/>
            <a:ext cx="10579084" cy="1174753"/>
          </a:xfrm>
          <a:prstGeom prst="rect">
            <a:avLst/>
          </a:prstGeom>
        </p:spPr>
      </p:pic>
      <p:graphicFrame>
        <p:nvGraphicFramePr>
          <p:cNvPr id="146" name="table 146"/>
          <p:cNvGraphicFramePr>
            <a:graphicFrameLocks noGrp="1"/>
          </p:cNvGraphicFramePr>
          <p:nvPr/>
        </p:nvGraphicFramePr>
        <p:xfrm>
          <a:off x="6372241" y="1571628"/>
          <a:ext cx="3815714" cy="2533014"/>
        </p:xfrm>
        <a:graphic>
          <a:graphicData uri="http://schemas.openxmlformats.org/drawingml/2006/table">
            <a:tbl>
              <a:tblPr/>
              <a:tblGrid>
                <a:gridCol w="1247139"/>
                <a:gridCol w="1282700"/>
                <a:gridCol w="1285875"/>
              </a:tblGrid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679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资源项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92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当前情况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29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获取方式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用户反馈样本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090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40" dirty="0">
                          <a:solidFill>
                            <a:srgbClr val="E06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不足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补充访谈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竞品资料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6384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107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基本齐全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继续更新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设计工具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30" dirty="0">
                          <a:solidFill>
                            <a:srgbClr val="307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已有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统一模板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导师反馈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E06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待获取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预约交流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路演素材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50" dirty="0">
                          <a:solidFill>
                            <a:srgbClr val="FF4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缺少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分工补充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8" name="textbox 148"/>
          <p:cNvSpPr/>
          <p:nvPr/>
        </p:nvSpPr>
        <p:spPr>
          <a:xfrm>
            <a:off x="1276334" y="2188462"/>
            <a:ext cx="3504565" cy="2458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700" b="1" kern="0" spc="-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人力资源：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团队成员能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力与可投入时间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81"/>
              </a:spcBef>
              <a:tabLst/>
            </a:pPr>
            <a:r>
              <a:rPr sz="1600" kern="0" spc="-3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信息资源：</a:t>
            </a:r>
            <a:r>
              <a:rPr sz="1600" kern="0" spc="-27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用户资料、竞品信息、行业案例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87"/>
              </a:spcBef>
              <a:tabLst/>
            </a:pPr>
            <a:r>
              <a:rPr sz="1600" kern="0" spc="-3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工具资源：</a:t>
            </a:r>
            <a:r>
              <a:rPr sz="1600" kern="0" spc="-3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问卷、表格、画布、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300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8"/>
              </a:spcBef>
              <a:tabLst/>
            </a:pPr>
            <a:r>
              <a:rPr sz="1300" kern="0" spc="-2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外</a:t>
            </a:r>
            <a:r>
              <a:rPr sz="1300" kern="0" spc="-15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</a:t>
            </a:r>
            <a:r>
              <a:rPr sz="1300" kern="0" spc="-14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</a:t>
            </a:r>
            <a:r>
              <a:rPr sz="1300" kern="0" spc="-18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</a:t>
            </a:r>
            <a:r>
              <a:rPr sz="1300" kern="0" spc="-23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导师建议、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同学协助、合作伙伴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3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</a:t>
            </a:r>
            <a:r>
              <a:rPr sz="1300" kern="0" spc="-1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地</a:t>
            </a:r>
            <a:r>
              <a:rPr sz="1300" kern="0" spc="-1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r>
              <a:rPr sz="1300" kern="0" spc="-1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</a:t>
            </a:r>
            <a:r>
              <a:rPr sz="1300" kern="0" spc="-13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间</a:t>
            </a:r>
            <a:r>
              <a:rPr sz="1300" kern="0" spc="-2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讨论空间、调研场景、推进周期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171467" y="6333"/>
            <a:ext cx="10426727" cy="768370"/>
            <a:chOff x="0" y="0"/>
            <a:chExt cx="10426727" cy="768370"/>
          </a:xfrm>
        </p:grpSpPr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426727" cy="768370"/>
            </a:xfrm>
            <a:prstGeom prst="rect">
              <a:avLst/>
            </a:prstGeom>
          </p:spPr>
        </p:pic>
        <p:sp>
          <p:nvSpPr>
            <p:cNvPr id="152" name="textbox 152"/>
            <p:cNvSpPr/>
            <p:nvPr/>
          </p:nvSpPr>
          <p:spPr>
            <a:xfrm>
              <a:off x="-12700" y="-12700"/>
              <a:ext cx="10452734" cy="863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5900" algn="l" rtl="0" eaLnBrk="0">
                <a:lnSpc>
                  <a:spcPct val="77000"/>
                </a:lnSpc>
                <a:spcBef>
                  <a:spcPts val="3"/>
                </a:spcBef>
                <a:tabLst/>
              </a:pPr>
              <a:r>
                <a:rPr sz="2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  <a:endParaRPr sz="2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54" name="textbox 154"/>
          <p:cNvSpPr/>
          <p:nvPr/>
        </p:nvSpPr>
        <p:spPr>
          <a:xfrm>
            <a:off x="368972" y="987049"/>
            <a:ext cx="5542915" cy="873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资源清单与支持条件梳理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先看清已有资源与缺口，再判断</a:t>
            </a:r>
            <a:r>
              <a:rPr sz="1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方案如何落地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381786" y="4216386"/>
            <a:ext cx="3809982" cy="577876"/>
            <a:chOff x="0" y="0"/>
            <a:chExt cx="3809982" cy="577876"/>
          </a:xfrm>
        </p:grpSpPr>
        <p:pic>
          <p:nvPicPr>
            <p:cNvPr id="156" name="picture 15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809982" cy="577876"/>
            </a:xfrm>
            <a:prstGeom prst="rect">
              <a:avLst/>
            </a:prstGeom>
          </p:spPr>
        </p:pic>
        <p:sp>
          <p:nvSpPr>
            <p:cNvPr id="158" name="textbox 158"/>
            <p:cNvSpPr/>
            <p:nvPr/>
          </p:nvSpPr>
          <p:spPr>
            <a:xfrm>
              <a:off x="-12700" y="-12700"/>
              <a:ext cx="3835400" cy="6292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48665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500" kern="0" spc="-7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资源不是越多越好，</a:t>
              </a:r>
              <a:endParaRPr sz="1500" dirty="0">
                <a:latin typeface="SimHei"/>
                <a:ea typeface="SimHei"/>
                <a:cs typeface="SimHei"/>
              </a:endParaRPr>
            </a:p>
            <a:p>
              <a:pPr marL="742950" algn="l" rtl="0" eaLnBrk="0">
                <a:lnSpc>
                  <a:spcPct val="96000"/>
                </a:lnSpc>
                <a:spcBef>
                  <a:spcPts val="413"/>
                </a:spcBef>
                <a:tabLst/>
              </a:pPr>
              <a:r>
                <a:rPr sz="1500" kern="0" spc="-4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而是要与项目目标匹配。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93685" y="2051038"/>
            <a:ext cx="635014" cy="2152679"/>
            <a:chOff x="0" y="0"/>
            <a:chExt cx="635014" cy="2152679"/>
          </a:xfrm>
        </p:grpSpPr>
        <p:pic>
          <p:nvPicPr>
            <p:cNvPr id="160" name="picture 1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635014" cy="2152679"/>
            </a:xfrm>
            <a:prstGeom prst="rect">
              <a:avLst/>
            </a:prstGeom>
          </p:spPr>
        </p:pic>
        <p:sp>
          <p:nvSpPr>
            <p:cNvPr id="162" name="textbox 162"/>
            <p:cNvSpPr/>
            <p:nvPr/>
          </p:nvSpPr>
          <p:spPr>
            <a:xfrm>
              <a:off x="-12700" y="-12700"/>
              <a:ext cx="661034" cy="2237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0350" algn="l" rtl="0" eaLnBrk="0">
                <a:lnSpc>
                  <a:spcPct val="97000"/>
                </a:lnSpc>
                <a:tabLst/>
              </a:pPr>
              <a:r>
                <a:rPr sz="3000" kern="0" spc="-10" dirty="0">
                  <a:solidFill>
                    <a:srgbClr val="609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目</a:t>
              </a:r>
              <a:endParaRPr sz="30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64" name="textbox 164"/>
          <p:cNvSpPr/>
          <p:nvPr/>
        </p:nvSpPr>
        <p:spPr>
          <a:xfrm>
            <a:off x="847647" y="297282"/>
            <a:ext cx="60947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</a:t>
            </a:r>
            <a:r>
              <a:rPr sz="1700" b="1" kern="0" spc="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6388050" y="1041384"/>
            <a:ext cx="2387701" cy="412777"/>
            <a:chOff x="0" y="0"/>
            <a:chExt cx="2387701" cy="412777"/>
          </a:xfrm>
        </p:grpSpPr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387701" cy="412777"/>
            </a:xfrm>
            <a:prstGeom prst="rect">
              <a:avLst/>
            </a:prstGeom>
          </p:spPr>
        </p:pic>
        <p:sp>
          <p:nvSpPr>
            <p:cNvPr id="168" name="textbox 168"/>
            <p:cNvSpPr/>
            <p:nvPr/>
          </p:nvSpPr>
          <p:spPr>
            <a:xfrm>
              <a:off x="-12700" y="-12700"/>
              <a:ext cx="2413635" cy="464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39800" algn="l" rtl="0" eaLnBrk="0">
                <a:lnSpc>
                  <a:spcPct val="95000"/>
                </a:lnSpc>
                <a:tabLst/>
              </a:pPr>
              <a:r>
                <a:rPr sz="1600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资源清单示例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70" name="textbox 170"/>
          <p:cNvSpPr/>
          <p:nvPr/>
        </p:nvSpPr>
        <p:spPr>
          <a:xfrm>
            <a:off x="1140153" y="5372450"/>
            <a:ext cx="38188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看清资源边界，方案才更可落地。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3685" y="4229113"/>
            <a:ext cx="647755" cy="565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4158" y="2673371"/>
            <a:ext cx="438171" cy="380988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400096" y="958547"/>
            <a:ext cx="4578350" cy="3820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4300" b="1" kern="0" spc="-3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风险识别</a:t>
            </a:r>
            <a:r>
              <a:rPr sz="4300" b="1" kern="0" spc="-3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与预警设</a:t>
            </a:r>
            <a:r>
              <a:rPr sz="4300" b="1" kern="0" spc="-2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743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提前识别不确定性，避免项目在推进中被动失速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1665" algn="l" rtl="0" eaLnBrk="0">
              <a:lnSpc>
                <a:spcPct val="96000"/>
              </a:lnSpc>
              <a:spcBef>
                <a:spcPts val="364"/>
              </a:spcBef>
              <a:tabLst>
                <a:tab pos="802005" algn="l"/>
              </a:tabLst>
            </a:pPr>
            <a:r>
              <a:rPr sz="1200" kern="0" spc="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</a:t>
            </a:r>
            <a:r>
              <a:rPr sz="1200" kern="0" spc="-2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</a:t>
            </a:r>
            <a:r>
              <a:rPr sz="1200" kern="0" spc="-20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</a:t>
            </a:r>
            <a:r>
              <a:rPr sz="1200" kern="0" spc="-1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r>
              <a:rPr sz="1200" kern="0" spc="-2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用户需求判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断偏差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ct val="99000"/>
              </a:lnSpc>
              <a:spcBef>
                <a:spcPts val="477"/>
              </a:spcBef>
              <a:tabLst/>
            </a:pPr>
            <a:r>
              <a:rPr sz="2400" kern="0" spc="-10" baseline="-6511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&lt;1&gt;</a:t>
            </a:r>
            <a:r>
              <a:rPr sz="1500" kern="0" spc="3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800" b="1" kern="0" spc="-10" baseline="2893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</a:t>
            </a:r>
            <a:r>
              <a:rPr sz="1100" kern="0" spc="-16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b="1" kern="0" spc="-10" baseline="2893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术</a:t>
            </a:r>
            <a:r>
              <a:rPr sz="1100" kern="0" spc="-1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b="1" kern="0" spc="-10" baseline="2893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</a:t>
            </a:r>
            <a:r>
              <a:rPr sz="1100" kern="0" spc="-10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b="1" kern="0" spc="-10" baseline="2893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r>
              <a:rPr sz="1100" kern="0" spc="-20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b="1" kern="0" spc="-10" baseline="2893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800" kern="0" spc="-10" baseline="289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功能实现难度高</a:t>
            </a:r>
            <a:endParaRPr sz="1800" baseline="2893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1665" algn="l" rtl="0" eaLnBrk="0">
              <a:lnSpc>
                <a:spcPct val="95000"/>
              </a:lnSpc>
              <a:spcBef>
                <a:spcPts val="363"/>
              </a:spcBef>
              <a:tabLst>
                <a:tab pos="802005" algn="l"/>
              </a:tabLst>
            </a:pPr>
            <a:r>
              <a:rPr sz="1200" kern="0" spc="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</a:t>
            </a:r>
            <a:r>
              <a:rPr sz="1200" kern="0" spc="-1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队</a:t>
            </a:r>
            <a:r>
              <a:rPr sz="1200" kern="0" spc="-1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</a:t>
            </a:r>
            <a:r>
              <a:rPr sz="1200" kern="0" spc="-1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r>
              <a:rPr sz="1200" kern="0" spc="-2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协作效率不足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或成员缺位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0715" algn="l" rtl="0" eaLnBrk="0">
              <a:lnSpc>
                <a:spcPct val="99000"/>
              </a:lnSpc>
              <a:spcBef>
                <a:spcPts val="399"/>
              </a:spcBef>
              <a:tabLst>
                <a:tab pos="802005" algn="l"/>
              </a:tabLst>
            </a:pPr>
            <a:r>
              <a:rPr sz="1300" kern="0" spc="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6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进度风险：</a:t>
            </a:r>
            <a:r>
              <a:rPr sz="1300" kern="0" spc="-6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任务拖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延导致节点延后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21665" algn="l" rtl="0" eaLnBrk="0">
              <a:lnSpc>
                <a:spcPct val="99000"/>
              </a:lnSpc>
              <a:spcBef>
                <a:spcPts val="2"/>
              </a:spcBef>
              <a:tabLst>
                <a:tab pos="802005" algn="l"/>
              </a:tabLst>
            </a:pPr>
            <a:r>
              <a:rPr sz="1300" kern="0" spc="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6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成本风险：</a:t>
            </a:r>
            <a:r>
              <a:rPr sz="1300" kern="0" spc="16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预算估计不足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4158" y="4330694"/>
            <a:ext cx="438171" cy="412777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5153" y="3752878"/>
            <a:ext cx="476287" cy="463507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4158" y="3225792"/>
            <a:ext cx="438171" cy="400049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77894" y="2089161"/>
            <a:ext cx="444436" cy="425444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19004" y="4813323"/>
            <a:ext cx="10579189" cy="1149298"/>
            <a:chOff x="0" y="0"/>
            <a:chExt cx="10579189" cy="1149298"/>
          </a:xfrm>
        </p:grpSpPr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0579189" cy="1149298"/>
            </a:xfrm>
            <a:prstGeom prst="rect">
              <a:avLst/>
            </a:prstGeom>
          </p:spPr>
        </p:pic>
        <p:sp>
          <p:nvSpPr>
            <p:cNvPr id="190" name="textbox 190"/>
            <p:cNvSpPr/>
            <p:nvPr/>
          </p:nvSpPr>
          <p:spPr>
            <a:xfrm>
              <a:off x="-12700" y="-12700"/>
              <a:ext cx="10605134" cy="11963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33475" algn="l" rtl="0" eaLnBrk="0">
                <a:lnSpc>
                  <a:spcPct val="94000"/>
                </a:lnSpc>
                <a:spcBef>
                  <a:spcPts val="6"/>
                </a:spcBef>
                <a:tabLst/>
              </a:pPr>
              <a:r>
                <a:rPr sz="19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提前看见风险，才能</a:t>
              </a:r>
              <a:r>
                <a:rPr sz="1900" b="1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更稳地推进。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192" name="table 192"/>
          <p:cNvGraphicFramePr>
            <a:graphicFrameLocks noGrp="1"/>
          </p:cNvGraphicFramePr>
          <p:nvPr/>
        </p:nvGraphicFramePr>
        <p:xfrm>
          <a:off x="5737226" y="1577962"/>
          <a:ext cx="4444364" cy="2565400"/>
        </p:xfrm>
        <a:graphic>
          <a:graphicData uri="http://schemas.openxmlformats.org/drawingml/2006/table">
            <a:tbl>
              <a:tblPr/>
              <a:tblGrid>
                <a:gridCol w="1165225"/>
                <a:gridCol w="831850"/>
                <a:gridCol w="990600"/>
                <a:gridCol w="1456689"/>
              </a:tblGrid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风险点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054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可能性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影响程度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00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应对措施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72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用户需求不清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0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34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60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继续访谈验证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技术实现超预期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34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-30" dirty="0">
                          <a:solidFill>
                            <a:srgbClr val="E07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604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缩小首版范围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任务延期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34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E07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拆解任务并周跟进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经费不足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34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-30" dirty="0">
                          <a:solidFill>
                            <a:srgbClr val="207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低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E07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6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604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控制首版成本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" name="group 16"/>
          <p:cNvGrpSpPr/>
          <p:nvPr/>
        </p:nvGrpSpPr>
        <p:grpSpPr>
          <a:xfrm rot="21600000">
            <a:off x="171467" y="6333"/>
            <a:ext cx="10432992" cy="768370"/>
            <a:chOff x="0" y="0"/>
            <a:chExt cx="10432992" cy="768370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0432992" cy="768370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10458450" cy="870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8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2564" algn="l" rtl="0" eaLnBrk="0">
                <a:lnSpc>
                  <a:spcPct val="81000"/>
                </a:lnSpc>
                <a:tabLst/>
              </a:pPr>
              <a:r>
                <a:rPr sz="25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endParaRPr sz="25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5784887" y="4286237"/>
            <a:ext cx="4394140" cy="469901"/>
            <a:chOff x="0" y="0"/>
            <a:chExt cx="4394140" cy="469901"/>
          </a:xfrm>
        </p:grpSpPr>
        <p:pic>
          <p:nvPicPr>
            <p:cNvPr id="198" name="picture 19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4394140" cy="469901"/>
            </a:xfrm>
            <a:prstGeom prst="rect">
              <a:avLst/>
            </a:prstGeom>
          </p:spPr>
        </p:pic>
        <p:sp>
          <p:nvSpPr>
            <p:cNvPr id="200" name="textbox 200"/>
            <p:cNvSpPr/>
            <p:nvPr/>
          </p:nvSpPr>
          <p:spPr>
            <a:xfrm>
              <a:off x="-12700" y="-12700"/>
              <a:ext cx="4419600" cy="5803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ts val="4014"/>
                </a:lnSpc>
                <a:spcBef>
                  <a:spcPts val="1"/>
                </a:spcBef>
                <a:tabLst/>
              </a:pPr>
              <a:r>
                <a:rPr sz="5100" kern="0" spc="-640" baseline="-8113" dirty="0">
                  <a:solidFill>
                    <a:srgbClr val="F0D07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!</a:t>
              </a:r>
              <a:r>
                <a:rPr sz="3300" kern="0" spc="910" dirty="0">
                  <a:solidFill>
                    <a:srgbClr val="F0D07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800" kern="0" spc="-60" baseline="20419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优先处理高影响、高</a:t>
              </a:r>
              <a:r>
                <a:rPr sz="1800" kern="0" spc="-70" baseline="20419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概率风险。</a:t>
              </a:r>
              <a:endParaRPr sz="1800" baseline="20419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02" name="textbox 202"/>
          <p:cNvSpPr/>
          <p:nvPr/>
        </p:nvSpPr>
        <p:spPr>
          <a:xfrm>
            <a:off x="860387" y="303675"/>
            <a:ext cx="60947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</a:t>
            </a:r>
            <a:r>
              <a:rPr sz="1700" b="1" kern="0" spc="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5765817" y="996955"/>
            <a:ext cx="1957070" cy="502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6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065" algn="l" rtl="0" eaLnBrk="0">
              <a:lnSpc>
                <a:spcPct val="98000"/>
              </a:lnSpc>
              <a:tabLst>
                <a:tab pos="504825" algn="l"/>
              </a:tabLst>
            </a:pPr>
            <a:r>
              <a:rPr sz="1900" kern="0" spc="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3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风险清单示例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778517" y="1009655"/>
            <a:ext cx="380944" cy="4445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40" y="1898667"/>
            <a:ext cx="10566344" cy="4070348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171467" y="6333"/>
            <a:ext cx="10413987" cy="768370"/>
            <a:chOff x="0" y="0"/>
            <a:chExt cx="10413987" cy="768370"/>
          </a:xfrm>
        </p:grpSpPr>
        <p:pic>
          <p:nvPicPr>
            <p:cNvPr id="210" name="picture 2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413987" cy="768370"/>
            </a:xfrm>
            <a:prstGeom prst="rect">
              <a:avLst/>
            </a:prstGeom>
          </p:spPr>
        </p:pic>
        <p:sp>
          <p:nvSpPr>
            <p:cNvPr id="212" name="textbox 212"/>
            <p:cNvSpPr/>
            <p:nvPr/>
          </p:nvSpPr>
          <p:spPr>
            <a:xfrm>
              <a:off x="-12700" y="-12700"/>
              <a:ext cx="10439400" cy="8693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2564" algn="l" rtl="0" eaLnBrk="0">
                <a:lnSpc>
                  <a:spcPct val="78000"/>
                </a:lnSpc>
                <a:spcBef>
                  <a:spcPts val="2"/>
                </a:spcBef>
                <a:tabLst/>
              </a:pPr>
              <a:r>
                <a:rPr sz="26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  <a:endParaRPr sz="26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214" name="textbox 214"/>
          <p:cNvSpPr/>
          <p:nvPr/>
        </p:nvSpPr>
        <p:spPr>
          <a:xfrm>
            <a:off x="375343" y="910863"/>
            <a:ext cx="7327900" cy="839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2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项目方案迭代优化：从反</a:t>
            </a:r>
            <a:r>
              <a:rPr sz="3800" b="1" kern="0" spc="2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馈到</a:t>
            </a:r>
            <a:r>
              <a:rPr sz="3800" b="1" kern="0" spc="21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V2</a:t>
            </a:r>
            <a:endParaRPr sz="3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08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把用户、导师与团队反馈转化为下一轮改进动作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16" name="table 216"/>
          <p:cNvGraphicFramePr>
            <a:graphicFrameLocks noGrp="1"/>
          </p:cNvGraphicFramePr>
          <p:nvPr/>
        </p:nvGraphicFramePr>
        <p:xfrm>
          <a:off x="3361576" y="2045433"/>
          <a:ext cx="3880484" cy="981075"/>
        </p:xfrm>
        <a:graphic>
          <a:graphicData uri="http://schemas.openxmlformats.org/drawingml/2006/table">
            <a:tbl>
              <a:tblPr/>
              <a:tblGrid>
                <a:gridCol w="1102994"/>
                <a:gridCol w="1691004"/>
                <a:gridCol w="108648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3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</a:t>
                      </a:r>
                      <a:endParaRPr sz="1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0705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B0D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34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3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发现问题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9419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判断优先级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提出改进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62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21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400" kern="0" spc="-20" dirty="0">
                          <a:solidFill>
                            <a:srgbClr val="1050D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  <a:endParaRPr sz="3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057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000" b="1" kern="0" spc="-30" dirty="0">
                          <a:solidFill>
                            <a:srgbClr val="105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三</a:t>
                      </a:r>
                      <a:endParaRPr sz="30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8" name="textbox 218"/>
          <p:cNvSpPr/>
          <p:nvPr/>
        </p:nvSpPr>
        <p:spPr>
          <a:xfrm>
            <a:off x="8657345" y="2023024"/>
            <a:ext cx="1176655" cy="2780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重点迭代维度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ct val="96000"/>
              </a:lnSpc>
              <a:spcBef>
                <a:spcPts val="391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价值主张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ct val="96000"/>
              </a:lnSpc>
              <a:spcBef>
                <a:spcPts val="398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客户细分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ct val="96000"/>
              </a:lnSpc>
              <a:spcBef>
                <a:spcPts val="399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渠道路径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393"/>
              </a:spcBef>
              <a:tabLst/>
            </a:pP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成本与收益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表达与呈现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107136" y="2009593"/>
            <a:ext cx="930910" cy="2502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反馈来源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用户反馈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27"/>
              </a:spcBef>
              <a:tabLst/>
            </a:pPr>
            <a:r>
              <a:rPr sz="14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</a:t>
            </a:r>
            <a:r>
              <a:rPr sz="1400" b="1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师建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议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ct val="96000"/>
              </a:lnSpc>
              <a:spcBef>
                <a:spcPts val="392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同伴互评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团队自评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866651" y="297282"/>
            <a:ext cx="61010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《创新创业基础》实践课|第5次：团队分工与项目方案迭代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1089403" y="5435908"/>
            <a:ext cx="41998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每一次反馈，都是方案升级的机会。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3768017" y="4694688"/>
            <a:ext cx="364045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不是推翻重来，而是基</a:t>
            </a: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于证据做有方向的优化。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5761852" y="3389462"/>
            <a:ext cx="693419" cy="495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8759" algn="l" rtl="0" eaLnBrk="0">
              <a:lnSpc>
                <a:spcPct val="81000"/>
              </a:lnSpc>
              <a:tabLst/>
            </a:pP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4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证修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4146587" y="3375269"/>
            <a:ext cx="572769" cy="513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214" algn="l" rtl="0" eaLnBrk="0">
              <a:lnSpc>
                <a:spcPct val="79000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05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V2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6370" y="4953027"/>
            <a:ext cx="10572715" cy="1009595"/>
            <a:chOff x="0" y="0"/>
            <a:chExt cx="10572715" cy="1009595"/>
          </a:xfrm>
        </p:grpSpPr>
        <p:pic>
          <p:nvPicPr>
            <p:cNvPr id="234" name="picture 2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72715" cy="1009595"/>
            </a:xfrm>
            <a:prstGeom prst="rect">
              <a:avLst/>
            </a:prstGeom>
          </p:spPr>
        </p:pic>
        <p:sp>
          <p:nvSpPr>
            <p:cNvPr id="236" name="textbox 236"/>
            <p:cNvSpPr/>
            <p:nvPr/>
          </p:nvSpPr>
          <p:spPr>
            <a:xfrm>
              <a:off x="-12700" y="-12700"/>
              <a:ext cx="10598150" cy="10566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77925" algn="l" rtl="0" eaLnBrk="0">
                <a:lnSpc>
                  <a:spcPct val="94000"/>
                </a:lnSpc>
                <a:spcBef>
                  <a:spcPts val="6"/>
                </a:spcBef>
                <a:tabLst/>
              </a:pPr>
              <a:r>
                <a:rPr sz="19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把过程材料做扎实，方案升级更有依据。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238" name="table 238"/>
          <p:cNvGraphicFramePr>
            <a:graphicFrameLocks noGrp="1"/>
          </p:cNvGraphicFramePr>
          <p:nvPr/>
        </p:nvGraphicFramePr>
        <p:xfrm>
          <a:off x="4032200" y="1692271"/>
          <a:ext cx="2949575" cy="1651000"/>
        </p:xfrm>
        <a:graphic>
          <a:graphicData uri="http://schemas.openxmlformats.org/drawingml/2006/table">
            <a:tbl>
              <a:tblPr/>
              <a:tblGrid>
                <a:gridCol w="1746250"/>
                <a:gridCol w="1203325"/>
              </a:tblGrid>
              <a:tr h="5873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95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任务进度表示例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55319" algn="l" rtl="0" eaLnBrk="0">
                        <a:lnSpc>
                          <a:spcPts val="1891"/>
                        </a:lnSpc>
                        <a:tabLst/>
                      </a:pPr>
                      <a:r>
                        <a:rPr sz="800" b="1" kern="0" spc="3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任务事项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20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387350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用户调研与需求分析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已完成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387350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方案设计与原型制作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5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30D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●</a:t>
                      </a:r>
                      <a:r>
                        <a:rPr sz="600" kern="0" spc="250" dirty="0">
                          <a:solidFill>
                            <a:srgbClr val="30D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进行中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ct val="100000"/>
                        </a:lnSpc>
                        <a:tabLst>
                          <a:tab pos="387350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资源对接与成本测算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待完成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>
                          <a:tab pos="387350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风险识别与应对方案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B0B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●</a:t>
                      </a:r>
                      <a:r>
                        <a:rPr sz="600" kern="0" spc="-30" dirty="0">
                          <a:solidFill>
                            <a:srgbClr val="B0B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未开始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>
                          <a:tab pos="387350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项目路演与迭代优化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●</a:t>
                      </a:r>
                      <a:r>
                        <a:rPr sz="600" kern="0" spc="-3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未开始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0" name="picture 2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78293" y="3111484"/>
            <a:ext cx="171467" cy="171492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178293" y="2914656"/>
            <a:ext cx="171467" cy="165099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184663" y="2711434"/>
            <a:ext cx="165097" cy="165099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84663" y="2508272"/>
            <a:ext cx="171467" cy="165099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184663" y="2298717"/>
            <a:ext cx="177837" cy="171432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7981945" y="2422413"/>
            <a:ext cx="1915160" cy="236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tabLst/>
            </a:pPr>
            <a:r>
              <a:rPr sz="1300" b="1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逻辑更完整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70"/>
              </a:lnSpc>
              <a:spcBef>
                <a:spcPts val="718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目标、路径、行动与产出更匹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2"/>
              </a:spcBef>
              <a:tabLst/>
            </a:pPr>
            <a:r>
              <a:rPr sz="1300" b="1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执行更清晰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67"/>
              </a:lnSpc>
              <a:spcBef>
                <a:spcPts val="785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任务可落地、节点可衡量、责任可追踪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b="1" kern="0" spc="-3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资源更匹配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73"/>
              </a:lnSpc>
              <a:spcBef>
                <a:spcPts val="571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人、财、物、信息、渠道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更有保障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spcBef>
                <a:spcPts val="391"/>
              </a:spcBef>
              <a:tabLst/>
            </a:pPr>
            <a:r>
              <a:rPr sz="1300" b="1" kern="0" spc="-3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风险更可控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spcBef>
                <a:spcPts val="4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识别更全面、分级更合理、应对更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可行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52" name="table 252"/>
          <p:cNvGraphicFramePr>
            <a:graphicFrameLocks noGrp="1"/>
          </p:cNvGraphicFramePr>
          <p:nvPr/>
        </p:nvGraphicFramePr>
        <p:xfrm>
          <a:off x="492117" y="2117716"/>
          <a:ext cx="3155314" cy="1130300"/>
        </p:xfrm>
        <a:graphic>
          <a:graphicData uri="http://schemas.openxmlformats.org/drawingml/2006/table">
            <a:tbl>
              <a:tblPr/>
              <a:tblGrid>
                <a:gridCol w="765175"/>
                <a:gridCol w="730250"/>
                <a:gridCol w="1659889"/>
              </a:tblGrid>
              <a:tr h="180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8445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角色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成员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356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主要职责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项目负责人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张同学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统筹推进、对接资源、把控进度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市场调研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李同学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用户调研、竞品分析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、需求洞察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产品设计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王同学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方案设计、原型制作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、体验优化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运营推广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陈同学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推广策略、渠道对接、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内容规划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财务与资源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赵同学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成本测算、资源盘点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、预算规划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492117" y="3794099"/>
          <a:ext cx="3148964" cy="1073150"/>
        </p:xfrm>
        <a:graphic>
          <a:graphicData uri="http://schemas.openxmlformats.org/drawingml/2006/table">
            <a:tbl>
              <a:tblPr/>
              <a:tblGrid>
                <a:gridCol w="593725"/>
                <a:gridCol w="876300"/>
                <a:gridCol w="742315"/>
                <a:gridCol w="936625"/>
              </a:tblGrid>
              <a:tr h="174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94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类别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已有资源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637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缺口资源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25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获取方式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人力资源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5人团队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专家顾问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校内导师+校友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物质资源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4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电脑、会议室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测试设备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实验室申请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信息资源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行业报告、文献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竞品数据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公开数据库+调研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资金资源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种子资金1,000元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推广预算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赞助+竞赛基金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渠道资源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31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校内社群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外部合作渠道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校企合作+社群合作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6" name="table 256"/>
          <p:cNvGraphicFramePr>
            <a:graphicFrameLocks noGrp="1"/>
          </p:cNvGraphicFramePr>
          <p:nvPr/>
        </p:nvGraphicFramePr>
        <p:xfrm>
          <a:off x="4079881" y="3794099"/>
          <a:ext cx="2787015" cy="1098550"/>
        </p:xfrm>
        <a:graphic>
          <a:graphicData uri="http://schemas.openxmlformats.org/drawingml/2006/table">
            <a:tbl>
              <a:tblPr/>
              <a:tblGrid>
                <a:gridCol w="911225"/>
                <a:gridCol w="520065"/>
                <a:gridCol w="1355725"/>
              </a:tblGrid>
              <a:tr h="180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89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风险点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等级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340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用户需求不明确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F08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加强访谈与验证，迭代需求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33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关键资源不足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F0E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拓展资源渠道，备选方案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技术实现难度大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F0E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引入技术支持，分阶段实现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推广效果不达预期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小范围试投，快速优化调整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成本超预算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C0F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低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严格预算管控，动态监控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8" name="textbox 258"/>
          <p:cNvSpPr/>
          <p:nvPr/>
        </p:nvSpPr>
        <p:spPr>
          <a:xfrm>
            <a:off x="450846" y="1424961"/>
            <a:ext cx="3406140" cy="685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展示本次实践课建议形成的核心过程性成果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04165" algn="l" rtl="0" eaLnBrk="0">
              <a:lnSpc>
                <a:spcPct val="96000"/>
              </a:lnSpc>
              <a:spcBef>
                <a:spcPts val="2"/>
              </a:spcBef>
              <a:tabLst>
                <a:tab pos="395604" algn="l"/>
              </a:tabLst>
            </a:pPr>
            <a:r>
              <a:rPr sz="12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团队分工表示例</a:t>
            </a:r>
            <a:r>
              <a:rPr sz="12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70045" y="1784358"/>
            <a:ext cx="330194" cy="292075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3546" y="1771631"/>
            <a:ext cx="292079" cy="292134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7200903" y="1720841"/>
            <a:ext cx="2857513" cy="495296"/>
            <a:chOff x="0" y="0"/>
            <a:chExt cx="2857513" cy="495296"/>
          </a:xfrm>
        </p:grpSpPr>
        <p:pic>
          <p:nvPicPr>
            <p:cNvPr id="264" name="picture 26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2857513" cy="495296"/>
            </a:xfrm>
            <a:prstGeom prst="rect">
              <a:avLst/>
            </a:prstGeom>
          </p:spPr>
        </p:pic>
        <p:sp>
          <p:nvSpPr>
            <p:cNvPr id="266" name="textbox 266"/>
            <p:cNvSpPr/>
            <p:nvPr/>
          </p:nvSpPr>
          <p:spPr>
            <a:xfrm>
              <a:off x="-12700" y="-12700"/>
              <a:ext cx="2883535" cy="544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05815" algn="l" rtl="0" eaLnBrk="0">
                <a:lnSpc>
                  <a:spcPct val="95000"/>
                </a:lnSpc>
                <a:tabLst/>
              </a:pPr>
              <a:r>
                <a:rPr sz="1400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</a:t>
              </a:r>
              <a:r>
                <a:rPr sz="1400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目</a:t>
              </a:r>
              <a:r>
                <a:rPr sz="1400" b="1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方案</a:t>
              </a:r>
              <a:r>
                <a:rPr sz="14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V2</a:t>
              </a:r>
              <a:r>
                <a:rPr sz="1400" b="1" kern="0" spc="-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关注点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68" name="textbox 268"/>
          <p:cNvSpPr/>
          <p:nvPr/>
        </p:nvSpPr>
        <p:spPr>
          <a:xfrm>
            <a:off x="349590" y="830240"/>
            <a:ext cx="2830829" cy="586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800" b="1" kern="0" spc="-14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成果样例展示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6842" y="152371"/>
            <a:ext cx="533408" cy="476295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349240" y="297282"/>
            <a:ext cx="4729479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2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300" kern="0" spc="110" baseline="-11049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21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700" b="1" kern="0" spc="1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《创新创业基础》实践课|成果样例展示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366000" y="3676632"/>
            <a:ext cx="527038" cy="1155692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66000" y="3022571"/>
            <a:ext cx="527038" cy="539753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366000" y="2374902"/>
            <a:ext cx="527038" cy="527026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88922" y="3498866"/>
            <a:ext cx="247699" cy="241284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527078" y="3520776"/>
            <a:ext cx="124206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7"/>
              </a:lnSpc>
              <a:tabLst/>
            </a:pPr>
            <a:r>
              <a:rPr sz="1800" kern="0" spc="-10" baseline="-22188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200" b="1" kern="0" spc="-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资源清单</a:t>
            </a:r>
            <a:r>
              <a:rPr sz="1200" b="1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102060" y="3498866"/>
            <a:ext cx="247699" cy="241284"/>
          </a:xfrm>
          <a:prstGeom prst="rect">
            <a:avLst/>
          </a:prstGeom>
        </p:spPr>
      </p:pic>
      <p:sp>
        <p:nvSpPr>
          <p:cNvPr id="286" name="textbox 286"/>
          <p:cNvSpPr/>
          <p:nvPr/>
        </p:nvSpPr>
        <p:spPr>
          <a:xfrm>
            <a:off x="4146587" y="3534053"/>
            <a:ext cx="1208405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000" kern="0" spc="-10" baseline="-1562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b="1" kern="0" spc="-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风险清单示例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9671101" y="260346"/>
            <a:ext cx="673024" cy="285741"/>
          </a:xfrm>
          <a:prstGeom prst="rect">
            <a:avLst/>
          </a:prstGeom>
        </p:spPr>
      </p:pic>
      <p:sp>
        <p:nvSpPr>
          <p:cNvPr id="290" name="path 290"/>
          <p:cNvSpPr/>
          <p:nvPr/>
        </p:nvSpPr>
        <p:spPr>
          <a:xfrm>
            <a:off x="4352955" y="1695446"/>
            <a:ext cx="6350" cy="107974"/>
          </a:xfrm>
          <a:custGeom>
            <a:avLst/>
            <a:gdLst/>
            <a:ahLst/>
            <a:cxnLst/>
            <a:rect l="0" t="0" r="0" b="0"/>
            <a:pathLst>
              <a:path w="10" h="170">
                <a:moveTo>
                  <a:pt x="5" y="0"/>
                </a:moveTo>
                <a:lnTo>
                  <a:pt x="5" y="170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032200" y="1771631"/>
            <a:ext cx="323930" cy="34964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083056" y="1695446"/>
            <a:ext cx="276249" cy="374653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276573" y="3473470"/>
            <a:ext cx="285815" cy="273013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6254739" y="2112533"/>
            <a:ext cx="237490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800" kern="0" spc="20" dirty="0">
                <a:solidFill>
                  <a:srgbClr val="10209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状态</a:t>
            </a:r>
            <a:endParaRPr sz="8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19004" y="4064014"/>
            <a:ext cx="10572819" cy="1898607"/>
            <a:chOff x="0" y="0"/>
            <a:chExt cx="10572819" cy="1898607"/>
          </a:xfrm>
        </p:grpSpPr>
        <p:pic>
          <p:nvPicPr>
            <p:cNvPr id="302" name="picture 3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72819" cy="1898607"/>
            </a:xfrm>
            <a:prstGeom prst="rect">
              <a:avLst/>
            </a:prstGeom>
          </p:spPr>
        </p:pic>
        <p:sp>
          <p:nvSpPr>
            <p:cNvPr id="304" name="textbox 304"/>
            <p:cNvSpPr/>
            <p:nvPr/>
          </p:nvSpPr>
          <p:spPr>
            <a:xfrm>
              <a:off x="1060486" y="73170"/>
              <a:ext cx="3219450" cy="1546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240" algn="l" rtl="0" eaLnBrk="0">
                <a:lnSpc>
                  <a:spcPct val="95000"/>
                </a:lnSpc>
                <a:tabLst/>
              </a:pPr>
              <a:r>
                <a:rPr sz="1400" b="1" kern="0" spc="5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课后延伸任务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462"/>
                </a:spcBef>
                <a:tabLst/>
              </a:pPr>
              <a:r>
                <a:rPr sz="1100" kern="0" spc="-9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100" kern="0" spc="27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继续补充反馈信息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246"/>
                </a:spcBef>
                <a:tabLst/>
              </a:pPr>
              <a:r>
                <a:rPr sz="1100" kern="0" spc="-6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100" kern="0" spc="16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完善方案</a:t>
              </a: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V2</a:t>
              </a: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细节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96"/>
                </a:spcBef>
                <a:tabLst/>
              </a:pPr>
              <a:r>
                <a:rPr sz="1100" kern="0" spc="-1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100" kern="0" spc="16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为下一次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100" kern="0" spc="-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赋能项目诊断做</a:t>
              </a: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好准备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92075" algn="l" rtl="0" eaLnBrk="0">
                <a:lnSpc>
                  <a:spcPct val="94000"/>
                </a:lnSpc>
                <a:spcBef>
                  <a:spcPts val="4"/>
                </a:spcBef>
                <a:tabLst/>
              </a:pPr>
              <a:r>
                <a:rPr sz="1900" b="1" kern="0" spc="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迭代越充分，方案越成</a:t>
              </a:r>
              <a:r>
                <a:rPr sz="1900" b="1" kern="0" spc="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熟。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306" name="table 306"/>
          <p:cNvGraphicFramePr>
            <a:graphicFrameLocks noGrp="1"/>
          </p:cNvGraphicFramePr>
          <p:nvPr/>
        </p:nvGraphicFramePr>
        <p:xfrm>
          <a:off x="5934069" y="1000145"/>
          <a:ext cx="4311014" cy="2723514"/>
        </p:xfrm>
        <a:graphic>
          <a:graphicData uri="http://schemas.openxmlformats.org/drawingml/2006/table">
            <a:tbl>
              <a:tblPr/>
              <a:tblGrid>
                <a:gridCol w="1774825"/>
                <a:gridCol w="755650"/>
                <a:gridCol w="1780539"/>
              </a:tblGrid>
              <a:tr h="4730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20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8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课堂评价标准(总分100分)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293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102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评价维度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15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权重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610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评价要点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分工清晰度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149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角色明确，职责合理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任务推进性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149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计划完整，节奏清楚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ts val="1485"/>
                        </a:lnSpc>
                        <a:tabLst/>
                      </a:pPr>
                      <a:r>
                        <a:rPr sz="1800" kern="0" spc="-30" baseline="-5081" dirty="0">
                          <a:solidFill>
                            <a:srgbClr val="F0F0D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!</a:t>
                      </a:r>
                      <a:r>
                        <a:rPr sz="1100" kern="0" spc="90" dirty="0">
                          <a:solidFill>
                            <a:srgbClr val="F0F0D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资源与风险分析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1496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识别准确，措施可行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92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方案迭代表现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1496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能根据反馈完成优化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8" name="group 28"/>
          <p:cNvGrpSpPr/>
          <p:nvPr/>
        </p:nvGrpSpPr>
        <p:grpSpPr>
          <a:xfrm rot="21600000">
            <a:off x="2940008" y="2051039"/>
            <a:ext cx="2444822" cy="1911334"/>
            <a:chOff x="0" y="0"/>
            <a:chExt cx="2444822" cy="1911334"/>
          </a:xfrm>
        </p:grpSpPr>
        <p:pic>
          <p:nvPicPr>
            <p:cNvPr id="308" name="picture 30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444822" cy="1911334"/>
            </a:xfrm>
            <a:prstGeom prst="rect">
              <a:avLst/>
            </a:prstGeom>
          </p:spPr>
        </p:pic>
        <p:sp>
          <p:nvSpPr>
            <p:cNvPr id="310" name="textbox 310"/>
            <p:cNvSpPr/>
            <p:nvPr/>
          </p:nvSpPr>
          <p:spPr>
            <a:xfrm>
              <a:off x="-12700" y="-12700"/>
              <a:ext cx="2470785" cy="19513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929639" algn="l" rtl="0" eaLnBrk="0">
                <a:lnSpc>
                  <a:spcPct val="96000"/>
                </a:lnSpc>
                <a:spcBef>
                  <a:spcPts val="5"/>
                </a:spcBef>
                <a:tabLst/>
              </a:pPr>
              <a:r>
                <a:rPr sz="1600" b="1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提交形式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3200" algn="l" rtl="0" eaLnBrk="0">
                <a:lnSpc>
                  <a:spcPct val="95000"/>
                </a:lnSpc>
                <a:spcBef>
                  <a:spcPts val="392"/>
                </a:spcBef>
                <a:tabLst/>
              </a:pPr>
              <a:r>
                <a:rPr sz="1300" kern="0" spc="-6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300" kern="0" spc="11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3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电子版文档或</a:t>
              </a:r>
              <a:r>
                <a:rPr sz="1300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PPT</a:t>
              </a:r>
              <a:r>
                <a:rPr sz="1300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截图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203200" algn="l" rtl="0" eaLnBrk="0">
                <a:lnSpc>
                  <a:spcPct val="95000"/>
                </a:lnSpc>
                <a:spcBef>
                  <a:spcPts val="1579"/>
                </a:spcBef>
                <a:tabLst/>
              </a:pPr>
              <a:r>
                <a:rPr sz="1300" kern="0" spc="-3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300" kern="0" spc="-3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3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小组统一命名打包</a:t>
              </a:r>
              <a:r>
                <a:rPr sz="13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提交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3200" algn="l" rtl="0" eaLnBrk="0">
                <a:lnSpc>
                  <a:spcPct val="92000"/>
                </a:lnSpc>
                <a:tabLst/>
              </a:pPr>
              <a:r>
                <a:rPr sz="1300" kern="0" spc="-4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300" kern="0" spc="-4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3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材料整洁，分工信息完整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74681" y="2025643"/>
            <a:ext cx="2330368" cy="1943124"/>
            <a:chOff x="0" y="0"/>
            <a:chExt cx="2330368" cy="1943124"/>
          </a:xfrm>
        </p:grpSpPr>
        <p:pic>
          <p:nvPicPr>
            <p:cNvPr id="312" name="picture 3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330368" cy="1943124"/>
            </a:xfrm>
            <a:prstGeom prst="rect">
              <a:avLst/>
            </a:prstGeom>
          </p:spPr>
        </p:pic>
        <p:sp>
          <p:nvSpPr>
            <p:cNvPr id="314" name="textbox 314"/>
            <p:cNvSpPr/>
            <p:nvPr/>
          </p:nvSpPr>
          <p:spPr>
            <a:xfrm>
              <a:off x="-12700" y="-12700"/>
              <a:ext cx="2355850" cy="1988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927735" algn="l" rtl="0" eaLnBrk="0">
                <a:lnSpc>
                  <a:spcPts val="1868"/>
                </a:lnSpc>
                <a:spcBef>
                  <a:spcPts val="2"/>
                </a:spcBef>
                <a:tabLst/>
              </a:pPr>
              <a:r>
                <a:rPr sz="1400" b="1" kern="0" spc="-90" dirty="0">
                  <a:solidFill>
                    <a:srgbClr val="D0D0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必</a:t>
              </a:r>
              <a:r>
                <a:rPr sz="1400" b="1" kern="0" spc="-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交</a:t>
              </a:r>
              <a:r>
                <a:rPr sz="1400" kern="0" spc="-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b="1" kern="0" spc="-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成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b="1" kern="0" spc="-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果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666115" algn="l" rtl="0" eaLnBrk="0">
                <a:lnSpc>
                  <a:spcPct val="96000"/>
                </a:lnSpc>
                <a:spcBef>
                  <a:spcPts val="1239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团队分工表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666115" algn="l" rtl="0" eaLnBrk="0">
                <a:lnSpc>
                  <a:spcPct val="95000"/>
                </a:lnSpc>
                <a:spcBef>
                  <a:spcPts val="865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任务进度表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666115" algn="l" rtl="0" eaLnBrk="0">
                <a:lnSpc>
                  <a:spcPct val="95000"/>
                </a:lnSpc>
                <a:spcBef>
                  <a:spcPts val="88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资源清单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666115" algn="l" rtl="0" eaLnBrk="0">
                <a:lnSpc>
                  <a:spcPct val="96000"/>
                </a:lnSpc>
                <a:spcBef>
                  <a:spcPts val="927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风险清单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66115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项目方案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V2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16" name="textbox 316"/>
          <p:cNvSpPr/>
          <p:nvPr/>
        </p:nvSpPr>
        <p:spPr>
          <a:xfrm>
            <a:off x="330785" y="969944"/>
            <a:ext cx="5334634" cy="850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成果提交要求与评价标准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2000"/>
              </a:lnSpc>
              <a:spcBef>
                <a:spcPts val="5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通过规范提交与课堂评价，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推动项目方案完成第一次升级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6124053" y="4305835"/>
            <a:ext cx="3150235" cy="549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5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下一次实践课将进入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ct val="95000"/>
              </a:lnSpc>
              <a:spcBef>
                <a:spcPts val="492"/>
              </a:spcBef>
              <a:tabLst/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860387" y="297282"/>
            <a:ext cx="60566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《创新创业基础》实践课|第5次：团队分工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与项目方案迭代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8727" y="107974"/>
            <a:ext cx="539778" cy="527025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71101" y="266680"/>
            <a:ext cx="673024" cy="292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2026-05-06T02:34:40</vt:filetime>
  </property>
  <property fmtid="{D5CDD505-2E9C-101B-9397-08002B2CF9AE}" pid="4" name="UsrData">
    <vt:lpwstr>69fa38305b4fbf001f8d8c04wl</vt:lpwstr>
  </property>
</Properties>
</file>