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0617200" cy="59753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8" Type="http://schemas.openxmlformats.org/officeDocument/2006/relationships/slide" Target="slides/slide7.xml"/><Relationship Id="rId7" Type="http://schemas.openxmlformats.org/officeDocument/2006/relationships/slide" Target="slides/slide6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5" Type="http://schemas.openxmlformats.org/officeDocument/2006/relationships/tableStyles" Target="tableStyles.xml"/><Relationship Id="rId14" Type="http://schemas.openxmlformats.org/officeDocument/2006/relationships/presProps" Target="presProps.xml"/><Relationship Id="rId13" Type="http://schemas.openxmlformats.org/officeDocument/2006/relationships/slide" Target="slides/slide12.xml"/><Relationship Id="rId12" Type="http://schemas.openxmlformats.org/officeDocument/2006/relationships/slide" Target="slides/slide11.xml"/><Relationship Id="rId11" Type="http://schemas.openxmlformats.org/officeDocument/2006/relationships/slide" Target="slides/slide10.xml"/><Relationship Id="rId10" Type="http://schemas.openxmlformats.org/officeDocument/2006/relationships/slide" Target="slides/slide9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jpeg"/><Relationship Id="rId8" Type="http://schemas.openxmlformats.org/officeDocument/2006/relationships/image" Target="../media/image11.jpeg"/><Relationship Id="rId7" Type="http://schemas.openxmlformats.org/officeDocument/2006/relationships/image" Target="../media/image10.jpeg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5" Type="http://schemas.openxmlformats.org/officeDocument/2006/relationships/image" Target="../media/image18.png"/><Relationship Id="rId14" Type="http://schemas.openxmlformats.org/officeDocument/2006/relationships/image" Target="../media/image17.png"/><Relationship Id="rId13" Type="http://schemas.openxmlformats.org/officeDocument/2006/relationships/image" Target="../media/image16.jpeg"/><Relationship Id="rId12" Type="http://schemas.openxmlformats.org/officeDocument/2006/relationships/image" Target="../media/image15.jpeg"/><Relationship Id="rId11" Type="http://schemas.openxmlformats.org/officeDocument/2006/relationships/image" Target="../media/image14.jpeg"/><Relationship Id="rId10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jpeg"/><Relationship Id="rId8" Type="http://schemas.openxmlformats.org/officeDocument/2006/relationships/image" Target="../media/image30.jpeg"/><Relationship Id="rId7" Type="http://schemas.openxmlformats.org/officeDocument/2006/relationships/image" Target="../media/image29.jpeg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2" Type="http://schemas.openxmlformats.org/officeDocument/2006/relationships/image" Target="../media/image34.png"/><Relationship Id="rId11" Type="http://schemas.openxmlformats.org/officeDocument/2006/relationships/image" Target="../media/image33.jpeg"/><Relationship Id="rId10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image" Target="../media/image37.jpeg"/><Relationship Id="rId3" Type="http://schemas.openxmlformats.org/officeDocument/2006/relationships/image" Target="../media/image36.jpe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jpeg"/><Relationship Id="rId8" Type="http://schemas.openxmlformats.org/officeDocument/2006/relationships/image" Target="../media/image44.jpeg"/><Relationship Id="rId7" Type="http://schemas.openxmlformats.org/officeDocument/2006/relationships/image" Target="../media/image43.jpeg"/><Relationship Id="rId6" Type="http://schemas.openxmlformats.org/officeDocument/2006/relationships/image" Target="../media/image42.jpeg"/><Relationship Id="rId5" Type="http://schemas.openxmlformats.org/officeDocument/2006/relationships/image" Target="../media/image41.jpeg"/><Relationship Id="rId4" Type="http://schemas.openxmlformats.org/officeDocument/2006/relationships/image" Target="../media/image40.jpeg"/><Relationship Id="rId3" Type="http://schemas.openxmlformats.org/officeDocument/2006/relationships/image" Target="../media/image39.jpeg"/><Relationship Id="rId2" Type="http://schemas.openxmlformats.org/officeDocument/2006/relationships/image" Target="../media/image38.png"/><Relationship Id="rId17" Type="http://schemas.openxmlformats.org/officeDocument/2006/relationships/image" Target="../media/image53.jpeg"/><Relationship Id="rId16" Type="http://schemas.openxmlformats.org/officeDocument/2006/relationships/image" Target="../media/image52.jpeg"/><Relationship Id="rId15" Type="http://schemas.openxmlformats.org/officeDocument/2006/relationships/image" Target="../media/image51.jpeg"/><Relationship Id="rId14" Type="http://schemas.openxmlformats.org/officeDocument/2006/relationships/image" Target="../media/image50.jpeg"/><Relationship Id="rId13" Type="http://schemas.openxmlformats.org/officeDocument/2006/relationships/image" Target="../media/image49.jpeg"/><Relationship Id="rId12" Type="http://schemas.openxmlformats.org/officeDocument/2006/relationships/image" Target="../media/image48.jpeg"/><Relationship Id="rId11" Type="http://schemas.openxmlformats.org/officeDocument/2006/relationships/image" Target="../media/image47.jpeg"/><Relationship Id="rId10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image" Target="../media/image58.jpeg"/><Relationship Id="rId5" Type="http://schemas.openxmlformats.org/officeDocument/2006/relationships/image" Target="../media/image57.jpeg"/><Relationship Id="rId4" Type="http://schemas.openxmlformats.org/officeDocument/2006/relationships/image" Target="../media/image56.jpeg"/><Relationship Id="rId3" Type="http://schemas.openxmlformats.org/officeDocument/2006/relationships/image" Target="../media/image55.jpe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image" Target="../media/image61.jpeg"/><Relationship Id="rId3" Type="http://schemas.openxmlformats.org/officeDocument/2006/relationships/image" Target="../media/image60.jpe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9.jpeg"/><Relationship Id="rId8" Type="http://schemas.openxmlformats.org/officeDocument/2006/relationships/image" Target="../media/image68.jpeg"/><Relationship Id="rId7" Type="http://schemas.openxmlformats.org/officeDocument/2006/relationships/image" Target="../media/image67.jpeg"/><Relationship Id="rId6" Type="http://schemas.openxmlformats.org/officeDocument/2006/relationships/image" Target="../media/image66.jpeg"/><Relationship Id="rId5" Type="http://schemas.openxmlformats.org/officeDocument/2006/relationships/image" Target="../media/image65.png"/><Relationship Id="rId4" Type="http://schemas.openxmlformats.org/officeDocument/2006/relationships/image" Target="../media/image64.jpeg"/><Relationship Id="rId3" Type="http://schemas.openxmlformats.org/officeDocument/2006/relationships/image" Target="../media/image63.jpeg"/><Relationship Id="rId22" Type="http://schemas.openxmlformats.org/officeDocument/2006/relationships/image" Target="../media/image82.jpeg"/><Relationship Id="rId21" Type="http://schemas.openxmlformats.org/officeDocument/2006/relationships/image" Target="../media/image81.jpeg"/><Relationship Id="rId20" Type="http://schemas.openxmlformats.org/officeDocument/2006/relationships/image" Target="../media/image80.jpeg"/><Relationship Id="rId2" Type="http://schemas.openxmlformats.org/officeDocument/2006/relationships/image" Target="../media/image62.png"/><Relationship Id="rId19" Type="http://schemas.openxmlformats.org/officeDocument/2006/relationships/image" Target="../media/image79.jpeg"/><Relationship Id="rId18" Type="http://schemas.openxmlformats.org/officeDocument/2006/relationships/image" Target="../media/image78.jpeg"/><Relationship Id="rId17" Type="http://schemas.openxmlformats.org/officeDocument/2006/relationships/image" Target="../media/image77.jpeg"/><Relationship Id="rId16" Type="http://schemas.openxmlformats.org/officeDocument/2006/relationships/image" Target="../media/image76.jpeg"/><Relationship Id="rId15" Type="http://schemas.openxmlformats.org/officeDocument/2006/relationships/image" Target="../media/image75.jpeg"/><Relationship Id="rId14" Type="http://schemas.openxmlformats.org/officeDocument/2006/relationships/image" Target="../media/image74.jpeg"/><Relationship Id="rId13" Type="http://schemas.openxmlformats.org/officeDocument/2006/relationships/image" Target="../media/image73.jpeg"/><Relationship Id="rId12" Type="http://schemas.openxmlformats.org/officeDocument/2006/relationships/image" Target="../media/image72.jpeg"/><Relationship Id="rId11" Type="http://schemas.openxmlformats.org/officeDocument/2006/relationships/image" Target="../media/image71.jpeg"/><Relationship Id="rId10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jpeg"/><Relationship Id="rId8" Type="http://schemas.openxmlformats.org/officeDocument/2006/relationships/image" Target="../media/image89.jpeg"/><Relationship Id="rId7" Type="http://schemas.openxmlformats.org/officeDocument/2006/relationships/image" Target="../media/image88.jpeg"/><Relationship Id="rId6" Type="http://schemas.openxmlformats.org/officeDocument/2006/relationships/image" Target="../media/image87.jpeg"/><Relationship Id="rId5" Type="http://schemas.openxmlformats.org/officeDocument/2006/relationships/image" Target="../media/image86.jpeg"/><Relationship Id="rId4" Type="http://schemas.openxmlformats.org/officeDocument/2006/relationships/image" Target="../media/image85.jpeg"/><Relationship Id="rId3" Type="http://schemas.openxmlformats.org/officeDocument/2006/relationships/image" Target="../media/image84.jpeg"/><Relationship Id="rId2" Type="http://schemas.openxmlformats.org/officeDocument/2006/relationships/image" Target="../media/image83.png"/><Relationship Id="rId14" Type="http://schemas.openxmlformats.org/officeDocument/2006/relationships/image" Target="../media/image95.jpeg"/><Relationship Id="rId13" Type="http://schemas.openxmlformats.org/officeDocument/2006/relationships/image" Target="../media/image94.jpeg"/><Relationship Id="rId12" Type="http://schemas.openxmlformats.org/officeDocument/2006/relationships/image" Target="../media/image93.jpeg"/><Relationship Id="rId11" Type="http://schemas.openxmlformats.org/officeDocument/2006/relationships/image" Target="../media/image92.jpeg"/><Relationship Id="rId10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3.jpeg"/><Relationship Id="rId8" Type="http://schemas.openxmlformats.org/officeDocument/2006/relationships/image" Target="../media/image102.jpeg"/><Relationship Id="rId7" Type="http://schemas.openxmlformats.org/officeDocument/2006/relationships/image" Target="../media/image101.jpeg"/><Relationship Id="rId6" Type="http://schemas.openxmlformats.org/officeDocument/2006/relationships/image" Target="../media/image100.jpeg"/><Relationship Id="rId5" Type="http://schemas.openxmlformats.org/officeDocument/2006/relationships/image" Target="../media/image99.jpeg"/><Relationship Id="rId4" Type="http://schemas.openxmlformats.org/officeDocument/2006/relationships/image" Target="../media/image98.jpeg"/><Relationship Id="rId3" Type="http://schemas.openxmlformats.org/officeDocument/2006/relationships/image" Target="../media/image97.png"/><Relationship Id="rId26" Type="http://schemas.openxmlformats.org/officeDocument/2006/relationships/image" Target="../media/image120.jpeg"/><Relationship Id="rId25" Type="http://schemas.openxmlformats.org/officeDocument/2006/relationships/image" Target="../media/image119.jpeg"/><Relationship Id="rId24" Type="http://schemas.openxmlformats.org/officeDocument/2006/relationships/image" Target="../media/image118.jpeg"/><Relationship Id="rId23" Type="http://schemas.openxmlformats.org/officeDocument/2006/relationships/image" Target="../media/image117.jpeg"/><Relationship Id="rId22" Type="http://schemas.openxmlformats.org/officeDocument/2006/relationships/image" Target="../media/image116.jpeg"/><Relationship Id="rId21" Type="http://schemas.openxmlformats.org/officeDocument/2006/relationships/image" Target="../media/image115.jpeg"/><Relationship Id="rId20" Type="http://schemas.openxmlformats.org/officeDocument/2006/relationships/image" Target="../media/image114.jpeg"/><Relationship Id="rId2" Type="http://schemas.openxmlformats.org/officeDocument/2006/relationships/image" Target="../media/image96.png"/><Relationship Id="rId19" Type="http://schemas.openxmlformats.org/officeDocument/2006/relationships/image" Target="../media/image113.jpeg"/><Relationship Id="rId18" Type="http://schemas.openxmlformats.org/officeDocument/2006/relationships/image" Target="../media/image112.jpeg"/><Relationship Id="rId17" Type="http://schemas.openxmlformats.org/officeDocument/2006/relationships/image" Target="../media/image111.jpeg"/><Relationship Id="rId16" Type="http://schemas.openxmlformats.org/officeDocument/2006/relationships/image" Target="../media/image110.jpeg"/><Relationship Id="rId15" Type="http://schemas.openxmlformats.org/officeDocument/2006/relationships/image" Target="../media/image109.jpeg"/><Relationship Id="rId14" Type="http://schemas.openxmlformats.org/officeDocument/2006/relationships/image" Target="../media/image108.jpeg"/><Relationship Id="rId13" Type="http://schemas.openxmlformats.org/officeDocument/2006/relationships/image" Target="../media/image107.jpeg"/><Relationship Id="rId12" Type="http://schemas.openxmlformats.org/officeDocument/2006/relationships/image" Target="../media/image106.jpeg"/><Relationship Id="rId11" Type="http://schemas.openxmlformats.org/officeDocument/2006/relationships/image" Target="../media/image105.jpeg"/><Relationship Id="rId10" Type="http://schemas.openxmlformats.org/officeDocument/2006/relationships/image" Target="../media/image104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8.jpeg"/><Relationship Id="rId8" Type="http://schemas.openxmlformats.org/officeDocument/2006/relationships/image" Target="../media/image127.jpeg"/><Relationship Id="rId7" Type="http://schemas.openxmlformats.org/officeDocument/2006/relationships/image" Target="../media/image126.jpeg"/><Relationship Id="rId6" Type="http://schemas.openxmlformats.org/officeDocument/2006/relationships/image" Target="../media/image125.jpeg"/><Relationship Id="rId5" Type="http://schemas.openxmlformats.org/officeDocument/2006/relationships/image" Target="../media/image124.jpeg"/><Relationship Id="rId4" Type="http://schemas.openxmlformats.org/officeDocument/2006/relationships/image" Target="../media/image123.jpeg"/><Relationship Id="rId3" Type="http://schemas.openxmlformats.org/officeDocument/2006/relationships/image" Target="../media/image122.jpe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374615" y="1205714"/>
            <a:ext cx="4654550" cy="2310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859" algn="l" rtl="0" eaLnBrk="0">
              <a:lnSpc>
                <a:spcPct val="94000"/>
              </a:lnSpc>
              <a:tabLst/>
            </a:pPr>
            <a:r>
              <a:rPr sz="5600" b="1" kern="0" spc="-2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</a:t>
            </a:r>
            <a:r>
              <a:rPr sz="5600" b="1" kern="0" spc="-20" dirty="0">
                <a:solidFill>
                  <a:srgbClr val="102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5600" b="1" kern="0" spc="460" dirty="0">
                <a:solidFill>
                  <a:srgbClr val="102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5600" b="1" kern="0" spc="-2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成为</a:t>
            </a:r>
            <a:endParaRPr sz="56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6000"/>
              </a:lnSpc>
              <a:spcBef>
                <a:spcPts val="21"/>
              </a:spcBef>
              <a:tabLst/>
            </a:pPr>
            <a:r>
              <a:rPr sz="4700" b="1" kern="0" spc="-1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项目升级的加速器</a:t>
            </a:r>
            <a:endParaRPr sz="4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1750" algn="l" rtl="0" eaLnBrk="0">
              <a:lnSpc>
                <a:spcPct val="95000"/>
              </a:lnSpc>
              <a:spcBef>
                <a:spcPts val="423"/>
              </a:spcBef>
              <a:tabLst/>
            </a:pP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围绕项目诊断、提示词设计、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4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构思、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spcBef>
                <a:spcPts val="2"/>
              </a:spcBef>
              <a:tabLst/>
            </a:pP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原型草图与</a:t>
            </a: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4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逻辑梳</a:t>
            </a:r>
            <a:r>
              <a:rPr sz="14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理，形成可展示的初步方案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6000775" y="917896"/>
            <a:ext cx="2084070" cy="3333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ts val="855"/>
              </a:lnSpc>
              <a:tabLst/>
            </a:pPr>
            <a:r>
              <a:rPr sz="700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7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项目助手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504"/>
              </a:lnSpc>
              <a:spcBef>
                <a:spcPts val="627"/>
              </a:spcBef>
              <a:tabLst/>
            </a:pPr>
            <a:r>
              <a:rPr sz="4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你好!今天我们</a:t>
            </a:r>
            <a:r>
              <a:rPr sz="400" kern="0" spc="-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r>
              <a:rPr sz="400" kern="0" spc="-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10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起把懋法变成更好的产</a:t>
            </a:r>
            <a:r>
              <a:rPr sz="400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品。</a:t>
            </a:r>
            <a:endParaRPr sz="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ts val="508"/>
              </a:lnSpc>
              <a:spcBef>
                <a:spcPts val="123"/>
              </a:spcBef>
              <a:tabLst/>
            </a:pPr>
            <a:r>
              <a:rPr sz="400" kern="0" spc="7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400" kern="0" spc="13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明确核心用户场景</a:t>
            </a:r>
            <a:endParaRPr sz="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74000"/>
              </a:lnSpc>
              <a:spcBef>
                <a:spcPts val="185"/>
              </a:spcBef>
              <a:tabLst/>
            </a:pPr>
            <a:r>
              <a:rPr sz="600" kern="0" spc="-3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原型单面</a:t>
            </a:r>
            <a:endParaRPr sz="6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94334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用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户</a:t>
            </a:r>
            <a:r>
              <a:rPr sz="400" kern="0" spc="1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400" kern="0" spc="-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斌</a:t>
            </a:r>
            <a:r>
              <a:rPr sz="400" b="1" kern="0" spc="-2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照</a:t>
            </a:r>
            <a:endParaRPr sz="400" dirty="0">
              <a:latin typeface="SimSun"/>
              <a:ea typeface="SimSun"/>
              <a:cs typeface="SimSu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8896299" y="1062915"/>
            <a:ext cx="1530350" cy="3609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从想法到可验证的原型</a:t>
            </a:r>
            <a:endParaRPr sz="700" dirty="0">
              <a:latin typeface="STXingkai"/>
              <a:ea typeface="STXingkai"/>
              <a:cs typeface="STXingkai"/>
            </a:endParaRPr>
          </a:p>
          <a:p>
            <a:pPr marL="825500" algn="l" rtl="0" eaLnBrk="0">
              <a:lnSpc>
                <a:spcPts val="852"/>
              </a:lnSpc>
              <a:spcBef>
                <a:spcPts val="1143"/>
              </a:spcBef>
              <a:tabLst/>
            </a:pPr>
            <a:r>
              <a:rPr sz="7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发现问题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825500" algn="l" rtl="0" eaLnBrk="0">
              <a:lnSpc>
                <a:spcPts val="852"/>
              </a:lnSpc>
              <a:spcBef>
                <a:spcPts val="847"/>
              </a:spcBef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7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825500" algn="l" rtl="0" eaLnBrk="0">
              <a:lnSpc>
                <a:spcPct val="81000"/>
              </a:lnSpc>
              <a:spcBef>
                <a:spcPts val="583"/>
              </a:spcBef>
              <a:tabLst/>
            </a:pPr>
            <a:r>
              <a:rPr sz="800" kern="0" spc="-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构思方案</a:t>
            </a:r>
            <a:endParaRPr sz="800" dirty="0">
              <a:latin typeface="STXingkai"/>
              <a:ea typeface="STXingkai"/>
              <a:cs typeface="STXingkai"/>
            </a:endParaRPr>
          </a:p>
          <a:p>
            <a:pPr marL="825500" algn="l" rtl="0" eaLnBrk="0">
              <a:lnSpc>
                <a:spcPts val="974"/>
              </a:lnSpc>
              <a:spcBef>
                <a:spcPts val="690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FangSong"/>
                <a:ea typeface="FangSong"/>
                <a:cs typeface="FangSong"/>
              </a:rPr>
              <a:t>原型设计</a:t>
            </a:r>
            <a:endParaRPr sz="800" dirty="0">
              <a:latin typeface="FangSong"/>
              <a:ea typeface="FangSong"/>
              <a:cs typeface="FangSong"/>
            </a:endParaRPr>
          </a:p>
          <a:p>
            <a:pPr marL="825500" algn="l" rtl="0" eaLnBrk="0">
              <a:lnSpc>
                <a:spcPct val="100000"/>
              </a:lnSpc>
              <a:spcBef>
                <a:spcPts val="689"/>
              </a:spcBef>
              <a:tabLst/>
            </a:pP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800" kern="0" spc="-3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演示</a:t>
            </a:r>
            <a:endParaRPr sz="800" dirty="0">
              <a:latin typeface="KaiTi"/>
              <a:ea typeface="KaiTi"/>
              <a:cs typeface="KaiTi"/>
            </a:endParaRPr>
          </a:p>
          <a:p>
            <a:pPr marL="825500" algn="l" rtl="0" eaLnBrk="0">
              <a:lnSpc>
                <a:spcPct val="99000"/>
              </a:lnSpc>
              <a:spcBef>
                <a:spcPts val="783"/>
              </a:spcBef>
              <a:tabLst/>
            </a:pP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迭</a:t>
            </a:r>
            <a:r>
              <a:rPr sz="700" kern="0" spc="-15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代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优</a:t>
            </a:r>
            <a:r>
              <a:rPr sz="700" kern="0" spc="14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700" kern="0" spc="-6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化</a:t>
            </a:r>
            <a:endParaRPr sz="700" dirty="0">
              <a:latin typeface="STXingkai"/>
              <a:ea typeface="STXingkai"/>
              <a:cs typeface="STXingka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96850" algn="l" rtl="0" eaLnBrk="0">
              <a:lnSpc>
                <a:spcPts val="833"/>
              </a:lnSpc>
              <a:spcBef>
                <a:spcPts val="187"/>
              </a:spcBef>
              <a:tabLst/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600" kern="0" spc="10" dirty="0">
                <a:solidFill>
                  <a:srgbClr val="305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</a:t>
            </a:r>
            <a:r>
              <a:rPr sz="600" b="1" kern="0" spc="10" dirty="0">
                <a:solidFill>
                  <a:srgbClr val="305070">
                    <a:alpha val="100000"/>
                  </a:srgbClr>
                </a:solidFill>
                <a:latin typeface="KaiTi"/>
                <a:ea typeface="KaiTi"/>
                <a:cs typeface="KaiTi"/>
              </a:rPr>
              <a:t>银核理</a:t>
            </a:r>
            <a:endParaRPr sz="600" dirty="0">
              <a:latin typeface="KaiTi"/>
              <a:ea typeface="KaiTi"/>
              <a:cs typeface="KaiTi"/>
            </a:endParaRPr>
          </a:p>
          <a:p>
            <a:pPr marL="107950" algn="l" rtl="0" eaLnBrk="0">
              <a:lnSpc>
                <a:spcPts val="488"/>
              </a:lnSpc>
              <a:spcBef>
                <a:spcPts val="270"/>
              </a:spcBef>
              <a:tabLst/>
            </a:pP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1.</a:t>
            </a: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用户进</a:t>
            </a:r>
            <a:r>
              <a:rPr sz="400" kern="0" spc="40" dirty="0">
                <a:solidFill>
                  <a:srgbClr val="00000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入</a:t>
            </a:r>
            <a:endParaRPr sz="400" dirty="0">
              <a:latin typeface="SimSun"/>
              <a:ea typeface="SimSun"/>
              <a:cs typeface="SimSun"/>
            </a:endParaRPr>
          </a:p>
          <a:p>
            <a:pPr marL="95250" algn="l" rtl="0" eaLnBrk="0">
              <a:lnSpc>
                <a:spcPts val="716"/>
              </a:lnSpc>
              <a:spcBef>
                <a:spcPts val="205"/>
              </a:spcBef>
              <a:tabLst/>
            </a:pPr>
            <a:r>
              <a:rPr sz="500" kern="0" spc="-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2.</a:t>
            </a:r>
            <a:r>
              <a:rPr sz="500" kern="0" spc="-10" dirty="0">
                <a:solidFill>
                  <a:srgbClr val="102070">
                    <a:alpha val="100000"/>
                  </a:srgbClr>
                </a:solidFill>
                <a:latin typeface="LiSu"/>
                <a:ea typeface="LiSu"/>
                <a:cs typeface="LiSu"/>
              </a:rPr>
              <a:t>蒸求议刷</a:t>
            </a:r>
            <a:endParaRPr sz="500" dirty="0">
              <a:latin typeface="LiSu"/>
              <a:ea typeface="LiSu"/>
              <a:cs typeface="LiSu"/>
            </a:endParaRPr>
          </a:p>
          <a:p>
            <a:pPr marL="57150" algn="l" rtl="0" eaLnBrk="0">
              <a:lnSpc>
                <a:spcPct val="99000"/>
              </a:lnSpc>
              <a:spcBef>
                <a:spcPts val="69"/>
              </a:spcBef>
              <a:tabLst/>
            </a:pP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3.</a:t>
            </a:r>
            <a:r>
              <a:rPr sz="500" kern="0" spc="-9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 </a:t>
            </a:r>
            <a:r>
              <a:rPr sz="500" b="1" kern="0" spc="-20" dirty="0">
                <a:solidFill>
                  <a:srgbClr val="000000">
                    <a:alpha val="100000"/>
                  </a:srgbClr>
                </a:solidFill>
                <a:latin typeface="KaiTi"/>
                <a:ea typeface="KaiTi"/>
                <a:cs typeface="KaiTi"/>
              </a:rPr>
              <a:t>方案限示</a:t>
            </a:r>
            <a:endParaRPr sz="500" dirty="0">
              <a:latin typeface="KaiTi"/>
              <a:ea typeface="KaiTi"/>
              <a:cs typeface="KaiTi"/>
            </a:endParaRPr>
          </a:p>
          <a:p>
            <a:pPr marL="31750" algn="l" rtl="0" eaLnBrk="0">
              <a:lnSpc>
                <a:spcPts val="488"/>
              </a:lnSpc>
              <a:spcBef>
                <a:spcPts val="197"/>
              </a:spcBef>
              <a:tabLst/>
            </a:pPr>
            <a:r>
              <a:rPr sz="400" kern="0" spc="5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4.</a:t>
            </a:r>
            <a:r>
              <a:rPr sz="400" kern="0" spc="-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 </a:t>
            </a:r>
            <a:r>
              <a:rPr sz="400" kern="0" spc="50" dirty="0">
                <a:solidFill>
                  <a:srgbClr val="102070">
                    <a:alpha val="100000"/>
                  </a:srgbClr>
                </a:solidFill>
                <a:latin typeface="LiSu"/>
                <a:ea typeface="LiSu"/>
                <a:cs typeface="LiSu"/>
              </a:rPr>
              <a:t>交直体检</a:t>
            </a:r>
            <a:endParaRPr sz="4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31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88"/>
              </a:lnSpc>
              <a:tabLst/>
            </a:pP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5.</a:t>
            </a: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价</a:t>
            </a:r>
            <a:r>
              <a:rPr sz="500" b="1" kern="0" spc="20" dirty="0">
                <a:solidFill>
                  <a:srgbClr val="80B0C0">
                    <a:alpha val="100000"/>
                  </a:srgbClr>
                </a:solidFill>
                <a:latin typeface="KaiTi"/>
                <a:ea typeface="KaiTi"/>
                <a:cs typeface="KaiTi"/>
              </a:rPr>
              <a:t>值反馈</a:t>
            </a:r>
            <a:endParaRPr sz="500" dirty="0">
              <a:latin typeface="KaiTi"/>
              <a:ea typeface="KaiTi"/>
              <a:cs typeface="KaiTi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33392" y="69879"/>
            <a:ext cx="7025005" cy="582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29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58165" algn="l" rtl="0" eaLnBrk="0">
              <a:lnSpc>
                <a:spcPct val="94000"/>
              </a:lnSpc>
              <a:tabLst>
                <a:tab pos="789940" algn="l"/>
              </a:tabLst>
            </a:pPr>
            <a:r>
              <a:rPr sz="1700" kern="0" spc="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7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2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|第6次：</a:t>
            </a:r>
            <a:r>
              <a:rPr sz="1700" kern="0" spc="-5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700" b="1" kern="0" spc="6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赋能项目诊断与原型设计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6092" y="82579"/>
            <a:ext cx="546042" cy="533359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1133889" y="5385118"/>
            <a:ext cx="4809490" cy="297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9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善</a:t>
            </a:r>
            <a:r>
              <a:rPr sz="1900" kern="0" spc="-2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</a:t>
            </a: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900" b="1" kern="0" spc="12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,</a:t>
            </a:r>
            <a:r>
              <a:rPr sz="1900" b="1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让方案更清晰，让</a:t>
            </a:r>
            <a:r>
              <a:rPr sz="1900" b="1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原型更可见。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11190" y="3714755"/>
            <a:ext cx="679394" cy="698518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1075249" y="3997621"/>
            <a:ext cx="2823210" cy="200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b="1" kern="0" spc="-2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对应理论模块：模块4</a:t>
            </a:r>
            <a:r>
              <a:rPr sz="1200" kern="0" spc="-2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b="1" kern="0" spc="-30" dirty="0">
                <a:solidFill>
                  <a:srgbClr val="004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b="1" kern="0" spc="-3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赋能与产品</a:t>
            </a:r>
            <a:r>
              <a:rPr sz="1200" b="1" kern="0" spc="-30" dirty="0">
                <a:solidFill>
                  <a:srgbClr val="004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endParaRPr sz="1200" dirty="0">
              <a:latin typeface="Arial"/>
              <a:ea typeface="Arial"/>
              <a:cs typeface="Arial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4337060" y="3941864"/>
            <a:ext cx="537209" cy="589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914"/>
              </a:lnSpc>
              <a:tabLst/>
            </a:pP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项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目诊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断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清</a:t>
            </a: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单</a:t>
            </a:r>
            <a:endParaRPr sz="7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3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46050" algn="l" rtl="0" eaLnBrk="0">
              <a:lnSpc>
                <a:spcPts val="513"/>
              </a:lnSpc>
              <a:spcBef>
                <a:spcPts val="121"/>
              </a:spcBef>
              <a:tabLst/>
            </a:pP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核</a:t>
            </a:r>
            <a:r>
              <a:rPr sz="400" kern="0" spc="8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心</a:t>
            </a:r>
            <a:r>
              <a:rPr sz="400" kern="0" spc="6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 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同</a:t>
            </a:r>
            <a:r>
              <a:rPr sz="4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题</a:t>
            </a:r>
            <a:endParaRPr sz="400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2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43815" algn="l" rtl="0" eaLnBrk="0">
              <a:lnSpc>
                <a:spcPts val="835"/>
              </a:lnSpc>
              <a:spcBef>
                <a:spcPts val="3"/>
              </a:spcBef>
              <a:tabLst/>
            </a:pPr>
            <a:r>
              <a:rPr sz="600" kern="0" spc="-20" dirty="0">
                <a:solidFill>
                  <a:srgbClr val="B0303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☑</a:t>
            </a:r>
            <a:r>
              <a:rPr sz="600" kern="0" spc="140" dirty="0">
                <a:solidFill>
                  <a:srgbClr val="B0303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解决方案</a:t>
            </a:r>
            <a:endParaRPr sz="600" dirty="0">
              <a:latin typeface="LiSu"/>
              <a:ea typeface="LiSu"/>
              <a:cs typeface="LiSu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848833" y="196827"/>
            <a:ext cx="603269" cy="30480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6" name="rect 26"/>
          <p:cNvSpPr/>
          <p:nvPr/>
        </p:nvSpPr>
        <p:spPr>
          <a:xfrm>
            <a:off x="146092" y="12727"/>
            <a:ext cx="10413987" cy="577816"/>
          </a:xfrm>
          <a:prstGeom prst="rect">
            <a:avLst/>
          </a:prstGeom>
          <a:solidFill>
            <a:srgbClr val="FAFBF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textbox 28"/>
          <p:cNvSpPr/>
          <p:nvPr/>
        </p:nvSpPr>
        <p:spPr>
          <a:xfrm>
            <a:off x="704810" y="1879574"/>
            <a:ext cx="2578100" cy="2235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08965" algn="l" rtl="0" eaLnBrk="0">
              <a:lnSpc>
                <a:spcPct val="96000"/>
              </a:lnSpc>
              <a:spcBef>
                <a:spcPts val="1"/>
              </a:spcBef>
              <a:tabLst>
                <a:tab pos="803275" algn="l"/>
              </a:tabLst>
            </a:pPr>
            <a:r>
              <a:rPr sz="1900" kern="0" spc="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900" b="1" kern="0" spc="-6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03200" indent="-177800" algn="l" rtl="0" eaLnBrk="0">
              <a:lnSpc>
                <a:spcPct val="102000"/>
              </a:lnSpc>
              <a:spcBef>
                <a:spcPts val="360"/>
              </a:spcBef>
              <a:tabLst/>
            </a:pPr>
            <a:r>
              <a:rPr sz="1200" kern="0" spc="-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-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帮助学生将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工具真实融入项目分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析</a:t>
            </a: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和方案优化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203200" indent="-177800" algn="l" rtl="0" eaLnBrk="0">
              <a:lnSpc>
                <a:spcPct val="110000"/>
              </a:lnSpc>
              <a:spcBef>
                <a:spcPts val="881"/>
              </a:spcBef>
              <a:tabLst/>
            </a:pPr>
            <a:r>
              <a:rPr sz="1100" kern="0" spc="4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4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学会利用大模型进行调研总结、文案</a:t>
            </a:r>
            <a:r>
              <a:rPr sz="11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优化、项目诊断和原型构思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25400" algn="l" rtl="0" eaLnBrk="0">
              <a:lnSpc>
                <a:spcPct val="95000"/>
              </a:lnSpc>
              <a:spcBef>
                <a:spcPts val="898"/>
              </a:spcBef>
              <a:tabLst/>
            </a:pPr>
            <a:r>
              <a:rPr sz="1200" kern="0" spc="-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-50" dirty="0">
                <a:solidFill>
                  <a:srgbClr val="104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帮助学生形成项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思维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25400" algn="l" rtl="0" eaLnBrk="0">
              <a:lnSpc>
                <a:spcPct val="95000"/>
              </a:lnSpc>
              <a:spcBef>
                <a:spcPts val="4"/>
              </a:spcBef>
              <a:tabLst/>
            </a:pPr>
            <a:r>
              <a:rPr sz="1100" kern="0" spc="2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100" kern="0" spc="20" dirty="0">
                <a:solidFill>
                  <a:srgbClr val="205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形成可展示的初步原型或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100" kern="0" spc="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方案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17510" y="1892274"/>
            <a:ext cx="596899" cy="590603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393726" y="712804"/>
            <a:ext cx="5151754" cy="960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8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4700" b="1" kern="0" spc="-26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实践目标与核</a:t>
            </a:r>
            <a:r>
              <a:rPr sz="4700" b="1" kern="0" spc="-25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心任</a:t>
            </a:r>
            <a:r>
              <a:rPr sz="4700" b="1" kern="0" spc="-19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</a:t>
            </a:r>
            <a:endParaRPr sz="4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284"/>
              </a:spcBef>
              <a:tabLst/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从“有想法”走向“会诊断、能</a:t>
            </a:r>
            <a:r>
              <a:rPr sz="15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原型”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7232689" y="1879574"/>
            <a:ext cx="1799589" cy="2268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16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08965" algn="l" rtl="0" eaLnBrk="0">
              <a:lnSpc>
                <a:spcPct val="98000"/>
              </a:lnSpc>
              <a:tabLst>
                <a:tab pos="803275" algn="l"/>
              </a:tabLst>
            </a:pPr>
            <a:r>
              <a:rPr sz="1900" kern="0" spc="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900" b="1" kern="0" spc="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成果产出</a:t>
            </a:r>
            <a:endParaRPr sz="1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86715" algn="l" rtl="0" eaLnBrk="0">
              <a:lnSpc>
                <a:spcPct val="95000"/>
              </a:lnSpc>
              <a:spcBef>
                <a:spcPts val="366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200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诊断记录表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386715" algn="l" rtl="0" eaLnBrk="0">
              <a:lnSpc>
                <a:spcPct val="85000"/>
              </a:lnSpc>
              <a:spcBef>
                <a:spcPts val="1171"/>
              </a:spcBef>
              <a:tabLst/>
            </a:pP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提示词设计记录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86715" algn="l" rtl="0" eaLnBrk="0">
              <a:lnSpc>
                <a:spcPts val="2450"/>
              </a:lnSpc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说明表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272415" algn="l" rtl="0" eaLnBrk="0">
              <a:lnSpc>
                <a:spcPct val="99000"/>
              </a:lnSpc>
              <a:spcBef>
                <a:spcPts val="1335"/>
              </a:spcBef>
              <a:tabLst>
                <a:tab pos="386715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原型草图/界面方案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79400" algn="l" rtl="0" eaLnBrk="0">
              <a:lnSpc>
                <a:spcPct val="96000"/>
              </a:lnSpc>
              <a:spcBef>
                <a:spcPts val="6"/>
              </a:spcBef>
              <a:tabLst>
                <a:tab pos="38671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展示提纲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245389" y="3854459"/>
            <a:ext cx="266703" cy="26034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245389" y="3543323"/>
            <a:ext cx="260333" cy="260345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245389" y="1892274"/>
            <a:ext cx="596899" cy="596937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4083097" y="2646610"/>
            <a:ext cx="1409064" cy="1501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4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93065" algn="l" rtl="0" eaLnBrk="0">
              <a:lnSpc>
                <a:spcPct val="85000"/>
              </a:lnSpc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团队项目诊断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393065" algn="l" rtl="0" eaLnBrk="0">
              <a:lnSpc>
                <a:spcPts val="2499"/>
              </a:lnSpc>
              <a:tabLst/>
            </a:pPr>
            <a:r>
              <a:rPr sz="11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提示词设计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393065" algn="l" rtl="0" eaLnBrk="0">
              <a:lnSpc>
                <a:spcPct val="181000"/>
              </a:lnSpc>
              <a:spcBef>
                <a:spcPts val="111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结构设计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原型草图绘制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marL="279400" algn="l" rtl="0" eaLnBrk="0">
              <a:lnSpc>
                <a:spcPct val="96000"/>
              </a:lnSpc>
              <a:spcBef>
                <a:spcPts val="1"/>
              </a:spcBef>
              <a:tabLst>
                <a:tab pos="39306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逻辑梳理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095797" y="3848125"/>
            <a:ext cx="266703" cy="266679"/>
          </a:xfrm>
          <a:prstGeom prst="rect">
            <a:avLst/>
          </a:prstGeom>
        </p:spPr>
      </p:pic>
      <p:sp>
        <p:nvSpPr>
          <p:cNvPr id="46" name="textbox 46"/>
          <p:cNvSpPr/>
          <p:nvPr/>
        </p:nvSpPr>
        <p:spPr>
          <a:xfrm>
            <a:off x="4051351" y="1879574"/>
            <a:ext cx="1758950" cy="654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15315" algn="l" rtl="0" eaLnBrk="0">
              <a:lnSpc>
                <a:spcPct val="98000"/>
              </a:lnSpc>
              <a:spcBef>
                <a:spcPts val="4"/>
              </a:spcBef>
              <a:tabLst>
                <a:tab pos="809625" algn="l"/>
              </a:tabLst>
            </a:pPr>
            <a:r>
              <a:rPr sz="1900" kern="0" spc="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900" b="1" kern="0" spc="-6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重点任务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064051" y="1892274"/>
            <a:ext cx="603163" cy="596937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1184639" y="5454970"/>
            <a:ext cx="351409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看清问题，才能更好设计方案</a:t>
            </a:r>
            <a:r>
              <a:rPr sz="19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3551339" y="183033"/>
            <a:ext cx="3486150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700" b="1" kern="0" spc="5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第6次：</a:t>
            </a:r>
            <a:r>
              <a:rPr sz="1700" b="1" kern="0" spc="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700" b="1" kern="0" spc="5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赋能项目诊</a:t>
            </a:r>
            <a:r>
              <a:rPr sz="1700" b="1" kern="0" spc="4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断与原型设计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260374" y="183033"/>
            <a:ext cx="3134995" cy="300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7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3000" kern="0" spc="100" baseline="-1389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  <a:r>
              <a:rPr sz="19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1700" b="1" kern="0" spc="10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2781322" y="4457698"/>
            <a:ext cx="1495425" cy="3987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381000" algn="l" rtl="0" eaLnBrk="0">
              <a:lnSpc>
                <a:spcPct val="96000"/>
              </a:lnSpc>
              <a:spcBef>
                <a:spcPts val="7"/>
              </a:spcBef>
              <a:tabLst>
                <a:tab pos="546100" algn="l"/>
              </a:tabLst>
            </a:pPr>
            <a:r>
              <a:rPr sz="1400" kern="0" spc="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提示词设计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58" name="picture 5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794022" y="4470398"/>
            <a:ext cx="368310" cy="349259"/>
          </a:xfrm>
          <a:prstGeom prst="rect">
            <a:avLst/>
          </a:prstGeom>
        </p:spPr>
      </p:pic>
      <p:sp>
        <p:nvSpPr>
          <p:cNvPr id="60" name="textbox 60"/>
          <p:cNvSpPr/>
          <p:nvPr/>
        </p:nvSpPr>
        <p:spPr>
          <a:xfrm>
            <a:off x="8432751" y="4476759"/>
            <a:ext cx="1332230" cy="364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355600" algn="l" rtl="0" eaLnBrk="0">
              <a:lnSpc>
                <a:spcPct val="98000"/>
              </a:lnSpc>
              <a:spcBef>
                <a:spcPts val="2"/>
              </a:spcBef>
              <a:tabLst>
                <a:tab pos="450850" algn="l"/>
              </a:tabLst>
            </a:pPr>
            <a:r>
              <a:rPr sz="1500" b="1" kern="0" spc="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500" b="1" kern="0" spc="-5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500" b="1" kern="0" spc="-50" dirty="0">
                <a:solidFill>
                  <a:srgbClr val="102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逻辑</a:t>
            </a:r>
            <a:endParaRPr sz="1500" dirty="0">
              <a:latin typeface="SimSun"/>
              <a:ea typeface="SimSun"/>
              <a:cs typeface="SimSun"/>
            </a:endParaRPr>
          </a:p>
        </p:txBody>
      </p:sp>
      <p:pic>
        <p:nvPicPr>
          <p:cNvPr id="62" name="picture 6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445451" y="4489459"/>
            <a:ext cx="342935" cy="311136"/>
          </a:xfrm>
          <a:prstGeom prst="rect">
            <a:avLst/>
          </a:prstGeom>
        </p:spPr>
      </p:pic>
      <p:sp>
        <p:nvSpPr>
          <p:cNvPr id="64" name="textbox 64"/>
          <p:cNvSpPr/>
          <p:nvPr/>
        </p:nvSpPr>
        <p:spPr>
          <a:xfrm>
            <a:off x="914393" y="4444970"/>
            <a:ext cx="1142364" cy="406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2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05765" algn="l" rtl="0" eaLnBrk="0">
              <a:lnSpc>
                <a:spcPct val="95000"/>
              </a:lnSpc>
              <a:spcBef>
                <a:spcPts val="2"/>
              </a:spcBef>
              <a:tabLst>
                <a:tab pos="558800" algn="l"/>
              </a:tabLst>
            </a:pPr>
            <a:r>
              <a:rPr sz="1500" kern="0" spc="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500" kern="0" spc="-2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500" kern="0" spc="-17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kern="0" spc="-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66" name="picture 6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927093" y="4457670"/>
            <a:ext cx="393685" cy="355652"/>
          </a:xfrm>
          <a:prstGeom prst="rect">
            <a:avLst/>
          </a:prstGeom>
        </p:spPr>
      </p:pic>
      <p:sp>
        <p:nvSpPr>
          <p:cNvPr id="68" name="textbox 68"/>
          <p:cNvSpPr/>
          <p:nvPr/>
        </p:nvSpPr>
        <p:spPr>
          <a:xfrm>
            <a:off x="6578564" y="4470425"/>
            <a:ext cx="1224280" cy="375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49250" algn="l" rtl="0" eaLnBrk="0">
              <a:lnSpc>
                <a:spcPct val="96000"/>
              </a:lnSpc>
              <a:tabLst>
                <a:tab pos="457200" algn="l"/>
              </a:tabLst>
            </a:pPr>
            <a:r>
              <a:rPr sz="1500" kern="0" spc="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kern="0" spc="-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原型草图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6591264" y="4483125"/>
            <a:ext cx="336565" cy="323804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4997450" y="4444970"/>
            <a:ext cx="927735" cy="442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61315" algn="l" rtl="0" eaLnBrk="0">
              <a:lnSpc>
                <a:spcPct val="81000"/>
              </a:lnSpc>
              <a:spcBef>
                <a:spcPts val="5"/>
              </a:spcBef>
              <a:tabLst>
                <a:tab pos="488950" algn="l"/>
              </a:tabLst>
            </a:pPr>
            <a:r>
              <a:rPr sz="1600" b="1" kern="0" spc="0" dirty="0">
                <a:solidFill>
                  <a:srgbClr val="205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600" b="1" kern="0" spc="-40" dirty="0">
                <a:solidFill>
                  <a:srgbClr val="205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endParaRPr sz="1600" dirty="0">
              <a:latin typeface="Arial"/>
              <a:ea typeface="Arial"/>
              <a:cs typeface="Arial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010150" y="4457670"/>
            <a:ext cx="349200" cy="368320"/>
          </a:xfrm>
          <a:prstGeom prst="rect">
            <a:avLst/>
          </a:prstGeom>
        </p:spPr>
      </p:pic>
      <p:pic>
        <p:nvPicPr>
          <p:cNvPr id="76" name="picture 7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4089426" y="3225792"/>
            <a:ext cx="273074" cy="584210"/>
          </a:xfrm>
          <a:prstGeom prst="rect">
            <a:avLst/>
          </a:prstGeom>
        </p:spPr>
      </p:pic>
      <p:pic>
        <p:nvPicPr>
          <p:cNvPr id="78" name="picture 7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3463087" y="195733"/>
            <a:ext cx="63258" cy="2191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82" name="textbox 82"/>
          <p:cNvSpPr/>
          <p:nvPr/>
        </p:nvSpPr>
        <p:spPr>
          <a:xfrm>
            <a:off x="1422426" y="2314704"/>
            <a:ext cx="8650605" cy="23482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" algn="l" rtl="0" eaLnBrk="0">
              <a:lnSpc>
                <a:spcPct val="95000"/>
              </a:lnSpc>
              <a:tabLst/>
            </a:pPr>
            <a:r>
              <a:rPr sz="1400" b="1" kern="0" spc="-4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常见误区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556"/>
              </a:spcBef>
              <a:tabLst/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直接堆功能，缺少问题聚焦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502"/>
              </a:spcBef>
              <a:tabLst/>
            </a:pP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只关注技术实现，不关注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真实需求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7000"/>
              </a:lnSpc>
              <a:spcBef>
                <a:spcPts val="452"/>
              </a:spcBef>
              <a:tabLst/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2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没有优先级，什么都想做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550"/>
              </a:spcBef>
              <a:tabLst/>
            </a:pP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好看但脱离场景与价值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1815"/>
              </a:lnSpc>
              <a:spcBef>
                <a:spcPts val="478"/>
              </a:spcBef>
              <a:tabLst/>
            </a:pPr>
            <a:r>
              <a:rPr sz="2000" b="1" kern="0" spc="-20" baseline="10867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现有问题</a:t>
            </a:r>
            <a:r>
              <a:rPr sz="1300" kern="0" spc="-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2100" b="1" kern="0" spc="-20" baseline="-7012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2100" b="1" kern="0" spc="-20" baseline="-7012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辅助分析</a:t>
            </a:r>
            <a:r>
              <a:rPr sz="1300" kern="0" spc="-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2100" b="1" kern="0" spc="-20" baseline="-7012" dirty="0">
                <a:solidFill>
                  <a:srgbClr val="201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关键问题</a:t>
            </a:r>
            <a:r>
              <a:rPr sz="1300" kern="0" spc="-30" dirty="0">
                <a:solidFill>
                  <a:srgbClr val="201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2100" b="1" kern="0" spc="-30" baseline="10349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2100" b="1" kern="0" spc="-30" baseline="10349" dirty="0">
                <a:solidFill>
                  <a:srgbClr val="102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定义</a:t>
            </a:r>
            <a:r>
              <a:rPr sz="1300" kern="0" spc="30" dirty="0">
                <a:solidFill>
                  <a:srgbClr val="10208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    </a:t>
            </a:r>
            <a:r>
              <a:rPr sz="2000" b="1" kern="0" spc="-30" baseline="10867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原型方向</a:t>
            </a:r>
            <a:endParaRPr sz="2000" baseline="10867" dirty="0">
              <a:latin typeface="SimHei"/>
              <a:ea typeface="SimHei"/>
              <a:cs typeface="SimHei"/>
            </a:endParaRPr>
          </a:p>
          <a:p>
            <a:pPr marL="15240" algn="l" rtl="0" eaLnBrk="0">
              <a:lnSpc>
                <a:spcPct val="95000"/>
              </a:lnSpc>
              <a:spcBef>
                <a:spcPts val="177"/>
              </a:spcBef>
              <a:tabLst/>
            </a:pPr>
            <a:r>
              <a:rPr sz="1400" b="1" kern="0" spc="-3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为什么要先诊断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5"/>
              </a:lnSpc>
              <a:spcBef>
                <a:spcPts val="605"/>
              </a:spcBef>
              <a:tabLst/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找到真正需要解决的问题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5"/>
              </a:lnSpc>
              <a:spcBef>
                <a:spcPts val="465"/>
              </a:spcBef>
              <a:tabLst/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确定项目的核心验证目标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139"/>
              </a:spcBef>
              <a:tabLst/>
            </a:pPr>
            <a:r>
              <a:rPr sz="1400" kern="0" spc="10" baseline="18602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10" baseline="18602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明确哪些功能该做、哪些暂缓</a:t>
            </a:r>
            <a:r>
              <a:rPr sz="9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 </a:t>
            </a:r>
            <a:r>
              <a:rPr sz="1600" b="1" kern="0" spc="0" dirty="0">
                <a:solidFill>
                  <a:srgbClr val="004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600" b="1" kern="0" spc="-130" dirty="0">
                <a:solidFill>
                  <a:srgbClr val="0040C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1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帮助我们更快发现问题，但最终判断仍</a:t>
            </a:r>
            <a:r>
              <a:rPr sz="1600" b="1" kern="0" spc="0" dirty="0">
                <a:solidFill>
                  <a:srgbClr val="004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来自团队。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108"/>
              </a:spcBef>
              <a:tabLst/>
            </a:pP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-3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让原型设计更聚焦、更高效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350570" y="1045276"/>
            <a:ext cx="9987280" cy="9201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4300" b="1" kern="0" spc="-13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任务导入：为什么要先做</a:t>
            </a:r>
            <a:r>
              <a:rPr sz="4300" b="1" kern="0" spc="-13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 </a:t>
            </a:r>
            <a:r>
              <a:rPr sz="4300" b="1" kern="0" spc="-13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诊断再做原型?</a:t>
            </a:r>
            <a:endParaRPr sz="4300" dirty="0">
              <a:latin typeface="SimHei"/>
              <a:ea typeface="SimHei"/>
              <a:cs typeface="SimHei"/>
            </a:endParaRPr>
          </a:p>
          <a:p>
            <a:pPr marL="26669" algn="l" rtl="0" eaLnBrk="0">
              <a:lnSpc>
                <a:spcPct val="92000"/>
              </a:lnSpc>
              <a:spcBef>
                <a:spcPts val="352"/>
              </a:spcBef>
              <a:tabLst/>
            </a:pPr>
            <a:r>
              <a:rPr sz="1600" b="1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原型不是随便画，而</a:t>
            </a:r>
            <a:r>
              <a:rPr sz="16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是建立在清晰问题与价值判断上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86" name="picture 8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58727" y="133369"/>
            <a:ext cx="508033" cy="463507"/>
          </a:xfrm>
          <a:prstGeom prst="rect">
            <a:avLst/>
          </a:prstGeom>
        </p:spPr>
      </p:pic>
      <p:sp>
        <p:nvSpPr>
          <p:cNvPr id="88" name="textbox 88"/>
          <p:cNvSpPr/>
          <p:nvPr/>
        </p:nvSpPr>
        <p:spPr>
          <a:xfrm>
            <a:off x="298490" y="278280"/>
            <a:ext cx="6853555" cy="285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0000"/>
              </a:lnSpc>
              <a:tabLst/>
            </a:pPr>
            <a:r>
              <a:rPr sz="3300" kern="0" spc="70" baseline="-7892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  <a:r>
              <a:rPr sz="2100" kern="0" spc="10" dirty="0">
                <a:solidFill>
                  <a:srgbClr val="FFFFFF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</a:t>
            </a: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13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|第6次：</a:t>
            </a:r>
            <a:r>
              <a:rPr sz="1700" b="1" kern="0" spc="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赋能项目诊断与原型设计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1121511" y="5384496"/>
            <a:ext cx="4256404" cy="326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4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2100" b="1" kern="0" spc="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先诊断，再设计，原</a:t>
            </a:r>
            <a:r>
              <a:rPr sz="21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型才更有效。</a:t>
            </a:r>
            <a:endParaRPr sz="2100" dirty="0">
              <a:latin typeface="SimHei"/>
              <a:ea typeface="SimHei"/>
              <a:cs typeface="SimHei"/>
            </a:endParaRPr>
          </a:p>
        </p:txBody>
      </p:sp>
      <p:pic>
        <p:nvPicPr>
          <p:cNvPr id="92" name="picture 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65153" y="3771879"/>
            <a:ext cx="736621" cy="742975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577894" y="2451089"/>
            <a:ext cx="717510" cy="73664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836198" y="196827"/>
            <a:ext cx="609533" cy="30480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00" name="textbox 100"/>
          <p:cNvSpPr/>
          <p:nvPr/>
        </p:nvSpPr>
        <p:spPr>
          <a:xfrm>
            <a:off x="339405" y="967047"/>
            <a:ext cx="6627494" cy="971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81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97000"/>
              </a:lnSpc>
              <a:tabLst/>
            </a:pPr>
            <a:r>
              <a:rPr sz="3400" b="1" kern="0" spc="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3400" b="1" kern="0" spc="9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3400" b="1" kern="0" spc="9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辅助项目诊断：可以诊断什么?</a:t>
            </a:r>
            <a:endParaRPr sz="3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788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b="1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借助大模型对项目目标、用户、</a:t>
            </a:r>
            <a:r>
              <a:rPr sz="1600" b="1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方案与风险进行快速体检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1079491" y="4634191"/>
            <a:ext cx="4483734" cy="10337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-3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输入材料建议：用户需求、竞品信息、现有方</a:t>
            </a:r>
            <a:r>
              <a:rPr sz="1200" kern="0" spc="-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案、反馈记录。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6039" algn="l" rtl="0" eaLnBrk="0">
              <a:lnSpc>
                <a:spcPct val="95000"/>
              </a:lnSpc>
              <a:spcBef>
                <a:spcPts val="4"/>
              </a:spcBef>
              <a:tabLst/>
            </a:pPr>
            <a:r>
              <a:rPr sz="1600" b="1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把问题问清楚，</a:t>
            </a:r>
            <a:r>
              <a:rPr sz="16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600" b="1" kern="0" spc="1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</a:t>
            </a:r>
            <a:r>
              <a:rPr sz="1600" b="1" kern="0" spc="1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才会给出更有用的建议。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7359670" y="1718509"/>
            <a:ext cx="1270000" cy="12172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100000"/>
              </a:lnSpc>
              <a:tabLst/>
            </a:pPr>
            <a:r>
              <a:rPr sz="900" kern="0" spc="20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诊断结果(示例)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9050" algn="l" rtl="0" eaLnBrk="0">
              <a:lnSpc>
                <a:spcPct val="95000"/>
              </a:lnSpc>
              <a:spcBef>
                <a:spcPts val="879"/>
              </a:spcBef>
              <a:tabLst/>
            </a:pPr>
            <a:r>
              <a:rPr sz="1100" kern="0" spc="-70" dirty="0">
                <a:solidFill>
                  <a:srgbClr val="B0F0B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☑</a:t>
            </a:r>
            <a:r>
              <a:rPr sz="1100" kern="0" spc="-160" dirty="0">
                <a:solidFill>
                  <a:srgbClr val="B0F0B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价值主张诊断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946"/>
              </a:spcBef>
              <a:tabLst/>
            </a:pPr>
            <a:r>
              <a:rPr sz="1100" kern="0" spc="-70" dirty="0">
                <a:solidFill>
                  <a:srgbClr val="60E07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☑</a:t>
            </a:r>
            <a:r>
              <a:rPr sz="1100" kern="0" spc="-70" dirty="0">
                <a:solidFill>
                  <a:srgbClr val="60E070">
                    <a:alpha val="100000"/>
                  </a:srgbClr>
                </a:solidFill>
                <a:latin typeface="MS Gothic"/>
                <a:ea typeface="MS Gothic"/>
                <a:cs typeface="MS Gothic"/>
              </a:rPr>
              <a:t> </a:t>
            </a:r>
            <a:r>
              <a:rPr sz="11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用户与场景诊断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208915" algn="l" rtl="0" eaLnBrk="0">
              <a:lnSpc>
                <a:spcPct val="100000"/>
              </a:lnSpc>
              <a:spcBef>
                <a:spcPts val="787"/>
              </a:spcBef>
              <a:tabLst/>
            </a:pPr>
            <a:r>
              <a:rPr sz="900" kern="0" spc="1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功能与流程诊断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8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100000"/>
              </a:lnSpc>
              <a:spcBef>
                <a:spcPts val="2"/>
              </a:spcBef>
              <a:tabLst/>
            </a:pP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风险与可行性诊断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06" name="textbox 106"/>
          <p:cNvSpPr/>
          <p:nvPr/>
        </p:nvSpPr>
        <p:spPr>
          <a:xfrm>
            <a:off x="8655075" y="3476578"/>
            <a:ext cx="1419860" cy="1061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52"/>
              </a:lnSpc>
              <a:tabLst/>
            </a:pP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700" kern="0" spc="-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目标用户明确：在校学生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00330" indent="-88264" algn="l" rtl="0" eaLnBrk="0">
              <a:lnSpc>
                <a:spcPct val="120000"/>
              </a:lnSpc>
              <a:spcBef>
                <a:spcPts val="401"/>
              </a:spcBef>
              <a:tabLst/>
            </a:pP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700" kern="0" spc="-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核心场景清晰：买书、卖书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求购、交换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100330" indent="-88264" algn="l" rtl="0" eaLnBrk="0">
              <a:lnSpc>
                <a:spcPct val="116000"/>
              </a:lnSpc>
              <a:spcBef>
                <a:spcPts val="435"/>
              </a:spcBef>
              <a:tabLst/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7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建议优化：增加信用评价与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物流保障机制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00330" indent="-88264" algn="l" rtl="0" eaLnBrk="0">
              <a:lnSpc>
                <a:spcPct val="119000"/>
              </a:lnSpc>
              <a:spcBef>
                <a:spcPts val="3"/>
              </a:spcBef>
              <a:tabLst/>
            </a:pP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700" kern="0" spc="-1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主要风险：供需匹配不足、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运营启动难度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108" name="textbox 108"/>
          <p:cNvSpPr/>
          <p:nvPr/>
        </p:nvSpPr>
        <p:spPr>
          <a:xfrm>
            <a:off x="4724375" y="3483593"/>
            <a:ext cx="1912620" cy="7283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b="1" kern="0" spc="-10" dirty="0">
                <a:solidFill>
                  <a:srgbClr val="103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4.</a:t>
            </a:r>
            <a:r>
              <a:rPr sz="1600" b="1" kern="0" spc="250" dirty="0">
                <a:solidFill>
                  <a:srgbClr val="103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1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风险与可行性诊断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85000"/>
              </a:lnSpc>
              <a:spcBef>
                <a:spcPts val="821"/>
              </a:spcBef>
              <a:tabLst/>
            </a:pPr>
            <a:r>
              <a:rPr sz="12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资源、成本、技术与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654"/>
              </a:lnSpc>
              <a:tabLst/>
            </a:pPr>
            <a:r>
              <a:rPr sz="12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竞争是否可控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1333454" y="2264648"/>
            <a:ext cx="1734185" cy="748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700" kern="0" spc="-20" dirty="0">
                <a:solidFill>
                  <a:srgbClr val="003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1.</a:t>
            </a:r>
            <a:r>
              <a:rPr sz="1700" b="1" kern="0" spc="-2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价值主张诊断</a:t>
            </a:r>
            <a:endParaRPr sz="1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7000"/>
              </a:lnSpc>
              <a:spcBef>
                <a:spcPts val="1"/>
              </a:spcBef>
              <a:tabLst/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是否真正解决用户问题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核心价值是否清晰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1333454" y="3496321"/>
            <a:ext cx="1734820" cy="734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b="1" kern="0" spc="10" dirty="0">
                <a:solidFill>
                  <a:srgbClr val="103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3.</a:t>
            </a:r>
            <a:r>
              <a:rPr sz="1600" b="1" kern="0" spc="270" dirty="0">
                <a:solidFill>
                  <a:srgbClr val="103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1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功能与流程诊断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2000"/>
              </a:lnSpc>
              <a:spcBef>
                <a:spcPts val="673"/>
              </a:spcBef>
              <a:tabLst/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功能是否聚焦，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2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关键流程是否顺畅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4724375" y="2277111"/>
            <a:ext cx="1715770" cy="734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9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600" b="1" kern="0" spc="-10" dirty="0">
                <a:solidFill>
                  <a:srgbClr val="103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2.</a:t>
            </a:r>
            <a:r>
              <a:rPr sz="1600" b="1" kern="0" spc="300" dirty="0">
                <a:solidFill>
                  <a:srgbClr val="103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b="1" kern="0" spc="-1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用户与场景诊断</a:t>
            </a:r>
            <a:endParaRPr sz="1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17000"/>
              </a:lnSpc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目标用户是否明确，</a:t>
            </a:r>
            <a:r>
              <a:rPr sz="12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2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使用场景是否具体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65097" y="133369"/>
            <a:ext cx="508033" cy="463507"/>
          </a:xfrm>
          <a:prstGeom prst="rect">
            <a:avLst/>
          </a:prstGeom>
        </p:spPr>
      </p:pic>
      <p:sp>
        <p:nvSpPr>
          <p:cNvPr id="118" name="textbox 118"/>
          <p:cNvSpPr/>
          <p:nvPr/>
        </p:nvSpPr>
        <p:spPr>
          <a:xfrm>
            <a:off x="279379" y="265553"/>
            <a:ext cx="3232785" cy="292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5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3000"/>
              </a:lnSpc>
              <a:tabLst/>
            </a:pPr>
            <a:r>
              <a:rPr sz="2900" kern="0" spc="100" baseline="-12573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4</a:t>
            </a:r>
            <a:r>
              <a:rPr sz="1800" kern="0" spc="10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</a:t>
            </a:r>
            <a:r>
              <a:rPr sz="1700" b="1" kern="0" spc="10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</a:t>
            </a:r>
            <a:r>
              <a:rPr sz="1700" b="1" kern="0" spc="9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础》实践课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3672027" y="265553"/>
            <a:ext cx="3479800" cy="2730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43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700" b="1" kern="0" spc="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第6次：</a:t>
            </a:r>
            <a:r>
              <a:rPr sz="1700" b="1" kern="0" spc="0" dirty="0">
                <a:solidFill>
                  <a:srgbClr val="103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赋能项目诊断与原型设计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7975575" y="1039395"/>
            <a:ext cx="1726564" cy="4610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3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500" b="1" kern="0" spc="0" dirty="0">
                <a:solidFill>
                  <a:srgbClr val="103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500" b="1" kern="0" spc="1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项目助手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9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为你的项目进行智能诊断与建议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7366041" y="3508368"/>
            <a:ext cx="1038860" cy="591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08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35000"/>
              </a:lnSpc>
              <a:tabLst/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请帮我评估我们的校园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二手书交易平台项目，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从用户、功能和风险等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方面进行诊断。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126" name="picture 1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69917" y="3448075"/>
            <a:ext cx="723880" cy="730247"/>
          </a:xfrm>
          <a:prstGeom prst="rect">
            <a:avLst/>
          </a:prstGeom>
        </p:spPr>
      </p:pic>
      <p:pic>
        <p:nvPicPr>
          <p:cNvPr id="128" name="picture 1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860838" y="2235199"/>
            <a:ext cx="717510" cy="736581"/>
          </a:xfrm>
          <a:prstGeom prst="rect">
            <a:avLst/>
          </a:prstGeom>
        </p:spPr>
      </p:pic>
      <p:pic>
        <p:nvPicPr>
          <p:cNvPr id="130" name="picture 1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76287" y="2235199"/>
            <a:ext cx="717510" cy="730247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860838" y="3448075"/>
            <a:ext cx="717510" cy="730247"/>
          </a:xfrm>
          <a:prstGeom prst="rect">
            <a:avLst/>
          </a:prstGeom>
        </p:spPr>
      </p:pic>
      <p:pic>
        <p:nvPicPr>
          <p:cNvPr id="134" name="picture 1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270764" y="971532"/>
            <a:ext cx="584158" cy="577875"/>
          </a:xfrm>
          <a:prstGeom prst="rect">
            <a:avLst/>
          </a:prstGeom>
        </p:spPr>
      </p:pic>
      <p:sp>
        <p:nvSpPr>
          <p:cNvPr id="136" name="textbox 136"/>
          <p:cNvSpPr/>
          <p:nvPr/>
        </p:nvSpPr>
        <p:spPr>
          <a:xfrm>
            <a:off x="7329469" y="3196506"/>
            <a:ext cx="2195829" cy="1504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82"/>
              </a:lnSpc>
              <a:tabLst/>
            </a:pPr>
            <a:r>
              <a:rPr sz="800" b="1" kern="0" spc="8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你的提问(示例)</a:t>
            </a:r>
            <a:r>
              <a:rPr sz="800" kern="0" spc="1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800" b="1" kern="0" spc="0" dirty="0">
                <a:solidFill>
                  <a:srgbClr val="1010B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800" kern="0" spc="8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分析结果(示例</a:t>
            </a:r>
            <a:r>
              <a:rPr sz="800" kern="0" spc="7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38" name="picture 1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836198" y="196827"/>
            <a:ext cx="609533" cy="304802"/>
          </a:xfrm>
          <a:prstGeom prst="rect">
            <a:avLst/>
          </a:prstGeom>
        </p:spPr>
      </p:pic>
      <p:sp>
        <p:nvSpPr>
          <p:cNvPr id="140" name="textbox 140"/>
          <p:cNvSpPr/>
          <p:nvPr/>
        </p:nvSpPr>
        <p:spPr>
          <a:xfrm>
            <a:off x="9747266" y="1985497"/>
            <a:ext cx="360045" cy="4432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6514" algn="l" rtl="0" eaLnBrk="0">
              <a:lnSpc>
                <a:spcPts val="973"/>
              </a:lnSpc>
              <a:tabLst/>
            </a:pPr>
            <a:r>
              <a:rPr sz="800" kern="0" spc="30" dirty="0">
                <a:solidFill>
                  <a:srgbClr val="10A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良好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9"/>
              </a:lnSpc>
              <a:spcBef>
                <a:spcPts val="1"/>
              </a:spcBef>
              <a:tabLst/>
            </a:pPr>
            <a:r>
              <a:rPr sz="800" kern="0" spc="70" dirty="0">
                <a:solidFill>
                  <a:srgbClr val="E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待优化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42" name="picture 1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944070" y="4311633"/>
            <a:ext cx="298449" cy="292134"/>
          </a:xfrm>
          <a:prstGeom prst="rect">
            <a:avLst/>
          </a:prstGeom>
        </p:spPr>
      </p:pic>
      <p:pic>
        <p:nvPicPr>
          <p:cNvPr id="144" name="picture 14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7308880" y="4216386"/>
            <a:ext cx="279338" cy="266739"/>
          </a:xfrm>
          <a:prstGeom prst="rect">
            <a:avLst/>
          </a:prstGeom>
        </p:spPr>
      </p:pic>
      <p:sp>
        <p:nvSpPr>
          <p:cNvPr id="146" name="textbox 146"/>
          <p:cNvSpPr/>
          <p:nvPr/>
        </p:nvSpPr>
        <p:spPr>
          <a:xfrm>
            <a:off x="9709112" y="2489211"/>
            <a:ext cx="426084" cy="171450"/>
          </a:xfrm>
          <a:prstGeom prst="rect">
            <a:avLst/>
          </a:prstGeom>
          <a:solidFill>
            <a:srgbClr val="EAF2EB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9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94614" algn="l" rtl="0" eaLnBrk="0">
              <a:lnSpc>
                <a:spcPts val="973"/>
              </a:lnSpc>
              <a:tabLst/>
            </a:pPr>
            <a:r>
              <a:rPr sz="800" kern="0" spc="30" dirty="0">
                <a:solidFill>
                  <a:srgbClr val="10A02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良好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9747266" y="2805521"/>
            <a:ext cx="360045" cy="1498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9"/>
              </a:lnSpc>
              <a:tabLst/>
            </a:pPr>
            <a:r>
              <a:rPr sz="800" kern="0" spc="70" dirty="0">
                <a:solidFill>
                  <a:srgbClr val="E06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待优化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150" name="picture 15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3581654" y="278253"/>
            <a:ext cx="63258" cy="21913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picture 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154" name="textbox 154"/>
          <p:cNvSpPr/>
          <p:nvPr/>
        </p:nvSpPr>
        <p:spPr>
          <a:xfrm>
            <a:off x="1006801" y="4597120"/>
            <a:ext cx="8569325" cy="1226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2400" b="1" kern="0" spc="-10" baseline="13022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使用原则</a:t>
            </a:r>
            <a:r>
              <a:rPr sz="1500" kern="0" spc="10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4000" b="1" kern="0" spc="-10" baseline="-3906" dirty="0">
                <a:solidFill>
                  <a:srgbClr val="90B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日</a:t>
            </a:r>
            <a:r>
              <a:rPr sz="2600" kern="0" spc="-10" dirty="0">
                <a:solidFill>
                  <a:srgbClr val="90B0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-1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信息具体</a:t>
            </a:r>
            <a:r>
              <a:rPr sz="1500" kern="0" spc="4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500" kern="0" spc="3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500" kern="0" spc="-1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问题聚焦</a:t>
            </a:r>
            <a:r>
              <a:rPr sz="1500" kern="0" spc="-1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2300" kern="0" spc="-10" baseline="-2264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要求清晰</a:t>
            </a:r>
            <a:r>
              <a:rPr sz="1400" kern="0" spc="10" dirty="0">
                <a:solidFill>
                  <a:srgbClr val="2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</a:t>
            </a:r>
            <a:r>
              <a:rPr sz="1500" kern="0" spc="-1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结果复核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900" b="1" kern="0" spc="1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会提问，才能更高效地</a:t>
            </a:r>
            <a:r>
              <a:rPr sz="1900" b="1" kern="0" spc="1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借助</a:t>
            </a: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900" b="1" kern="0" spc="18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。</a:t>
            </a:r>
            <a:endParaRPr sz="1900" dirty="0">
              <a:latin typeface="SimSun"/>
              <a:ea typeface="SimSun"/>
              <a:cs typeface="SimSun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668239" y="848388"/>
            <a:ext cx="8889365" cy="10668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1"/>
              </a:spcBef>
              <a:tabLst/>
            </a:pPr>
            <a:r>
              <a:rPr sz="4300" b="1" kern="0" spc="19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提示词设计：如何向</a:t>
            </a:r>
            <a:r>
              <a:rPr sz="4300" b="1" kern="0" spc="0" dirty="0">
                <a:solidFill>
                  <a:srgbClr val="103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4300" b="1" kern="0" spc="19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提问更</a:t>
            </a:r>
            <a:r>
              <a:rPr sz="4300" b="1" kern="0" spc="18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有效?</a:t>
            </a:r>
            <a:endParaRPr sz="4300" dirty="0">
              <a:latin typeface="SimHei"/>
              <a:ea typeface="SimHei"/>
              <a:cs typeface="SimHei"/>
            </a:endParaRPr>
          </a:p>
          <a:p>
            <a:pPr marL="1456689" algn="l" rtl="0" eaLnBrk="0">
              <a:lnSpc>
                <a:spcPct val="97000"/>
              </a:lnSpc>
              <a:spcBef>
                <a:spcPts val="596"/>
              </a:spcBef>
              <a:tabLst/>
            </a:pP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好</a:t>
            </a:r>
            <a:r>
              <a:rPr sz="2300" kern="0" spc="-30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</a:t>
            </a:r>
            <a:r>
              <a:rPr sz="2300" kern="0" spc="-25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</a:t>
            </a:r>
            <a:r>
              <a:rPr sz="2300" kern="0" spc="-32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词</a:t>
            </a:r>
            <a:r>
              <a:rPr sz="2300" kern="0" spc="-39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=</a:t>
            </a:r>
            <a:r>
              <a:rPr sz="2300" kern="0" spc="-33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背</a:t>
            </a:r>
            <a:r>
              <a:rPr sz="2300" kern="0" spc="-31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景</a:t>
            </a:r>
            <a:r>
              <a:rPr sz="2300" kern="0" spc="-39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r>
              <a:rPr sz="2300" kern="0" spc="-36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</a:t>
            </a:r>
            <a:r>
              <a:rPr sz="2300" kern="0" spc="-31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</a:t>
            </a:r>
            <a:r>
              <a:rPr sz="2300" kern="0" spc="-39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r>
              <a:rPr sz="2300" kern="0" spc="-30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约</a:t>
            </a:r>
            <a:r>
              <a:rPr sz="2300" kern="0" spc="-32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束</a:t>
            </a:r>
            <a:r>
              <a:rPr sz="2300" kern="0" spc="-39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+</a:t>
            </a:r>
            <a:r>
              <a:rPr sz="2300" kern="0" spc="-36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</a:t>
            </a:r>
            <a:r>
              <a:rPr sz="2300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</a:t>
            </a:r>
            <a:r>
              <a:rPr sz="2300" kern="0" spc="-34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格</a:t>
            </a:r>
            <a:r>
              <a:rPr sz="2300" kern="0" spc="-31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2300" b="1" kern="0" spc="-8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式</a:t>
            </a:r>
            <a:endParaRPr sz="2300" dirty="0">
              <a:latin typeface="SimHei"/>
              <a:ea typeface="SimHei"/>
              <a:cs typeface="SimHei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879819" y="2017833"/>
            <a:ext cx="3826509" cy="21240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96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97914" algn="l" rtl="0" eaLnBrk="0">
              <a:lnSpc>
                <a:spcPct val="96000"/>
              </a:lnSpc>
              <a:tabLst/>
            </a:pPr>
            <a:r>
              <a:rPr sz="17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提示词四要素</a:t>
            </a:r>
            <a:endParaRPr sz="1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00000"/>
              </a:lnSpc>
              <a:spcBef>
                <a:spcPts val="1405"/>
              </a:spcBef>
              <a:tabLst/>
            </a:pP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且</a:t>
            </a:r>
            <a:r>
              <a:rPr sz="1900" kern="0" spc="1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2100" kern="0" spc="0" baseline="-49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项目背景</a:t>
            </a:r>
            <a:r>
              <a:rPr sz="1300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2000" kern="0" spc="0" baseline="260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项目是什么,服</a:t>
            </a:r>
            <a:r>
              <a:rPr sz="2000" kern="0" spc="-10" baseline="260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务谁</a:t>
            </a:r>
            <a:endParaRPr sz="2000" baseline="2604" dirty="0">
              <a:latin typeface="SimHei"/>
              <a:ea typeface="SimHei"/>
              <a:cs typeface="SimHei"/>
            </a:endParaRPr>
          </a:p>
          <a:p>
            <a:pPr marL="40640" algn="l" rtl="0" eaLnBrk="0">
              <a:lnSpc>
                <a:spcPts val="3139"/>
              </a:lnSpc>
              <a:spcBef>
                <a:spcPts val="1546"/>
              </a:spcBef>
              <a:tabLst/>
            </a:pPr>
            <a:r>
              <a:rPr sz="4000" kern="0" spc="-40" baseline="-14487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?</a:t>
            </a:r>
            <a:r>
              <a:rPr sz="2600" kern="0" spc="540" dirty="0">
                <a:solidFill>
                  <a:srgbClr val="FFFFFF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300" kern="0" spc="-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当前问题</a:t>
            </a:r>
            <a:r>
              <a:rPr sz="1300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2000" kern="0" spc="-40" baseline="17904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目前最困惑的点是什么</a:t>
            </a:r>
            <a:endParaRPr sz="2000" baseline="17904" dirty="0">
              <a:latin typeface="SimHei"/>
              <a:ea typeface="SimHei"/>
              <a:cs typeface="SimHei"/>
            </a:endParaRPr>
          </a:p>
          <a:p>
            <a:pPr marL="656590" algn="l" rtl="0" eaLnBrk="0">
              <a:lnSpc>
                <a:spcPts val="1691"/>
              </a:lnSpc>
              <a:spcBef>
                <a:spcPts val="830"/>
              </a:spcBef>
              <a:tabLst/>
            </a:pPr>
            <a:r>
              <a:rPr sz="2000" kern="0" spc="-10" baseline="-3109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任务目标</a:t>
            </a:r>
            <a:r>
              <a:rPr sz="13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希望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帮你完成什么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576"/>
              </a:lnSpc>
              <a:spcBef>
                <a:spcPts val="3"/>
              </a:spcBef>
              <a:tabLst/>
            </a:pPr>
            <a:r>
              <a:rPr sz="2000" b="1" kern="0" spc="-50" baseline="-3459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输出要求</a:t>
            </a:r>
            <a:r>
              <a:rPr sz="1300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3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用什么格式输出，越具体越好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160" name="textbox 160"/>
          <p:cNvSpPr/>
          <p:nvPr/>
        </p:nvSpPr>
        <p:spPr>
          <a:xfrm>
            <a:off x="5924544" y="2144554"/>
            <a:ext cx="3717290" cy="2122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1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345440" algn="l" rtl="0" eaLnBrk="0">
              <a:lnSpc>
                <a:spcPct val="96000"/>
              </a:lnSpc>
              <a:tabLst/>
            </a:pPr>
            <a:r>
              <a:rPr sz="1600" b="1" kern="0" spc="1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示例提示词(校园二手平台</a:t>
            </a:r>
            <a:r>
              <a:rPr sz="1600" b="1" kern="0" spc="1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)</a:t>
            </a:r>
            <a:endParaRPr sz="16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20000"/>
              </a:lnSpc>
              <a:spcBef>
                <a:spcPts val="1534"/>
              </a:spcBef>
              <a:tabLst/>
            </a:pPr>
            <a:r>
              <a:rPr sz="15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你是一名创业导师，请根据校园二手交易</a:t>
            </a:r>
            <a:r>
              <a:rPr sz="1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项目的用户痛点、竞品</a:t>
            </a:r>
            <a:r>
              <a:rPr sz="15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情况和现有方案，</a:t>
            </a: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500" kern="0" spc="1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帮助我们分析核心价值主张，</a:t>
            </a:r>
            <a:r>
              <a:rPr sz="1500" kern="0" spc="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并给出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9000"/>
              </a:lnSpc>
              <a:spcBef>
                <a:spcPts val="461"/>
              </a:spcBef>
              <a:tabLst/>
            </a:pP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 </a:t>
            </a:r>
            <a:r>
              <a:rPr sz="15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建议。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113000"/>
              </a:lnSpc>
              <a:spcBef>
                <a:spcPts val="77"/>
              </a:spcBef>
              <a:tabLst/>
            </a:pP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请按“问题诊断一改进建议—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600" kern="0" spc="-1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6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功能”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16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的格式输出。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162" name="textbox 162"/>
          <p:cNvSpPr/>
          <p:nvPr/>
        </p:nvSpPr>
        <p:spPr>
          <a:xfrm>
            <a:off x="803161" y="252885"/>
            <a:ext cx="635507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8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20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8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|第6次：</a:t>
            </a:r>
            <a:r>
              <a:rPr sz="1700" b="1" kern="0" spc="0" dirty="0">
                <a:solidFill>
                  <a:srgbClr val="102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8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</a:t>
            </a:r>
            <a:r>
              <a:rPr sz="1700" b="1" kern="0" spc="7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目诊断与原型设计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164" name="picture 1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39722" y="101581"/>
            <a:ext cx="533408" cy="501690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842463" y="184160"/>
            <a:ext cx="603269" cy="3048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picture 1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aphicFrame>
        <p:nvGraphicFramePr>
          <p:cNvPr id="170" name="table 170"/>
          <p:cNvGraphicFramePr>
            <a:graphicFrameLocks noGrp="1"/>
          </p:cNvGraphicFramePr>
          <p:nvPr/>
        </p:nvGraphicFramePr>
        <p:xfrm>
          <a:off x="5286420" y="2244752"/>
          <a:ext cx="4704715" cy="2139314"/>
        </p:xfrm>
        <a:graphic>
          <a:graphicData uri="http://schemas.openxmlformats.org/drawingml/2006/table">
            <a:tbl>
              <a:tblPr/>
              <a:tblGrid>
                <a:gridCol w="2301239"/>
                <a:gridCol w="2403475"/>
              </a:tblGrid>
              <a:tr h="3460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11530" algn="l" rtl="0" eaLnBrk="0">
                        <a:lnSpc>
                          <a:spcPct val="98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300" b="1" kern="0" spc="2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保留功能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59789" algn="l" rtl="0" eaLnBrk="0">
                        <a:lnSpc>
                          <a:spcPct val="98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300" b="1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暂缓功能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648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1190" algn="l" rtl="0" eaLnBrk="0">
                        <a:lnSpc>
                          <a:spcPct val="98000"/>
                        </a:lnSpc>
                        <a:tabLst>
                          <a:tab pos="808990" algn="l"/>
                        </a:tabLst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发布商品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990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22934" algn="l" rtl="0" eaLnBrk="0">
                        <a:lnSpc>
                          <a:spcPct val="98000"/>
                        </a:lnSpc>
                        <a:tabLst>
                          <a:tab pos="857250" algn="l"/>
                        </a:tabLst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积分体系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119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>
                          <a:tab pos="808990" algn="l"/>
                        </a:tabLst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浏览检索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5950" algn="l" rtl="0" eaLnBrk="0">
                        <a:lnSpc>
                          <a:spcPct val="98000"/>
                        </a:lnSpc>
                        <a:spcBef>
                          <a:spcPts val="5"/>
                        </a:spcBef>
                        <a:tabLst>
                          <a:tab pos="857250" algn="l"/>
                        </a:tabLst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3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社交互动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31190" algn="l" rtl="0" eaLnBrk="0">
                        <a:lnSpc>
                          <a:spcPct val="99000"/>
                        </a:lnSpc>
                        <a:spcBef>
                          <a:spcPts val="3"/>
                        </a:spcBef>
                        <a:tabLst>
                          <a:tab pos="808990" algn="l"/>
                        </a:tabLst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3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联系交易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581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615950" algn="l" rtl="0" eaLnBrk="0">
                        <a:lnSpc>
                          <a:spcPct val="98000"/>
                        </a:lnSpc>
                        <a:tabLst>
                          <a:tab pos="857250" algn="l"/>
                        </a:tabLst>
                      </a:pPr>
                      <a:r>
                        <a:rPr sz="13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	</a:t>
                      </a:r>
                      <a:r>
                        <a:rPr sz="13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会员权益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054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39000"/>
                        </a:lnSpc>
                        <a:tabLst/>
                      </a:pPr>
                      <a:endParaRPr sz="10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algn="l" rtl="0" eaLnBrk="0">
                        <a:lnSpc>
                          <a:spcPct val="6264"/>
                        </a:lnSpc>
                        <a:tabLst/>
                      </a:pPr>
                      <a:endParaRPr sz="1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05180" algn="l" rtl="0" eaLnBrk="0">
                        <a:lnSpc>
                          <a:spcPct val="98000"/>
                        </a:lnSpc>
                        <a:tabLst/>
                      </a:pPr>
                      <a:r>
                        <a:rPr sz="1300" b="1" kern="0" spc="-1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目</a:t>
                      </a:r>
                      <a:r>
                        <a:rPr sz="1300" kern="0" spc="-1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300" b="1" kern="0" spc="-1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标</a:t>
                      </a:r>
                      <a:r>
                        <a:rPr sz="1300" kern="0" spc="-1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 </a:t>
                      </a:r>
                      <a:r>
                        <a:rPr sz="1300" b="1" kern="0" spc="-1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：</a:t>
                      </a:r>
                      <a:r>
                        <a:rPr sz="13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验证用户是否愿意快</a:t>
                      </a:r>
                      <a:r>
                        <a:rPr sz="13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速发布与购买闲置物品</a:t>
                      </a:r>
                      <a:endParaRPr sz="13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72" name="picture 17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816808" y="3473470"/>
            <a:ext cx="387421" cy="368260"/>
          </a:xfrm>
          <a:prstGeom prst="rect">
            <a:avLst/>
          </a:prstGeom>
        </p:spPr>
      </p:pic>
      <p:pic>
        <p:nvPicPr>
          <p:cNvPr id="174" name="picture 1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24447" y="3479805"/>
            <a:ext cx="393791" cy="368320"/>
          </a:xfrm>
          <a:prstGeom prst="rect">
            <a:avLst/>
          </a:prstGeom>
        </p:spPr>
      </p:pic>
      <p:pic>
        <p:nvPicPr>
          <p:cNvPr id="176" name="picture 17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816808" y="3048025"/>
            <a:ext cx="387421" cy="374594"/>
          </a:xfrm>
          <a:prstGeom prst="rect">
            <a:avLst/>
          </a:prstGeom>
        </p:spPr>
      </p:pic>
      <p:pic>
        <p:nvPicPr>
          <p:cNvPr id="178" name="picture 17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5524447" y="3041632"/>
            <a:ext cx="393791" cy="380988"/>
          </a:xfrm>
          <a:prstGeom prst="rect">
            <a:avLst/>
          </a:prstGeom>
        </p:spPr>
      </p:pic>
      <p:pic>
        <p:nvPicPr>
          <p:cNvPr id="180" name="picture 18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7829547" y="2622521"/>
            <a:ext cx="381051" cy="381048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5524447" y="2628915"/>
            <a:ext cx="393791" cy="374654"/>
          </a:xfrm>
          <a:prstGeom prst="rect">
            <a:avLst/>
          </a:prstGeom>
        </p:spPr>
      </p:pic>
      <p:sp>
        <p:nvSpPr>
          <p:cNvPr id="184" name="textbox 184"/>
          <p:cNvSpPr/>
          <p:nvPr/>
        </p:nvSpPr>
        <p:spPr>
          <a:xfrm>
            <a:off x="402820" y="820116"/>
            <a:ext cx="8281034" cy="944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93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2225" algn="l" rtl="0" eaLnBrk="0">
              <a:lnSpc>
                <a:spcPct val="97000"/>
              </a:lnSpc>
              <a:tabLst/>
            </a:pPr>
            <a:r>
              <a:rPr sz="4700" b="1" kern="0" spc="0" dirty="0">
                <a:solidFill>
                  <a:srgbClr val="103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4700" b="1" kern="0" spc="940" dirty="0">
                <a:solidFill>
                  <a:srgbClr val="103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4700" b="1" kern="0" spc="5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思维：先做最小可行版本</a:t>
            </a:r>
            <a:endParaRPr sz="47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5000"/>
              </a:lnSpc>
              <a:spcBef>
                <a:spcPts val="75"/>
              </a:spcBef>
              <a:tabLst/>
            </a:pPr>
            <a:r>
              <a:rPr sz="15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不是做“功能最多”,而是做“能验证核心价值”</a:t>
            </a:r>
            <a:r>
              <a:rPr sz="1500" b="1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的最小方案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sp>
        <p:nvSpPr>
          <p:cNvPr id="186" name="textbox 186"/>
          <p:cNvSpPr/>
          <p:nvPr/>
        </p:nvSpPr>
        <p:spPr>
          <a:xfrm>
            <a:off x="2104182" y="2391345"/>
            <a:ext cx="1772920" cy="1331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要验证什么核心问题</a:t>
            </a:r>
            <a:r>
              <a:rPr sz="13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394"/>
              </a:spcBef>
              <a:tabLst/>
            </a:pP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最少需要哪些关键功</a:t>
            </a:r>
            <a:r>
              <a:rPr sz="13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能?</a:t>
            </a:r>
            <a:endParaRPr sz="13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如何判断验证是否有</a:t>
            </a:r>
            <a:r>
              <a:rPr sz="1300" b="1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效?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188" name="picture 18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60389" y="2171681"/>
            <a:ext cx="1270029" cy="1682777"/>
          </a:xfrm>
          <a:prstGeom prst="rect">
            <a:avLst/>
          </a:prstGeom>
        </p:spPr>
      </p:pic>
      <p:sp>
        <p:nvSpPr>
          <p:cNvPr id="190" name="textbox 190"/>
          <p:cNvSpPr/>
          <p:nvPr/>
        </p:nvSpPr>
        <p:spPr>
          <a:xfrm>
            <a:off x="815901" y="265553"/>
            <a:ext cx="63360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7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16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7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|第6次：</a:t>
            </a:r>
            <a:r>
              <a:rPr sz="1700" b="1" kern="0" spc="0" dirty="0">
                <a:solidFill>
                  <a:srgbClr val="103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7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赋能项目诊断与原型设计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192" name="textbox 192"/>
          <p:cNvSpPr/>
          <p:nvPr/>
        </p:nvSpPr>
        <p:spPr>
          <a:xfrm>
            <a:off x="1095773" y="5550217"/>
            <a:ext cx="3158489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先验证核心，再逐步扩展。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6273809" y="1847877"/>
            <a:ext cx="2349480" cy="304802"/>
            <a:chOff x="0" y="0"/>
            <a:chExt cx="2349480" cy="304802"/>
          </a:xfrm>
        </p:grpSpPr>
        <p:pic>
          <p:nvPicPr>
            <p:cNvPr id="194" name="picture 194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0" y="0"/>
              <a:ext cx="2349480" cy="304802"/>
            </a:xfrm>
            <a:prstGeom prst="rect">
              <a:avLst/>
            </a:prstGeom>
          </p:spPr>
        </p:pic>
        <p:sp>
          <p:nvSpPr>
            <p:cNvPr id="196" name="textbox 196"/>
            <p:cNvSpPr/>
            <p:nvPr/>
          </p:nvSpPr>
          <p:spPr>
            <a:xfrm>
              <a:off x="-12700" y="-12700"/>
              <a:ext cx="2374900" cy="3562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600" dirty="0">
                <a:latin typeface="Arial"/>
                <a:ea typeface="Arial"/>
                <a:cs typeface="Arial"/>
              </a:endParaRPr>
            </a:p>
            <a:p>
              <a:pPr marL="180339" algn="l" rtl="0" eaLnBrk="0">
                <a:lnSpc>
                  <a:spcPct val="96000"/>
                </a:lnSpc>
                <a:spcBef>
                  <a:spcPts val="3"/>
                </a:spcBef>
                <a:tabLst/>
              </a:pP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校园二手平台</a:t>
              </a:r>
              <a:r>
                <a:rPr sz="15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MVP</a:t>
              </a:r>
              <a:r>
                <a:rPr sz="1500" b="1" kern="0" spc="-4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示</a:t>
              </a:r>
              <a:r>
                <a:rPr sz="1500" kern="0" spc="-28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 </a:t>
              </a:r>
              <a:r>
                <a:rPr sz="1500" b="1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例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198" name="textbox 198"/>
          <p:cNvSpPr/>
          <p:nvPr/>
        </p:nvSpPr>
        <p:spPr>
          <a:xfrm>
            <a:off x="6429294" y="4712787"/>
            <a:ext cx="2667635" cy="263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5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700" b="1" kern="0" spc="-50" dirty="0">
                <a:solidFill>
                  <a:srgbClr val="103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先验证核心，再逐步扩展。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1892303" y="1892273"/>
            <a:ext cx="1657344" cy="273073"/>
            <a:chOff x="0" y="0"/>
            <a:chExt cx="1657344" cy="273073"/>
          </a:xfrm>
        </p:grpSpPr>
        <p:pic>
          <p:nvPicPr>
            <p:cNvPr id="200" name="picture 200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1657344" cy="273073"/>
            </a:xfrm>
            <a:prstGeom prst="rect">
              <a:avLst/>
            </a:prstGeom>
          </p:spPr>
        </p:pic>
        <p:sp>
          <p:nvSpPr>
            <p:cNvPr id="202" name="textbox 202"/>
            <p:cNvSpPr/>
            <p:nvPr/>
          </p:nvSpPr>
          <p:spPr>
            <a:xfrm>
              <a:off x="-12700" y="-12700"/>
              <a:ext cx="1682750" cy="3244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7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234315" algn="l" rtl="0" eaLnBrk="0">
                <a:lnSpc>
                  <a:spcPct val="96000"/>
                </a:lnSpc>
                <a:tabLst/>
              </a:pPr>
              <a:r>
                <a:rPr sz="1500" kern="0" spc="-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MVP </a:t>
              </a:r>
              <a:r>
                <a:rPr sz="1500" kern="0" spc="-3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设计三问</a:t>
              </a:r>
              <a:endParaRPr sz="15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1847817" y="3930644"/>
            <a:ext cx="1441497" cy="247678"/>
            <a:chOff x="0" y="0"/>
            <a:chExt cx="1441497" cy="247678"/>
          </a:xfrm>
        </p:grpSpPr>
        <p:pic>
          <p:nvPicPr>
            <p:cNvPr id="204" name="picture 20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1441497" cy="247678"/>
            </a:xfrm>
            <a:prstGeom prst="rect">
              <a:avLst/>
            </a:prstGeom>
          </p:spPr>
        </p:pic>
        <p:sp>
          <p:nvSpPr>
            <p:cNvPr id="206" name="textbox 206"/>
            <p:cNvSpPr/>
            <p:nvPr/>
          </p:nvSpPr>
          <p:spPr>
            <a:xfrm>
              <a:off x="-12700" y="-12700"/>
              <a:ext cx="1467485" cy="2959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401954" algn="l" rtl="0" eaLnBrk="0">
                <a:lnSpc>
                  <a:spcPct val="99000"/>
                </a:lnSpc>
                <a:spcBef>
                  <a:spcPts val="2"/>
                </a:spcBef>
                <a:tabLst/>
              </a:pPr>
              <a:r>
                <a:rPr sz="1300" b="1" kern="0" spc="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核心关注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208" name="picture 20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3727486" y="4190990"/>
            <a:ext cx="565153" cy="571482"/>
          </a:xfrm>
          <a:prstGeom prst="rect">
            <a:avLst/>
          </a:prstGeom>
        </p:spPr>
      </p:pic>
      <p:pic>
        <p:nvPicPr>
          <p:cNvPr id="210" name="picture 21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2273248" y="4203718"/>
            <a:ext cx="558889" cy="558755"/>
          </a:xfrm>
          <a:prstGeom prst="rect">
            <a:avLst/>
          </a:prstGeom>
        </p:spPr>
      </p:pic>
      <p:pic>
        <p:nvPicPr>
          <p:cNvPr id="212" name="picture 212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844598" y="4203718"/>
            <a:ext cx="558783" cy="558755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 rot="21600000">
            <a:off x="165097" y="133369"/>
            <a:ext cx="508033" cy="457174"/>
            <a:chOff x="0" y="0"/>
            <a:chExt cx="508033" cy="457174"/>
          </a:xfrm>
        </p:grpSpPr>
        <p:pic>
          <p:nvPicPr>
            <p:cNvPr id="214" name="picture 214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508033" cy="457174"/>
            </a:xfrm>
            <a:prstGeom prst="rect">
              <a:avLst/>
            </a:prstGeom>
          </p:spPr>
        </p:pic>
        <p:sp>
          <p:nvSpPr>
            <p:cNvPr id="216" name="textbox 216"/>
            <p:cNvSpPr/>
            <p:nvPr/>
          </p:nvSpPr>
          <p:spPr>
            <a:xfrm>
              <a:off x="-12700" y="-12700"/>
              <a:ext cx="534034" cy="5467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2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70814" algn="l" rtl="0" eaLnBrk="0">
                <a:lnSpc>
                  <a:spcPct val="77000"/>
                </a:lnSpc>
                <a:spcBef>
                  <a:spcPts val="5"/>
                </a:spcBef>
                <a:tabLst/>
              </a:pPr>
              <a:r>
                <a:rPr sz="2200" kern="0" spc="-10" dirty="0">
                  <a:solidFill>
                    <a:srgbClr val="FFFFFF">
                      <a:alpha val="100000"/>
                    </a:srgbClr>
                  </a:solidFill>
                  <a:latin typeface="Times New Roman"/>
                  <a:ea typeface="Times New Roman"/>
                  <a:cs typeface="Times New Roman"/>
                </a:rPr>
                <a:t>6</a:t>
              </a:r>
              <a:endParaRPr sz="2200" dirty="0">
                <a:latin typeface="Times New Roman"/>
                <a:ea typeface="Times New Roman"/>
                <a:cs typeface="Times New Roman"/>
              </a:endParaRPr>
            </a:p>
          </p:txBody>
        </p:sp>
      </p:grpSp>
      <p:pic>
        <p:nvPicPr>
          <p:cNvPr id="218" name="picture 218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9836198" y="196827"/>
            <a:ext cx="603163" cy="298468"/>
          </a:xfrm>
          <a:prstGeom prst="rect">
            <a:avLst/>
          </a:prstGeom>
        </p:spPr>
      </p:pic>
      <p:sp>
        <p:nvSpPr>
          <p:cNvPr id="220" name="textbox 220"/>
          <p:cNvSpPr/>
          <p:nvPr/>
        </p:nvSpPr>
        <p:spPr>
          <a:xfrm>
            <a:off x="2262667" y="4772782"/>
            <a:ext cx="614044" cy="201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86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b="1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核心功能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3685146" y="4772325"/>
            <a:ext cx="610234" cy="200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5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b="1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验证指标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821155" y="4785156"/>
            <a:ext cx="619125" cy="186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1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用户问题</a:t>
            </a:r>
            <a:endParaRPr sz="11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picture 2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28" name="textbox 228"/>
          <p:cNvSpPr/>
          <p:nvPr/>
        </p:nvSpPr>
        <p:spPr>
          <a:xfrm>
            <a:off x="469851" y="4585049"/>
            <a:ext cx="6849744" cy="1130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578"/>
              </a:lnSpc>
              <a:tabLst/>
            </a:pPr>
            <a:r>
              <a:rPr sz="1400" kern="0" spc="-10" baseline="18775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手绘草图</a:t>
            </a:r>
            <a:r>
              <a:rPr sz="9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</a:t>
            </a:r>
            <a:r>
              <a:rPr sz="1600" kern="0" spc="-10" baseline="16428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PPT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Times New Roman"/>
                <a:ea typeface="Times New Roman"/>
                <a:cs typeface="Times New Roman"/>
              </a:rPr>
              <a:t>                  </a:t>
            </a:r>
            <a:r>
              <a:rPr sz="1600" kern="0" spc="-10" baseline="16428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Figma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              </a:t>
            </a:r>
            <a:r>
              <a:rPr sz="1600" kern="0" spc="-10" baseline="16428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墨刀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</a:t>
            </a:r>
            <a:r>
              <a:rPr sz="2000" b="1" kern="0" spc="-10" baseline="100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原型不是成品，而是沟通与验证工具。</a:t>
            </a:r>
            <a:endParaRPr sz="2000" baseline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638175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900" b="1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把想法画出来，才能更快讨</a:t>
            </a:r>
            <a:r>
              <a:rPr sz="1900" b="1" kern="0" spc="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论与优化。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317494" y="2133586"/>
            <a:ext cx="4184015" cy="13925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  <a:tabLst/>
            </a:pPr>
            <a:endParaRPr sz="700" dirty="0">
              <a:latin typeface="Arial"/>
              <a:ea typeface="Arial"/>
              <a:cs typeface="Arial"/>
            </a:endParaRPr>
          </a:p>
          <a:p>
            <a:pPr marL="399415" algn="l" rtl="0" eaLnBrk="0">
              <a:lnSpc>
                <a:spcPct val="96000"/>
              </a:lnSpc>
              <a:spcBef>
                <a:spcPts val="5"/>
              </a:spcBef>
              <a:tabLst>
                <a:tab pos="471805" algn="l"/>
              </a:tabLst>
            </a:pPr>
            <a:r>
              <a:rPr sz="14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b="1" kern="0" spc="-3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设计要点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07314" algn="l" rtl="0" eaLnBrk="0">
              <a:lnSpc>
                <a:spcPct val="92000"/>
              </a:lnSpc>
              <a:spcBef>
                <a:spcPts val="1045"/>
              </a:spcBef>
              <a:tabLst/>
            </a:pPr>
            <a:r>
              <a:rPr sz="1200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流程连贯，围绕核心任务展开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07314" algn="l" rtl="0" eaLnBrk="0">
              <a:lnSpc>
                <a:spcPct val="92000"/>
              </a:lnSpc>
              <a:spcBef>
                <a:spcPts val="725"/>
              </a:spcBef>
              <a:tabLst/>
            </a:pPr>
            <a:r>
              <a:rPr sz="1200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页面简洁，重点信息突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出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3893184" algn="l" rtl="0" eaLnBrk="0">
              <a:lnSpc>
                <a:spcPts val="625"/>
              </a:lnSpc>
              <a:spcBef>
                <a:spcPts val="101"/>
              </a:spcBef>
              <a:tabLst/>
            </a:pPr>
            <a:r>
              <a:rPr sz="5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推荐商品</a:t>
            </a:r>
            <a:endParaRPr sz="500" dirty="0">
              <a:latin typeface="SimHei"/>
              <a:ea typeface="SimHei"/>
              <a:cs typeface="SimHei"/>
            </a:endParaRPr>
          </a:p>
          <a:p>
            <a:pPr marL="107314" algn="l" rtl="0" eaLnBrk="0">
              <a:lnSpc>
                <a:spcPct val="95000"/>
              </a:lnSpc>
              <a:spcBef>
                <a:spcPts val="9"/>
              </a:spcBef>
              <a:tabLst/>
            </a:pPr>
            <a:r>
              <a:rPr sz="1200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关键操作路径清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晰可见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07314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200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便于展示与后续修改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232" name="picture 2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330194" y="2146286"/>
            <a:ext cx="387315" cy="380988"/>
          </a:xfrm>
          <a:prstGeom prst="rect">
            <a:avLst/>
          </a:prstGeom>
        </p:spPr>
      </p:pic>
      <p:sp>
        <p:nvSpPr>
          <p:cNvPr id="234" name="textbox 234"/>
          <p:cNvSpPr/>
          <p:nvPr/>
        </p:nvSpPr>
        <p:spPr>
          <a:xfrm>
            <a:off x="8432751" y="1124333"/>
            <a:ext cx="1536064" cy="2395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7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1200" kern="0" spc="-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个人中心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2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600" kern="0" spc="-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已上线</a:t>
            </a:r>
            <a:endParaRPr sz="600" dirty="0">
              <a:latin typeface="LiSu"/>
              <a:ea typeface="LiSu"/>
              <a:cs typeface="LiSu"/>
            </a:endParaRPr>
          </a:p>
        </p:txBody>
      </p:sp>
      <p:sp>
        <p:nvSpPr>
          <p:cNvPr id="236" name="textbox 236"/>
          <p:cNvSpPr/>
          <p:nvPr/>
        </p:nvSpPr>
        <p:spPr>
          <a:xfrm>
            <a:off x="7429531" y="1122657"/>
            <a:ext cx="925194" cy="3072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5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1200" kern="0" spc="-5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发布页面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25"/>
              </a:lnSpc>
              <a:spcBef>
                <a:spcPts val="160"/>
              </a:spcBef>
              <a:tabLst/>
            </a:pP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项目简介</a:t>
            </a:r>
            <a:endParaRPr sz="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11"/>
              </a:lnSpc>
              <a:spcBef>
                <a:spcPts val="187"/>
              </a:spcBef>
              <a:tabLst/>
            </a:pPr>
            <a:r>
              <a:rPr sz="600" kern="0" spc="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所属</a:t>
            </a:r>
            <a:r>
              <a:rPr sz="600" b="1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奥目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27"/>
              </a:lnSpc>
              <a:spcBef>
                <a:spcPts val="160"/>
              </a:spcBef>
              <a:tabLst/>
            </a:pPr>
            <a:r>
              <a:rPr sz="500" kern="0" spc="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项</a:t>
            </a:r>
            <a:r>
              <a:rPr sz="500" b="1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目阶段</a:t>
            </a:r>
            <a:endParaRPr sz="500" dirty="0">
              <a:latin typeface="SimHei"/>
              <a:ea typeface="SimHei"/>
              <a:cs typeface="SimHei"/>
            </a:endParaRPr>
          </a:p>
          <a:p>
            <a:pPr marL="100964" algn="l" rtl="0" eaLnBrk="0">
              <a:lnSpc>
                <a:spcPct val="88000"/>
              </a:lnSpc>
              <a:spcBef>
                <a:spcPts val="432"/>
              </a:spcBef>
              <a:tabLst/>
            </a:pPr>
            <a:r>
              <a:rPr sz="400" kern="0" spc="-30" dirty="0">
                <a:solidFill>
                  <a:srgbClr val="000000">
                    <a:alpha val="100000"/>
                  </a:srgbClr>
                </a:solidFill>
                <a:latin typeface="STXingkai"/>
                <a:ea typeface="STXingkai"/>
                <a:cs typeface="STXingkai"/>
              </a:rPr>
              <a:t>创</a:t>
            </a:r>
            <a:r>
              <a:rPr sz="4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意</a:t>
            </a:r>
            <a:r>
              <a:rPr sz="4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</a:t>
            </a:r>
            <a:r>
              <a:rPr sz="5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</a:t>
            </a:r>
            <a:r>
              <a:rPr sz="5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000" kern="0" spc="-30" baseline="-5208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开发中</a:t>
            </a:r>
            <a:endParaRPr sz="1000" baseline="-5208" dirty="0">
              <a:latin typeface="LiSu"/>
              <a:ea typeface="LiSu"/>
              <a:cs typeface="LiSu"/>
            </a:endParaRPr>
          </a:p>
          <a:p>
            <a:pPr algn="l" rtl="0" eaLnBrk="0">
              <a:lnSpc>
                <a:spcPct val="13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3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627"/>
              </a:lnSpc>
              <a:spcBef>
                <a:spcPts val="161"/>
              </a:spcBef>
              <a:tabLst/>
            </a:pPr>
            <a:r>
              <a:rPr sz="5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期望支持</a:t>
            </a:r>
            <a:endParaRPr sz="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9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69214" algn="l" rtl="0" eaLnBrk="0">
              <a:lnSpc>
                <a:spcPts val="510"/>
              </a:lnSpc>
              <a:spcBef>
                <a:spcPts val="3"/>
              </a:spcBef>
              <a:tabLst/>
            </a:pPr>
            <a:r>
              <a:rPr sz="400" kern="0" spc="80" dirty="0">
                <a:solidFill>
                  <a:srgbClr val="909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请输入期望获得的朗助</a:t>
            </a:r>
            <a:endParaRPr sz="400" dirty="0">
              <a:latin typeface="SimHei"/>
              <a:ea typeface="SimHei"/>
              <a:cs typeface="SimHei"/>
            </a:endParaRPr>
          </a:p>
        </p:txBody>
      </p:sp>
      <p:sp>
        <p:nvSpPr>
          <p:cNvPr id="238" name="textbox 238"/>
          <p:cNvSpPr/>
          <p:nvPr/>
        </p:nvSpPr>
        <p:spPr>
          <a:xfrm>
            <a:off x="246071" y="1003598"/>
            <a:ext cx="3710304" cy="721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66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5000"/>
              </a:lnSpc>
              <a:tabLst/>
            </a:pPr>
            <a:r>
              <a:rPr sz="2800" b="1" kern="0" spc="-19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原型草</a:t>
            </a:r>
            <a:r>
              <a:rPr sz="2800" b="1" kern="0" spc="-18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图与界面方案设</a:t>
            </a:r>
            <a:r>
              <a:rPr sz="2800" b="1" kern="0" spc="-15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计</a:t>
            </a:r>
            <a:endParaRPr sz="2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16509" algn="l" rtl="0" eaLnBrk="0">
              <a:lnSpc>
                <a:spcPct val="95000"/>
              </a:lnSpc>
              <a:spcBef>
                <a:spcPts val="2"/>
              </a:spcBef>
              <a:tabLst/>
            </a:pPr>
            <a:r>
              <a:rPr sz="14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用低成本方式把产品流程“画出来、讲明白”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sp>
        <p:nvSpPr>
          <p:cNvPr id="240" name="textbox 240"/>
          <p:cNvSpPr/>
          <p:nvPr/>
        </p:nvSpPr>
        <p:spPr>
          <a:xfrm>
            <a:off x="796790" y="278280"/>
            <a:ext cx="636777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14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|第6次：</a:t>
            </a:r>
            <a:r>
              <a:rPr sz="1700" b="1" kern="0" spc="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-25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赋能项目诊断与原型设计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42" name="textbox 242"/>
          <p:cNvSpPr/>
          <p:nvPr/>
        </p:nvSpPr>
        <p:spPr>
          <a:xfrm>
            <a:off x="311124" y="3702055"/>
            <a:ext cx="1195705" cy="423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05765" algn="l" rtl="0" eaLnBrk="0">
              <a:lnSpc>
                <a:spcPct val="95000"/>
              </a:lnSpc>
              <a:spcBef>
                <a:spcPts val="6"/>
              </a:spcBef>
              <a:tabLst>
                <a:tab pos="485140" algn="l"/>
              </a:tabLst>
            </a:pPr>
            <a:r>
              <a:rPr sz="14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b="1" kern="0" spc="-4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常见工具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244" name="picture 2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3824" y="3714755"/>
            <a:ext cx="393685" cy="374654"/>
          </a:xfrm>
          <a:prstGeom prst="rect">
            <a:avLst/>
          </a:prstGeom>
        </p:spPr>
      </p:pic>
      <p:sp>
        <p:nvSpPr>
          <p:cNvPr id="246" name="textbox 246"/>
          <p:cNvSpPr/>
          <p:nvPr/>
        </p:nvSpPr>
        <p:spPr>
          <a:xfrm>
            <a:off x="4495787" y="1123266"/>
            <a:ext cx="2260600" cy="200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96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1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首页/搜索</a:t>
            </a:r>
            <a:r>
              <a:rPr sz="1100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11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200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商品详情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5822937" y="2953886"/>
            <a:ext cx="782319" cy="442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2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1000"/>
              </a:lnSpc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¥129.00</a:t>
            </a: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738"/>
              </a:lnSpc>
              <a:spcBef>
                <a:spcPts val="335"/>
              </a:spcBef>
              <a:tabLst/>
            </a:pPr>
            <a:r>
              <a:rPr sz="600" b="1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600" b="1" kern="0" spc="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600" b="1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智能项目诊断服务</a:t>
            </a:r>
            <a:endParaRPr sz="6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1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50800" algn="l" rtl="0" eaLnBrk="0">
              <a:lnSpc>
                <a:spcPct val="95000"/>
              </a:lnSpc>
              <a:spcBef>
                <a:spcPts val="3"/>
              </a:spcBef>
              <a:tabLst/>
            </a:pP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高效</a:t>
            </a:r>
            <a:r>
              <a:rPr sz="5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500" kern="0" spc="-20" dirty="0">
                <a:solidFill>
                  <a:srgbClr val="000000">
                    <a:alpha val="100000"/>
                  </a:srgbClr>
                </a:solidFill>
                <a:latin typeface="LiSu"/>
                <a:ea typeface="LiSu"/>
                <a:cs typeface="LiSu"/>
              </a:rPr>
              <a:t>专业</a:t>
            </a:r>
            <a:endParaRPr sz="500" dirty="0">
              <a:latin typeface="LiSu"/>
              <a:ea typeface="LiSu"/>
              <a:cs typeface="LiSu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146092" y="95246"/>
            <a:ext cx="539672" cy="520692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836198" y="203221"/>
            <a:ext cx="603163" cy="298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picture 25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256" name="textbox 256"/>
          <p:cNvSpPr/>
          <p:nvPr/>
        </p:nvSpPr>
        <p:spPr>
          <a:xfrm>
            <a:off x="1012113" y="961023"/>
            <a:ext cx="8689975" cy="1944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37209" algn="l" rtl="0" eaLnBrk="0">
              <a:lnSpc>
                <a:spcPct val="86000"/>
              </a:lnSpc>
              <a:tabLst/>
            </a:pPr>
            <a:r>
              <a:rPr sz="5100" b="1" kern="0" spc="-110" dirty="0">
                <a:solidFill>
                  <a:srgbClr val="102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5100" b="1" kern="0" spc="-11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逻辑梳理与分组</a:t>
            </a:r>
            <a:r>
              <a:rPr sz="5100" b="1" kern="0" spc="-12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协作</a:t>
            </a:r>
            <a:endParaRPr sz="5100" dirty="0">
              <a:latin typeface="SimHei"/>
              <a:ea typeface="SimHei"/>
              <a:cs typeface="SimHei"/>
            </a:endParaRPr>
          </a:p>
          <a:p>
            <a:pPr marL="1889760" algn="l" rtl="0" eaLnBrk="0">
              <a:lnSpc>
                <a:spcPct val="95000"/>
              </a:lnSpc>
              <a:spcBef>
                <a:spcPts val="10"/>
              </a:spcBef>
              <a:tabLst/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把原型、场景和讲解顺序串成一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个可展示的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endParaRPr sz="17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5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1735"/>
              </a:lnSpc>
              <a:spcBef>
                <a:spcPts val="430"/>
              </a:spcBef>
              <a:tabLst/>
            </a:pPr>
            <a:r>
              <a:rPr sz="2100" b="1" kern="0" spc="0" baseline="8624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团队分工建议</a:t>
            </a:r>
            <a:r>
              <a:rPr sz="13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2100" kern="0" spc="-10" baseline="-3777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300" kern="0" spc="1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100" kern="0" spc="-10" baseline="-3777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展示流程</a:t>
            </a:r>
            <a:r>
              <a:rPr sz="1300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    </a:t>
            </a:r>
            <a:r>
              <a:rPr sz="1400" kern="0" spc="-1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Al </a:t>
            </a: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可辅助环节</a:t>
            </a:r>
            <a:endParaRPr sz="14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7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7782559" algn="l" rtl="0" eaLnBrk="0">
              <a:lnSpc>
                <a:spcPct val="96000"/>
              </a:lnSpc>
              <a:spcBef>
                <a:spcPts val="3"/>
              </a:spcBef>
              <a:tabLst/>
            </a:pPr>
            <a:r>
              <a:rPr sz="1200" kern="0" spc="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文案优化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sp>
        <p:nvSpPr>
          <p:cNvPr id="258" name="textbox 258"/>
          <p:cNvSpPr/>
          <p:nvPr/>
        </p:nvSpPr>
        <p:spPr>
          <a:xfrm>
            <a:off x="5996403" y="3237600"/>
            <a:ext cx="3811270" cy="7670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52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797810" algn="l" rtl="0" eaLnBrk="0">
              <a:lnSpc>
                <a:spcPct val="95000"/>
              </a:lnSpc>
              <a:tabLst/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界面文案生成</a:t>
            </a:r>
            <a:endParaRPr sz="13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6000"/>
              </a:lnSpc>
              <a:spcBef>
                <a:spcPts val="1486"/>
              </a:spcBef>
              <a:tabLst/>
            </a:pPr>
            <a:r>
              <a:rPr sz="1100" b="1" kern="0" spc="-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核心流程演示</a:t>
            </a:r>
            <a:r>
              <a:rPr sz="1100" kern="0" spc="6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100" b="1" kern="0" spc="-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价值总结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5000"/>
              </a:lnSpc>
              <a:spcBef>
                <a:spcPts val="115"/>
              </a:spcBef>
              <a:tabLst/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演示脚本初稿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60" name="textbox 260"/>
          <p:cNvSpPr/>
          <p:nvPr/>
        </p:nvSpPr>
        <p:spPr>
          <a:xfrm>
            <a:off x="796790" y="290948"/>
            <a:ext cx="63614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19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|第6次：</a:t>
            </a:r>
            <a:r>
              <a:rPr sz="1700" b="1" kern="0" spc="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-15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700" b="1" kern="0" spc="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</a:t>
            </a:r>
            <a:r>
              <a:rPr sz="1700" b="1" kern="0" spc="6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能项目诊断与原型设计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262" name="textbox 262"/>
          <p:cNvSpPr/>
          <p:nvPr/>
        </p:nvSpPr>
        <p:spPr>
          <a:xfrm>
            <a:off x="1184730" y="5378613"/>
            <a:ext cx="4761865" cy="3060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23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2000" b="1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讲清场景与价值，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</a:t>
            </a:r>
            <a:r>
              <a:rPr sz="2000" b="1" kern="0" spc="-15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o</a:t>
            </a:r>
            <a:r>
              <a:rPr sz="2000" b="1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才更有说服力</a:t>
            </a:r>
            <a:r>
              <a:rPr sz="2000" b="1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。</a:t>
            </a:r>
            <a:endParaRPr sz="2000" dirty="0">
              <a:latin typeface="SimHei"/>
              <a:ea typeface="SimHei"/>
              <a:cs typeface="SimHei"/>
            </a:endParaRPr>
          </a:p>
        </p:txBody>
      </p:sp>
      <p:sp>
        <p:nvSpPr>
          <p:cNvPr id="264" name="textbox 264"/>
          <p:cNvSpPr/>
          <p:nvPr/>
        </p:nvSpPr>
        <p:spPr>
          <a:xfrm>
            <a:off x="4295480" y="4287683"/>
            <a:ext cx="5494654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44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600" b="1" kern="0" spc="-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分工明确，</a:t>
            </a:r>
            <a:r>
              <a:rPr sz="1600" b="1" kern="0" spc="-4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  </a:t>
            </a:r>
            <a:r>
              <a:rPr sz="1600" b="1" kern="0" spc="-4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展示更顺畅。</a:t>
            </a:r>
            <a:r>
              <a:rPr sz="1600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</a:t>
            </a:r>
            <a:r>
              <a:rPr sz="16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3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展示逻辑检查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266" name="textbox 266"/>
          <p:cNvSpPr/>
          <p:nvPr/>
        </p:nvSpPr>
        <p:spPr>
          <a:xfrm>
            <a:off x="1631904" y="4149177"/>
            <a:ext cx="1076960" cy="48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33350" algn="l" rtl="0" eaLnBrk="0">
              <a:lnSpc>
                <a:spcPct val="95000"/>
              </a:lnSpc>
              <a:tabLst/>
            </a:pPr>
            <a:r>
              <a:rPr sz="1100" b="1" kern="0" spc="-7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100" b="1" kern="0" spc="-7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讲解员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58750" indent="-146050" algn="l" rtl="0" eaLnBrk="0">
              <a:lnSpc>
                <a:spcPct val="133000"/>
              </a:lnSpc>
              <a:spcBef>
                <a:spcPts val="118"/>
              </a:spcBef>
              <a:tabLst/>
            </a:pP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负</a:t>
            </a:r>
            <a:r>
              <a:rPr sz="7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责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讲解与演示，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突出亮点与价值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1676390" y="3031343"/>
            <a:ext cx="994410" cy="477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10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ct val="95000"/>
              </a:lnSpc>
              <a:tabLst/>
            </a:pPr>
            <a:r>
              <a:rPr sz="1000" b="1" kern="0" spc="-1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000" b="1" kern="0" spc="-1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梳理员</a:t>
            </a:r>
            <a:endParaRPr sz="1000" dirty="0">
              <a:latin typeface="SimHei"/>
              <a:ea typeface="SimHei"/>
              <a:cs typeface="SimHei"/>
            </a:endParaRPr>
          </a:p>
          <a:p>
            <a:pPr marL="170179" indent="-158114" algn="l" rtl="0" eaLnBrk="0">
              <a:lnSpc>
                <a:spcPct val="133000"/>
              </a:lnSpc>
              <a:spcBef>
                <a:spcPts val="179"/>
              </a:spcBef>
              <a:tabLst/>
            </a:pP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梳理核心功能与价值，</a:t>
            </a: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边界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70" name="textbox 270"/>
          <p:cNvSpPr/>
          <p:nvPr/>
        </p:nvSpPr>
        <p:spPr>
          <a:xfrm>
            <a:off x="419101" y="3037574"/>
            <a:ext cx="1002030" cy="466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62864" algn="l" rtl="0" eaLnBrk="0">
              <a:lnSpc>
                <a:spcPct val="100000"/>
              </a:lnSpc>
              <a:tabLst/>
            </a:pPr>
            <a:r>
              <a:rPr sz="900" b="1" kern="0" spc="0" dirty="0">
                <a:solidFill>
                  <a:srgbClr val="102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900" b="1" kern="0" spc="8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提示词设计员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00964" algn="l" rtl="0" eaLnBrk="0">
              <a:lnSpc>
                <a:spcPct val="98000"/>
              </a:lnSpc>
              <a:spcBef>
                <a:spcPts val="442"/>
              </a:spcBef>
              <a:tabLst/>
            </a:pPr>
            <a:r>
              <a:rPr sz="7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设计关键提示词，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0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858"/>
              </a:lnSpc>
              <a:spcBef>
                <a:spcPts val="1"/>
              </a:spcBef>
              <a:tabLst/>
            </a:pP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引</a:t>
            </a:r>
            <a:r>
              <a:rPr sz="700" kern="0" spc="-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导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生成高质量内容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sp>
        <p:nvSpPr>
          <p:cNvPr id="272" name="textbox 272"/>
          <p:cNvSpPr/>
          <p:nvPr/>
        </p:nvSpPr>
        <p:spPr>
          <a:xfrm>
            <a:off x="520708" y="4167871"/>
            <a:ext cx="765809" cy="464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58419" algn="l" rtl="0" eaLnBrk="0">
              <a:lnSpc>
                <a:spcPct val="100000"/>
              </a:lnSpc>
              <a:tabLst/>
            </a:pPr>
            <a:r>
              <a:rPr sz="900" b="1" kern="0" spc="8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原型绘制员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indent="38100" algn="l" rtl="0" eaLnBrk="0">
              <a:lnSpc>
                <a:spcPct val="133000"/>
              </a:lnSpc>
              <a:spcBef>
                <a:spcPts val="144"/>
              </a:spcBef>
              <a:tabLst/>
            </a:pP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绘制界面原型，</a:t>
            </a:r>
            <a:r>
              <a:rPr sz="7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呈现场景与流程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274" name="picture 2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46092" y="95246"/>
            <a:ext cx="539672" cy="527025"/>
          </a:xfrm>
          <a:prstGeom prst="rect">
            <a:avLst/>
          </a:prstGeom>
        </p:spPr>
      </p:pic>
      <p:pic>
        <p:nvPicPr>
          <p:cNvPr id="276" name="picture 27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842463" y="196828"/>
            <a:ext cx="603269" cy="311196"/>
          </a:xfrm>
          <a:prstGeom prst="rect">
            <a:avLst/>
          </a:prstGeom>
        </p:spPr>
      </p:pic>
      <p:sp>
        <p:nvSpPr>
          <p:cNvPr id="278" name="textbox 278"/>
          <p:cNvSpPr/>
          <p:nvPr/>
        </p:nvSpPr>
        <p:spPr>
          <a:xfrm>
            <a:off x="3177005" y="3660214"/>
            <a:ext cx="580390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100" b="1" kern="0" spc="-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场景进入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80" name="textbox 280"/>
          <p:cNvSpPr/>
          <p:nvPr/>
        </p:nvSpPr>
        <p:spPr>
          <a:xfrm>
            <a:off x="5126429" y="3615758"/>
            <a:ext cx="580390" cy="1860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57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100" b="1" kern="0" spc="-2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解决方案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sp>
        <p:nvSpPr>
          <p:cNvPr id="282" name="textbox 282"/>
          <p:cNvSpPr/>
          <p:nvPr/>
        </p:nvSpPr>
        <p:spPr>
          <a:xfrm>
            <a:off x="4135845" y="3616736"/>
            <a:ext cx="576580" cy="1866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7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100" b="1" kern="0" spc="-20" dirty="0">
                <a:solidFill>
                  <a:srgbClr val="102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用户痛点</a:t>
            </a:r>
            <a:endParaRPr sz="11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picture 28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6370" y="4997424"/>
            <a:ext cx="10579084" cy="965198"/>
            <a:chOff x="0" y="0"/>
            <a:chExt cx="10579084" cy="965198"/>
          </a:xfrm>
        </p:grpSpPr>
        <p:pic>
          <p:nvPicPr>
            <p:cNvPr id="286" name="picture 28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79084" cy="965198"/>
            </a:xfrm>
            <a:prstGeom prst="rect">
              <a:avLst/>
            </a:prstGeom>
          </p:spPr>
        </p:pic>
        <p:sp>
          <p:nvSpPr>
            <p:cNvPr id="288" name="textbox 288"/>
            <p:cNvSpPr/>
            <p:nvPr/>
          </p:nvSpPr>
          <p:spPr>
            <a:xfrm>
              <a:off x="-12700" y="-12700"/>
              <a:ext cx="10604500" cy="101346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35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9195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1114425" algn="l" rtl="0" eaLnBrk="0">
                <a:lnSpc>
                  <a:spcPct val="94000"/>
                </a:lnSpc>
                <a:tabLst/>
              </a:pPr>
              <a:r>
                <a:rPr sz="2000" b="1" kern="0" spc="8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把过程做扎实，后续路演更有底气。</a:t>
              </a:r>
              <a:endParaRPr sz="20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290" name="textbox 290"/>
          <p:cNvSpPr/>
          <p:nvPr/>
        </p:nvSpPr>
        <p:spPr>
          <a:xfrm>
            <a:off x="4178334" y="3460770"/>
            <a:ext cx="3187064" cy="13703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53365" algn="l" rtl="0" eaLnBrk="0">
              <a:lnSpc>
                <a:spcPct val="96000"/>
              </a:lnSpc>
              <a:spcBef>
                <a:spcPts val="3"/>
              </a:spcBef>
              <a:tabLst>
                <a:tab pos="329565" algn="l"/>
              </a:tabLst>
            </a:pPr>
            <a:r>
              <a:rPr sz="1100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原型草图与</a:t>
            </a:r>
            <a:r>
              <a:rPr sz="1100" kern="0" spc="0" dirty="0">
                <a:solidFill>
                  <a:srgbClr val="102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100" kern="0" spc="-40" dirty="0">
                <a:solidFill>
                  <a:srgbClr val="102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100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提纲示例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88264" algn="l" rtl="0" eaLnBrk="0">
              <a:lnSpc>
                <a:spcPts val="866"/>
              </a:lnSpc>
              <a:spcBef>
                <a:spcPts val="962"/>
              </a:spcBef>
              <a:tabLst/>
            </a:pPr>
            <a:r>
              <a:rPr sz="700" kern="0" spc="1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原型草图(示例)</a:t>
            </a:r>
            <a:r>
              <a:rPr sz="700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                  </a:t>
            </a:r>
            <a:r>
              <a:rPr sz="700" b="1" kern="0" spc="0" dirty="0">
                <a:solidFill>
                  <a:srgbClr val="102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700" b="1" kern="0" spc="130" dirty="0">
                <a:solidFill>
                  <a:srgbClr val="102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700" b="1" kern="0" spc="1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</a:t>
            </a:r>
            <a:r>
              <a:rPr sz="700" b="1" kern="0" spc="12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纲(示例)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2152014" algn="l" rtl="0" eaLnBrk="0">
              <a:lnSpc>
                <a:spcPts val="852"/>
              </a:lnSpc>
              <a:spcBef>
                <a:spcPts val="792"/>
              </a:spcBef>
              <a:tabLst/>
            </a:pPr>
            <a:r>
              <a:rPr sz="700" kern="0" spc="4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1.</a:t>
            </a:r>
            <a:r>
              <a:rPr sz="700" kern="0" spc="21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项目背景与问题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2152014" algn="l" rtl="0" eaLnBrk="0">
              <a:lnSpc>
                <a:spcPts val="852"/>
              </a:lnSpc>
              <a:spcBef>
                <a:spcPts val="497"/>
              </a:spcBef>
              <a:tabLst/>
            </a:pPr>
            <a:r>
              <a:rPr sz="700" kern="0" spc="3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2.</a:t>
            </a:r>
            <a:r>
              <a:rPr sz="700" kern="0" spc="24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解决思路与方案</a:t>
            </a:r>
            <a:endParaRPr sz="700" dirty="0">
              <a:latin typeface="SimHei"/>
              <a:ea typeface="SimHei"/>
              <a:cs typeface="SimHei"/>
            </a:endParaRPr>
          </a:p>
          <a:p>
            <a:pPr marL="2152014" algn="l" rtl="0" eaLnBrk="0">
              <a:lnSpc>
                <a:spcPts val="852"/>
              </a:lnSpc>
              <a:spcBef>
                <a:spcPts val="447"/>
              </a:spcBef>
              <a:tabLst/>
            </a:pPr>
            <a:r>
              <a:rPr sz="700" kern="0" spc="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3.</a:t>
            </a:r>
            <a:r>
              <a:rPr sz="700" kern="0" spc="13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核心功能演示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ts val="855"/>
              </a:lnSpc>
              <a:spcBef>
                <a:spcPts val="500"/>
              </a:spcBef>
              <a:tabLst/>
            </a:pPr>
            <a:r>
              <a:rPr sz="700" kern="0" spc="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4.</a:t>
            </a:r>
            <a:r>
              <a:rPr sz="700" kern="0" spc="12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用户价值与验证结果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152014" algn="l" rtl="0" eaLnBrk="0">
              <a:lnSpc>
                <a:spcPts val="858"/>
              </a:lnSpc>
              <a:spcBef>
                <a:spcPts val="2"/>
              </a:spcBef>
              <a:tabLst/>
            </a:pPr>
            <a:r>
              <a:rPr sz="700" kern="0" spc="5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5.</a:t>
            </a:r>
            <a:r>
              <a:rPr sz="700" kern="0" spc="200" dirty="0">
                <a:solidFill>
                  <a:srgbClr val="0030D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7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下一步计划</a:t>
            </a:r>
            <a:endParaRPr sz="700" dirty="0">
              <a:latin typeface="SimHei"/>
              <a:ea typeface="SimHei"/>
              <a:cs typeface="SimHei"/>
            </a:endParaRPr>
          </a:p>
        </p:txBody>
      </p:sp>
      <p:pic>
        <p:nvPicPr>
          <p:cNvPr id="292" name="picture 29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191034" y="3473470"/>
            <a:ext cx="241222" cy="241284"/>
          </a:xfrm>
          <a:prstGeom prst="rect">
            <a:avLst/>
          </a:prstGeom>
        </p:spPr>
      </p:pic>
      <p:pic>
        <p:nvPicPr>
          <p:cNvPr id="294" name="picture 29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216408" y="2139952"/>
            <a:ext cx="425431" cy="711185"/>
          </a:xfrm>
          <a:prstGeom prst="rect">
            <a:avLst/>
          </a:prstGeom>
        </p:spPr>
      </p:pic>
      <p:pic>
        <p:nvPicPr>
          <p:cNvPr id="296" name="picture 29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216408" y="2876533"/>
            <a:ext cx="425431" cy="171492"/>
          </a:xfrm>
          <a:prstGeom prst="rect">
            <a:avLst/>
          </a:prstGeom>
        </p:spPr>
      </p:pic>
      <p:pic>
        <p:nvPicPr>
          <p:cNvPr id="298" name="picture 29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216408" y="3067027"/>
            <a:ext cx="425431" cy="158764"/>
          </a:xfrm>
          <a:prstGeom prst="rect">
            <a:avLst/>
          </a:prstGeom>
        </p:spPr>
      </p:pic>
      <p:sp>
        <p:nvSpPr>
          <p:cNvPr id="300" name="textbox 300"/>
          <p:cNvSpPr/>
          <p:nvPr/>
        </p:nvSpPr>
        <p:spPr>
          <a:xfrm>
            <a:off x="4171963" y="1771658"/>
            <a:ext cx="2868295" cy="14554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22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59715" algn="l" rtl="0" eaLnBrk="0">
              <a:lnSpc>
                <a:spcPct val="96000"/>
              </a:lnSpc>
              <a:spcBef>
                <a:spcPts val="2"/>
              </a:spcBef>
              <a:tabLst>
                <a:tab pos="335915" algn="l"/>
              </a:tabLst>
            </a:pPr>
            <a:r>
              <a:rPr sz="1100" kern="0" spc="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提示词设计记录示例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132714" algn="l" rtl="0" eaLnBrk="0">
              <a:lnSpc>
                <a:spcPts val="978"/>
              </a:lnSpc>
              <a:spcBef>
                <a:spcPts val="1239"/>
              </a:spcBef>
              <a:tabLst/>
            </a:pPr>
            <a:r>
              <a:rPr sz="800" kern="0" spc="8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目标：</a:t>
            </a:r>
            <a:r>
              <a:rPr sz="800" kern="0" spc="17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明确使用</a:t>
            </a:r>
            <a:r>
              <a:rPr sz="7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7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要完成的任务</a:t>
            </a:r>
            <a:endParaRPr sz="7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6000"/>
              </a:lnSpc>
              <a:spcBef>
                <a:spcPts val="555"/>
              </a:spcBef>
              <a:tabLst/>
            </a:pPr>
            <a:r>
              <a:rPr sz="800" kern="0" spc="6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角色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：你是一位资深的创业</a:t>
            </a:r>
            <a:r>
              <a:rPr sz="800" kern="0" spc="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顾问/产早经理/市场分析师…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32714" algn="l" rtl="0" eaLnBrk="0">
              <a:lnSpc>
                <a:spcPct val="95000"/>
              </a:lnSpc>
              <a:spcBef>
                <a:spcPts val="682"/>
              </a:spcBef>
              <a:tabLst/>
            </a:pPr>
            <a:r>
              <a:rPr sz="800" kern="0" spc="4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背景</a:t>
            </a:r>
            <a:r>
              <a:rPr sz="800" kern="0" spc="-20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40" dirty="0">
                <a:solidFill>
                  <a:srgbClr val="6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800" kern="0" spc="0" dirty="0">
                <a:solidFill>
                  <a:srgbClr val="606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我们的项目是</a:t>
            </a:r>
            <a:r>
              <a:rPr sz="800" kern="0" spc="-2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……</a:t>
            </a:r>
            <a:r>
              <a:rPr sz="800" kern="0" spc="-1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(项目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简介)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32714" algn="l" rtl="0" eaLnBrk="0">
              <a:lnSpc>
                <a:spcPts val="1019"/>
              </a:lnSpc>
              <a:spcBef>
                <a:spcPts val="284"/>
              </a:spcBef>
              <a:tabLst/>
            </a:pPr>
            <a:r>
              <a:rPr sz="1200" kern="0" spc="0" baseline="-2749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</a:t>
            </a:r>
            <a:r>
              <a:rPr sz="7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0" baseline="-2749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入</a:t>
            </a:r>
            <a:r>
              <a:rPr sz="700" kern="0" spc="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0" baseline="-2749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：</a:t>
            </a:r>
            <a:r>
              <a:rPr sz="700" kern="0" spc="11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市场数据、用户调研、现</a:t>
            </a:r>
            <a:r>
              <a:rPr sz="8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有方案等信息</a:t>
            </a:r>
            <a:endParaRPr sz="800" dirty="0">
              <a:latin typeface="SimHei"/>
              <a:ea typeface="SimHei"/>
              <a:cs typeface="SimHei"/>
            </a:endParaRPr>
          </a:p>
          <a:p>
            <a:pPr marL="132714" algn="l" rtl="0" eaLnBrk="0">
              <a:lnSpc>
                <a:spcPct val="99000"/>
              </a:lnSpc>
              <a:spcBef>
                <a:spcPts val="485"/>
              </a:spcBef>
              <a:tabLst/>
            </a:pPr>
            <a:r>
              <a:rPr sz="1300" kern="0" spc="20" baseline="4006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任务：</a:t>
            </a:r>
            <a:r>
              <a:rPr sz="800" kern="0" spc="9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请从……维度分析，并给出可执行</a:t>
            </a: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的建议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9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32714" algn="l" rtl="0" eaLnBrk="0">
              <a:lnSpc>
                <a:spcPts val="1028"/>
              </a:lnSpc>
              <a:spcBef>
                <a:spcPts val="2"/>
              </a:spcBef>
              <a:tabLst/>
            </a:pPr>
            <a:r>
              <a:rPr sz="1300" kern="0" spc="70" baseline="-3748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输出：</a:t>
            </a:r>
            <a:r>
              <a:rPr sz="800" kern="0" spc="7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结构化结论+建议清单+下一步行动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pic>
        <p:nvPicPr>
          <p:cNvPr id="302" name="picture 30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184663" y="1784358"/>
            <a:ext cx="247593" cy="254012"/>
          </a:xfrm>
          <a:prstGeom prst="rect">
            <a:avLst/>
          </a:prstGeom>
        </p:spPr>
      </p:pic>
      <p:graphicFrame>
        <p:nvGraphicFramePr>
          <p:cNvPr id="304" name="table 304"/>
          <p:cNvGraphicFramePr>
            <a:graphicFrameLocks noGrp="1"/>
          </p:cNvGraphicFramePr>
          <p:nvPr/>
        </p:nvGraphicFramePr>
        <p:xfrm>
          <a:off x="492117" y="2085986"/>
          <a:ext cx="3327400" cy="1174114"/>
        </p:xfrm>
        <a:graphic>
          <a:graphicData uri="http://schemas.openxmlformats.org/drawingml/2006/table">
            <a:tbl>
              <a:tblPr/>
              <a:tblGrid>
                <a:gridCol w="752475"/>
                <a:gridCol w="762000"/>
                <a:gridCol w="615950"/>
                <a:gridCol w="609600"/>
                <a:gridCol w="587375"/>
              </a:tblGrid>
              <a:tr h="2057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8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b="1" kern="0" spc="3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诊断维度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1770" algn="l" rtl="0" eaLnBrk="0">
                        <a:lnSpc>
                          <a:spcPts val="854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b="1" kern="0" spc="4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问题描述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15570" algn="l" rtl="0" eaLnBrk="0">
                        <a:lnSpc>
                          <a:spcPts val="848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b="1" kern="0" spc="30" dirty="0">
                          <a:solidFill>
                            <a:srgbClr val="001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严</a:t>
                      </a:r>
                      <a:r>
                        <a:rPr sz="700" b="1" kern="0" spc="30" dirty="0">
                          <a:solidFill>
                            <a:srgbClr val="102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重程度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60020" algn="l" rtl="0" eaLnBrk="0">
                        <a:lnSpc>
                          <a:spcPts val="848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b="1" kern="0" spc="0" dirty="0">
                          <a:solidFill>
                            <a:srgbClr val="10207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AI</a:t>
                      </a:r>
                      <a:r>
                        <a:rPr sz="700" b="1" kern="0" spc="40" dirty="0">
                          <a:solidFill>
                            <a:srgbClr val="102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建议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7320" algn="l" rtl="0" eaLnBrk="0">
                        <a:lnSpc>
                          <a:spcPts val="846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700" b="1" kern="0" spc="3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优先级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6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ct val="100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用户价值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ts val="98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ts val="84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高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989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6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47320" algn="l" rtl="0" eaLnBrk="0">
                        <a:lnSpc>
                          <a:spcPts val="873"/>
                        </a:lnSpc>
                        <a:tabLst/>
                      </a:pPr>
                      <a:r>
                        <a:rPr sz="700" b="1" kern="0" spc="20" dirty="0">
                          <a:solidFill>
                            <a:srgbClr val="102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★★★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846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市场可行性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ts val="989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ts val="84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989"/>
                        </a:lnSpc>
                        <a:tabLst/>
                      </a:pPr>
                      <a:r>
                        <a:rPr sz="700" kern="0" spc="0" dirty="0">
                          <a:solidFill>
                            <a:srgbClr val="102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873"/>
                        </a:lnSpc>
                        <a:tabLst/>
                      </a:pPr>
                      <a:r>
                        <a:rPr sz="700" kern="0" spc="20" dirty="0">
                          <a:solidFill>
                            <a:srgbClr val="103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★</a:t>
                      </a:r>
                      <a:r>
                        <a:rPr sz="700" kern="0" spc="2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★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84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解决方案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ts val="98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101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ts val="848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98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102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873"/>
                        </a:lnSpc>
                        <a:tabLst/>
                      </a:pPr>
                      <a:r>
                        <a:rPr sz="700" kern="0" spc="2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★</a:t>
                      </a:r>
                      <a:r>
                        <a:rPr sz="700" kern="0" spc="20" dirty="0">
                          <a:solidFill>
                            <a:srgbClr val="1030A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★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84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b="1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商业模式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ts val="98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ts val="851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低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989"/>
                        </a:lnSpc>
                        <a:spcBef>
                          <a:spcPts val="4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20206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5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40665" algn="l" rtl="0" eaLnBrk="0">
                        <a:lnSpc>
                          <a:spcPts val="873"/>
                        </a:lnSpc>
                        <a:tabLst/>
                      </a:pPr>
                      <a:r>
                        <a:rPr sz="700" kern="0" spc="-10" dirty="0">
                          <a:solidFill>
                            <a:srgbClr val="10209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★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06045" algn="l" rtl="0" eaLnBrk="0">
                        <a:lnSpc>
                          <a:spcPts val="846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b="1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团队能力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85750" algn="l" rtl="0" eaLnBrk="0">
                        <a:lnSpc>
                          <a:spcPts val="101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10104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0350" algn="l" rtl="0" eaLnBrk="0">
                        <a:lnSpc>
                          <a:spcPts val="848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中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4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09550" algn="l" rtl="0" eaLnBrk="0">
                        <a:lnSpc>
                          <a:spcPts val="1014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700" kern="0" spc="0" dirty="0">
                          <a:solidFill>
                            <a:srgbClr val="10105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……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  <a:tabLst/>
                      </a:pPr>
                      <a:endParaRPr sz="3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96850" algn="l" rtl="0" eaLnBrk="0">
                        <a:lnSpc>
                          <a:spcPts val="873"/>
                        </a:lnSpc>
                        <a:spcBef>
                          <a:spcPts val="3"/>
                        </a:spcBef>
                        <a:tabLst/>
                      </a:pPr>
                      <a:r>
                        <a:rPr sz="700" kern="0" spc="20" dirty="0">
                          <a:solidFill>
                            <a:srgbClr val="10208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★★</a:t>
                      </a:r>
                      <a:endParaRPr sz="7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6" name="textbox 306"/>
          <p:cNvSpPr/>
          <p:nvPr/>
        </p:nvSpPr>
        <p:spPr>
          <a:xfrm>
            <a:off x="337170" y="861969"/>
            <a:ext cx="3095625" cy="12090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-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成果样例展示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26669" algn="l" rtl="0" eaLnBrk="0">
              <a:lnSpc>
                <a:spcPct val="94000"/>
              </a:lnSpc>
              <a:spcBef>
                <a:spcPts val="450"/>
              </a:spcBef>
              <a:tabLst/>
            </a:pPr>
            <a:r>
              <a:rPr sz="12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展示本次实践课建议形成的过程性成果样式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100" dirty="0">
              <a:latin typeface="Arial"/>
              <a:ea typeface="Arial"/>
              <a:cs typeface="Arial"/>
            </a:endParaRPr>
          </a:p>
          <a:p>
            <a:pPr marL="411480" algn="l" rtl="0" eaLnBrk="0">
              <a:lnSpc>
                <a:spcPct val="95000"/>
              </a:lnSpc>
              <a:tabLst>
                <a:tab pos="526415" algn="l"/>
              </a:tabLst>
            </a:pPr>
            <a:r>
              <a:rPr sz="1200" b="1" kern="0" spc="0" dirty="0">
                <a:solidFill>
                  <a:srgbClr val="102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200" b="1" kern="0" spc="-40" dirty="0">
                <a:solidFill>
                  <a:srgbClr val="102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b="1" kern="0" spc="-4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诊断记录表示例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308" name="picture 30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95292" y="1784358"/>
            <a:ext cx="253963" cy="254012"/>
          </a:xfrm>
          <a:prstGeom prst="rect">
            <a:avLst/>
          </a:prstGeom>
        </p:spPr>
      </p:pic>
      <p:pic>
        <p:nvPicPr>
          <p:cNvPr id="310" name="picture 3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222779" y="3924310"/>
            <a:ext cx="1835076" cy="965198"/>
          </a:xfrm>
          <a:prstGeom prst="rect">
            <a:avLst/>
          </a:prstGeom>
        </p:spPr>
      </p:pic>
      <p:sp>
        <p:nvSpPr>
          <p:cNvPr id="312" name="textbox 312"/>
          <p:cNvSpPr/>
          <p:nvPr/>
        </p:nvSpPr>
        <p:spPr>
          <a:xfrm>
            <a:off x="1600158" y="3870488"/>
            <a:ext cx="1931670" cy="898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14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我们要解决的用户核心痛点是什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么?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47"/>
              </a:spcBef>
              <a:tabLst/>
            </a:pPr>
            <a:r>
              <a:rPr sz="800" kern="0" spc="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最小可行产品要实现哪些关键功能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?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5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</a:t>
            </a:r>
            <a:r>
              <a:rPr sz="8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验证什么假设?成功</a:t>
            </a:r>
            <a:r>
              <a:rPr sz="800" kern="0" spc="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标准是什么?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grpSp>
        <p:nvGrpSpPr>
          <p:cNvPr id="12" name="group 12"/>
          <p:cNvGrpSpPr/>
          <p:nvPr/>
        </p:nvGrpSpPr>
        <p:grpSpPr>
          <a:xfrm rot="21600000">
            <a:off x="7886668" y="1143024"/>
            <a:ext cx="2432082" cy="622272"/>
            <a:chOff x="0" y="0"/>
            <a:chExt cx="2432082" cy="622272"/>
          </a:xfrm>
        </p:grpSpPr>
        <p:pic>
          <p:nvPicPr>
            <p:cNvPr id="314" name="picture 314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0" y="0"/>
              <a:ext cx="2432082" cy="622272"/>
            </a:xfrm>
            <a:prstGeom prst="rect">
              <a:avLst/>
            </a:prstGeom>
          </p:spPr>
        </p:pic>
        <p:sp>
          <p:nvSpPr>
            <p:cNvPr id="316" name="textbox 316"/>
            <p:cNvSpPr/>
            <p:nvPr/>
          </p:nvSpPr>
          <p:spPr>
            <a:xfrm>
              <a:off x="-12700" y="-12700"/>
              <a:ext cx="2458085" cy="6794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65175" algn="l" rtl="0" eaLnBrk="0">
                <a:lnSpc>
                  <a:spcPct val="98000"/>
                </a:lnSpc>
                <a:spcBef>
                  <a:spcPts val="4"/>
                </a:spcBef>
                <a:tabLst/>
              </a:pPr>
              <a:r>
                <a:rPr sz="1900" b="1" kern="0" spc="-6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优秀成果特征</a:t>
              </a:r>
              <a:endParaRPr sz="19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318" name="textbox 318"/>
          <p:cNvSpPr/>
          <p:nvPr/>
        </p:nvSpPr>
        <p:spPr>
          <a:xfrm>
            <a:off x="790526" y="265553"/>
            <a:ext cx="63360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7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16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7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|第6次：</a:t>
            </a:r>
            <a:r>
              <a:rPr sz="1700" b="1" kern="0" spc="0" dirty="0">
                <a:solidFill>
                  <a:srgbClr val="10209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7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赋能项目诊断与原型设计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grpSp>
        <p:nvGrpSpPr>
          <p:cNvPr id="14" name="group 14"/>
          <p:cNvGrpSpPr/>
          <p:nvPr/>
        </p:nvGrpSpPr>
        <p:grpSpPr>
          <a:xfrm rot="21600000">
            <a:off x="8058136" y="3022571"/>
            <a:ext cx="2089146" cy="469901"/>
            <a:chOff x="0" y="0"/>
            <a:chExt cx="2089146" cy="469901"/>
          </a:xfrm>
        </p:grpSpPr>
        <p:pic>
          <p:nvPicPr>
            <p:cNvPr id="320" name="picture 320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0" y="0"/>
              <a:ext cx="2089146" cy="469901"/>
            </a:xfrm>
            <a:prstGeom prst="rect">
              <a:avLst/>
            </a:prstGeom>
          </p:spPr>
        </p:pic>
        <p:sp>
          <p:nvSpPr>
            <p:cNvPr id="322" name="textbox 322"/>
            <p:cNvSpPr/>
            <p:nvPr/>
          </p:nvSpPr>
          <p:spPr>
            <a:xfrm>
              <a:off x="-12700" y="-12700"/>
              <a:ext cx="2114550" cy="5187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210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622300" algn="l" rtl="0" eaLnBrk="0">
                <a:lnSpc>
                  <a:spcPct val="95000"/>
                </a:lnSpc>
                <a:tabLst/>
              </a:pPr>
              <a:r>
                <a:rPr sz="1400" kern="0" spc="-120" dirty="0">
                  <a:solidFill>
                    <a:srgbClr val="000000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MVP</a:t>
              </a:r>
              <a:r>
                <a:rPr sz="1400" b="1" kern="0" spc="-12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聚焦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 rot="21600000">
            <a:off x="8051766" y="3587779"/>
            <a:ext cx="2095517" cy="463507"/>
            <a:chOff x="0" y="0"/>
            <a:chExt cx="2095517" cy="463507"/>
          </a:xfrm>
        </p:grpSpPr>
        <p:pic>
          <p:nvPicPr>
            <p:cNvPr id="324" name="picture 324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0" y="0"/>
              <a:ext cx="2095517" cy="463507"/>
            </a:xfrm>
            <a:prstGeom prst="rect">
              <a:avLst/>
            </a:prstGeom>
          </p:spPr>
        </p:pic>
        <p:sp>
          <p:nvSpPr>
            <p:cNvPr id="326" name="textbox 326"/>
            <p:cNvSpPr/>
            <p:nvPr/>
          </p:nvSpPr>
          <p:spPr>
            <a:xfrm>
              <a:off x="-12700" y="-12700"/>
              <a:ext cx="2121535" cy="5099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6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630555" algn="l" rtl="0" eaLnBrk="0">
                <a:lnSpc>
                  <a:spcPct val="96000"/>
                </a:lnSpc>
                <a:spcBef>
                  <a:spcPts val="2"/>
                </a:spcBef>
                <a:tabLst/>
              </a:pPr>
              <a:r>
                <a:rPr sz="1200" b="1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原型可讲解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8058136" y="1911335"/>
            <a:ext cx="2082776" cy="425444"/>
            <a:chOff x="0" y="0"/>
            <a:chExt cx="2082776" cy="425444"/>
          </a:xfrm>
        </p:grpSpPr>
        <p:pic>
          <p:nvPicPr>
            <p:cNvPr id="328" name="picture 328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 rot="21600000">
              <a:off x="0" y="0"/>
              <a:ext cx="2082776" cy="425444"/>
            </a:xfrm>
            <a:prstGeom prst="rect">
              <a:avLst/>
            </a:prstGeom>
          </p:spPr>
        </p:pic>
        <p:sp>
          <p:nvSpPr>
            <p:cNvPr id="330" name="textbox 330"/>
            <p:cNvSpPr/>
            <p:nvPr/>
          </p:nvSpPr>
          <p:spPr>
            <a:xfrm>
              <a:off x="-12700" y="-12700"/>
              <a:ext cx="2108200" cy="47116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  <a:tabLst/>
              </a:pPr>
              <a:endParaRPr sz="800" dirty="0">
                <a:latin typeface="Arial"/>
                <a:ea typeface="Arial"/>
                <a:cs typeface="Arial"/>
              </a:endParaRPr>
            </a:p>
            <a:p>
              <a:pPr marL="624205" algn="l" rtl="0" eaLnBrk="0">
                <a:lnSpc>
                  <a:spcPct val="95000"/>
                </a:lnSpc>
                <a:spcBef>
                  <a:spcPts val="3"/>
                </a:spcBef>
                <a:tabLst/>
              </a:pPr>
              <a:r>
                <a:rPr sz="1200" b="1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诊断有依据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8070877" y="2482877"/>
            <a:ext cx="2070035" cy="425444"/>
            <a:chOff x="0" y="0"/>
            <a:chExt cx="2070035" cy="425444"/>
          </a:xfrm>
        </p:grpSpPr>
        <p:pic>
          <p:nvPicPr>
            <p:cNvPr id="332" name="picture 332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 rot="21600000">
              <a:off x="0" y="0"/>
              <a:ext cx="2070035" cy="425444"/>
            </a:xfrm>
            <a:prstGeom prst="rect">
              <a:avLst/>
            </a:prstGeom>
          </p:spPr>
        </p:pic>
        <p:sp>
          <p:nvSpPr>
            <p:cNvPr id="334" name="textbox 334"/>
            <p:cNvSpPr/>
            <p:nvPr/>
          </p:nvSpPr>
          <p:spPr>
            <a:xfrm>
              <a:off x="-12700" y="-12700"/>
              <a:ext cx="2095500" cy="4718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611505" algn="l" rtl="0" eaLnBrk="0">
                <a:lnSpc>
                  <a:spcPct val="96000"/>
                </a:lnSpc>
                <a:spcBef>
                  <a:spcPts val="1"/>
                </a:spcBef>
                <a:tabLst/>
              </a:pPr>
              <a:r>
                <a:rPr sz="1200" b="1" kern="0" spc="-40" dirty="0">
                  <a:solidFill>
                    <a:srgbClr val="000000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提示词具体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336" name="textbox 336"/>
          <p:cNvSpPr/>
          <p:nvPr/>
        </p:nvSpPr>
        <p:spPr>
          <a:xfrm>
            <a:off x="476222" y="3454377"/>
            <a:ext cx="1430655" cy="304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9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272415" algn="l" rtl="0" eaLnBrk="0">
              <a:lnSpc>
                <a:spcPct val="99000"/>
              </a:lnSpc>
              <a:spcBef>
                <a:spcPts val="5"/>
              </a:spcBef>
              <a:tabLst>
                <a:tab pos="387350" algn="l"/>
              </a:tabLst>
            </a:pPr>
            <a:r>
              <a:rPr sz="1100" b="1" kern="0" spc="0" dirty="0">
                <a:solidFill>
                  <a:srgbClr val="102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100" b="1" kern="0" spc="0" dirty="0">
                <a:solidFill>
                  <a:srgbClr val="102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100" b="1" kern="0" spc="30" dirty="0">
                <a:solidFill>
                  <a:srgbClr val="102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说明表示例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338" name="picture 33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488922" y="3467077"/>
            <a:ext cx="260333" cy="260345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514297" y="4146534"/>
            <a:ext cx="996955" cy="317530"/>
            <a:chOff x="0" y="0"/>
            <a:chExt cx="996955" cy="317530"/>
          </a:xfrm>
        </p:grpSpPr>
        <p:pic>
          <p:nvPicPr>
            <p:cNvPr id="340" name="picture 340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996955" cy="317530"/>
            </a:xfrm>
            <a:prstGeom prst="rect">
              <a:avLst/>
            </a:prstGeom>
          </p:spPr>
        </p:pic>
        <p:sp>
          <p:nvSpPr>
            <p:cNvPr id="342" name="textbox 342"/>
            <p:cNvSpPr/>
            <p:nvPr/>
          </p:nvSpPr>
          <p:spPr>
            <a:xfrm>
              <a:off x="-12700" y="-12700"/>
              <a:ext cx="1022985" cy="3587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361950" algn="l" rtl="0" eaLnBrk="0">
                <a:lnSpc>
                  <a:spcPts val="1088"/>
                </a:lnSpc>
                <a:spcBef>
                  <a:spcPts val="2"/>
                </a:spcBef>
                <a:tabLst/>
              </a:pPr>
              <a:r>
                <a:rPr sz="900" kern="0" spc="1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核心功能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24" name="group 24"/>
          <p:cNvGrpSpPr/>
          <p:nvPr/>
        </p:nvGrpSpPr>
        <p:grpSpPr>
          <a:xfrm rot="21600000">
            <a:off x="514297" y="4527522"/>
            <a:ext cx="996955" cy="311196"/>
            <a:chOff x="0" y="0"/>
            <a:chExt cx="996955" cy="311196"/>
          </a:xfrm>
        </p:grpSpPr>
        <p:pic>
          <p:nvPicPr>
            <p:cNvPr id="344" name="picture 344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 rot="21600000">
              <a:off x="0" y="0"/>
              <a:ext cx="996955" cy="311196"/>
            </a:xfrm>
            <a:prstGeom prst="rect">
              <a:avLst/>
            </a:prstGeom>
          </p:spPr>
        </p:pic>
        <p:sp>
          <p:nvSpPr>
            <p:cNvPr id="346" name="textbox 346"/>
            <p:cNvSpPr/>
            <p:nvPr/>
          </p:nvSpPr>
          <p:spPr>
            <a:xfrm>
              <a:off x="-12700" y="-12700"/>
              <a:ext cx="1022985" cy="3524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9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6798"/>
                </a:lnSpc>
                <a:tabLst/>
              </a:pPr>
              <a:endParaRPr sz="100" dirty="0">
                <a:latin typeface="Arial"/>
                <a:ea typeface="Arial"/>
                <a:cs typeface="Arial"/>
              </a:endParaRPr>
            </a:p>
            <a:p>
              <a:pPr marL="361950" algn="l" rtl="0" eaLnBrk="0">
                <a:lnSpc>
                  <a:spcPts val="1085"/>
                </a:lnSpc>
                <a:tabLst/>
              </a:pPr>
              <a:r>
                <a:rPr sz="900" kern="0" spc="1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验证目标</a:t>
              </a:r>
              <a:endParaRPr sz="9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 rot="21600000">
            <a:off x="520667" y="3771879"/>
            <a:ext cx="990584" cy="311196"/>
            <a:chOff x="0" y="0"/>
            <a:chExt cx="990584" cy="311196"/>
          </a:xfrm>
        </p:grpSpPr>
        <p:pic>
          <p:nvPicPr>
            <p:cNvPr id="348" name="picture 348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990584" cy="311196"/>
            </a:xfrm>
            <a:prstGeom prst="rect">
              <a:avLst/>
            </a:prstGeom>
          </p:spPr>
        </p:pic>
        <p:sp>
          <p:nvSpPr>
            <p:cNvPr id="350" name="textbox 350"/>
            <p:cNvSpPr/>
            <p:nvPr/>
          </p:nvSpPr>
          <p:spPr>
            <a:xfrm>
              <a:off x="-12700" y="-12700"/>
              <a:ext cx="1016000" cy="35623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  <a:tabLst/>
              </a:pPr>
              <a:endParaRPr sz="900" dirty="0">
                <a:latin typeface="Arial"/>
                <a:ea typeface="Arial"/>
                <a:cs typeface="Arial"/>
              </a:endParaRPr>
            </a:p>
            <a:p>
              <a:pPr marL="355600" algn="l" rtl="0" eaLnBrk="0">
                <a:lnSpc>
                  <a:spcPct val="96000"/>
                </a:lnSpc>
                <a:spcBef>
                  <a:spcPts val="5"/>
                </a:spcBef>
                <a:tabLst/>
              </a:pPr>
              <a:r>
                <a:rPr sz="1100" kern="0" spc="-6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核心问题</a:t>
              </a:r>
              <a:endParaRPr sz="11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52" name="picture 35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126981" y="95246"/>
            <a:ext cx="533408" cy="514358"/>
          </a:xfrm>
          <a:prstGeom prst="rect">
            <a:avLst/>
          </a:prstGeom>
        </p:spPr>
      </p:pic>
      <p:pic>
        <p:nvPicPr>
          <p:cNvPr id="354" name="picture 354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8051766" y="4159261"/>
            <a:ext cx="476287" cy="463567"/>
          </a:xfrm>
          <a:prstGeom prst="rect">
            <a:avLst/>
          </a:prstGeom>
        </p:spPr>
      </p:pic>
      <p:pic>
        <p:nvPicPr>
          <p:cNvPr id="356" name="picture 356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9823457" y="190494"/>
            <a:ext cx="603269" cy="304802"/>
          </a:xfrm>
          <a:prstGeom prst="rect">
            <a:avLst/>
          </a:prstGeom>
        </p:spPr>
      </p:pic>
      <p:sp>
        <p:nvSpPr>
          <p:cNvPr id="358" name="textbox 358"/>
          <p:cNvSpPr/>
          <p:nvPr/>
        </p:nvSpPr>
        <p:spPr>
          <a:xfrm>
            <a:off x="8655075" y="4297097"/>
            <a:ext cx="1038225" cy="201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7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200" b="1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结构清晰</a:t>
            </a:r>
            <a:endParaRPr sz="1200" dirty="0">
              <a:latin typeface="SimHei"/>
              <a:ea typeface="SimHei"/>
              <a:cs typeface="SimHe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picture 3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graphicFrame>
        <p:nvGraphicFramePr>
          <p:cNvPr id="362" name="table 362"/>
          <p:cNvGraphicFramePr>
            <a:graphicFrameLocks noGrp="1"/>
          </p:cNvGraphicFramePr>
          <p:nvPr/>
        </p:nvGraphicFramePr>
        <p:xfrm>
          <a:off x="4981600" y="2282814"/>
          <a:ext cx="5003165" cy="2044699"/>
        </p:xfrm>
        <a:graphic>
          <a:graphicData uri="http://schemas.openxmlformats.org/drawingml/2006/table">
            <a:tbl>
              <a:tblPr/>
              <a:tblGrid>
                <a:gridCol w="1558925"/>
                <a:gridCol w="1092200"/>
                <a:gridCol w="2352039"/>
              </a:tblGrid>
              <a:tr h="3143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5129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评价维度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0830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权重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6000"/>
                        </a:lnSpc>
                        <a:tabLst/>
                      </a:pPr>
                      <a:endParaRPr sz="5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897255" algn="l" rtl="0" eaLnBrk="0">
                        <a:lnSpc>
                          <a:spcPct val="94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评价要点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389890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诊断质量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  <a:tabLst/>
                      </a:pPr>
                      <a:endParaRPr sz="8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ts val="1371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8005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分析准确、问题聚焦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53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提示词设计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ts val="1371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800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结构清晰、目标明确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53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MVP清晰度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ts val="1371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268604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核心功能聚焦、验证目标清楚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539" algn="l" rtl="0" eaLnBrk="0">
                        <a:lnSpc>
                          <a:spcPct val="95000"/>
                        </a:lnSpc>
                        <a:spcBef>
                          <a:spcPts val="2"/>
                        </a:spcBef>
                        <a:tabLst/>
                      </a:pPr>
                      <a:r>
                        <a:rPr sz="11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原型与Demo表达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ts val="1371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25%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4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800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  <a:tabLst/>
                      </a:pPr>
                      <a:r>
                        <a:rPr sz="11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流程合理、展示清楚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9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1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129539" algn="l" rtl="0" eaLnBrk="0">
                        <a:lnSpc>
                          <a:spcPct val="95000"/>
                        </a:lnSpc>
                        <a:spcBef>
                          <a:spcPts val="1"/>
                        </a:spcBef>
                        <a:tabLst/>
                      </a:pPr>
                      <a:r>
                        <a:rPr sz="11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规范与协作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7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438150" algn="l" rtl="0" eaLnBrk="0">
                        <a:lnSpc>
                          <a:spcPts val="1371"/>
                        </a:lnSpc>
                        <a:spcBef>
                          <a:spcPts val="7"/>
                        </a:spcBef>
                        <a:tabLst/>
                      </a:pPr>
                      <a:r>
                        <a:rPr sz="1100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10%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  <a:tabLst/>
                      </a:pPr>
                      <a:endParaRPr sz="600" dirty="0">
                        <a:latin typeface="Arial"/>
                        <a:ea typeface="Arial"/>
                        <a:cs typeface="Arial"/>
                      </a:endParaRPr>
                    </a:p>
                    <a:p>
                      <a:pPr marL="548005" algn="l" rtl="0" eaLnBrk="0">
                        <a:lnSpc>
                          <a:spcPct val="95000"/>
                        </a:lnSpc>
                        <a:spcBef>
                          <a:spcPts val="6"/>
                        </a:spcBef>
                        <a:tabLst/>
                      </a:pPr>
                      <a:r>
                        <a:rPr sz="1100" b="1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/>
                          <a:ea typeface="SimSun"/>
                          <a:cs typeface="SimSun"/>
                        </a:rPr>
                        <a:t>提交完整、分工明确</a:t>
                      </a:r>
                      <a:endParaRPr sz="1100" dirty="0">
                        <a:latin typeface="SimSun"/>
                        <a:ea typeface="SimSun"/>
                        <a:cs typeface="SimSun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28" name="group 28"/>
          <p:cNvGrpSpPr/>
          <p:nvPr/>
        </p:nvGrpSpPr>
        <p:grpSpPr>
          <a:xfrm rot="21600000">
            <a:off x="6370" y="5060942"/>
            <a:ext cx="10566344" cy="901680"/>
            <a:chOff x="0" y="0"/>
            <a:chExt cx="10566344" cy="901680"/>
          </a:xfrm>
        </p:grpSpPr>
        <p:pic>
          <p:nvPicPr>
            <p:cNvPr id="364" name="picture 36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0566344" cy="901680"/>
            </a:xfrm>
            <a:prstGeom prst="rect">
              <a:avLst/>
            </a:prstGeom>
          </p:spPr>
        </p:pic>
        <p:sp>
          <p:nvSpPr>
            <p:cNvPr id="366" name="textbox 366"/>
            <p:cNvSpPr/>
            <p:nvPr/>
          </p:nvSpPr>
          <p:spPr>
            <a:xfrm>
              <a:off x="-12700" y="-12700"/>
              <a:ext cx="10591800" cy="9505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algn="l" rtl="0" eaLnBrk="0">
                <a:lnSpc>
                  <a:spcPct val="144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1139825" algn="l" rtl="0" eaLnBrk="0">
                <a:lnSpc>
                  <a:spcPct val="94000"/>
                </a:lnSpc>
                <a:spcBef>
                  <a:spcPts val="2"/>
                </a:spcBef>
                <a:tabLst/>
              </a:pPr>
              <a:r>
                <a:rPr sz="2100" b="1" kern="0" spc="-7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从诊断到原型，离可展示又近一步。</a:t>
              </a:r>
              <a:endParaRPr sz="21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368" name="picture 36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279899" y="4546584"/>
            <a:ext cx="5308599" cy="508024"/>
          </a:xfrm>
          <a:prstGeom prst="rect">
            <a:avLst/>
          </a:prstGeom>
        </p:spPr>
      </p:pic>
      <p:sp>
        <p:nvSpPr>
          <p:cNvPr id="370" name="textbox 370"/>
          <p:cNvSpPr/>
          <p:nvPr/>
        </p:nvSpPr>
        <p:spPr>
          <a:xfrm>
            <a:off x="3721050" y="4413241"/>
            <a:ext cx="5803900" cy="720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66750" algn="l" rtl="0" eaLnBrk="0">
              <a:lnSpc>
                <a:spcPct val="96000"/>
              </a:lnSpc>
              <a:spcBef>
                <a:spcPts val="1"/>
              </a:spcBef>
              <a:tabLst>
                <a:tab pos="892175" algn="l"/>
              </a:tabLst>
            </a:pPr>
            <a:r>
              <a:rPr sz="19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9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下一次实践课将进入</a:t>
            </a:r>
            <a:r>
              <a:rPr sz="1900" kern="0" spc="-2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900" b="1" kern="0" spc="20" dirty="0">
                <a:solidFill>
                  <a:srgbClr val="F0E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</a:t>
            </a:r>
            <a:r>
              <a:rPr sz="1900" b="1" kern="0" spc="0" dirty="0">
                <a:solidFill>
                  <a:srgbClr val="F0E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900" b="1" kern="0" spc="-100" dirty="0">
                <a:solidFill>
                  <a:srgbClr val="F0E01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20" dirty="0">
                <a:solidFill>
                  <a:srgbClr val="F0E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</a:t>
            </a:r>
            <a:r>
              <a:rPr sz="1900" b="1" kern="0" spc="10" dirty="0">
                <a:solidFill>
                  <a:srgbClr val="F0E01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答辩演练。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pic>
        <p:nvPicPr>
          <p:cNvPr id="372" name="picture 37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733750" y="4425941"/>
            <a:ext cx="654125" cy="666729"/>
          </a:xfrm>
          <a:prstGeom prst="rect">
            <a:avLst/>
          </a:prstGeom>
        </p:spPr>
      </p:pic>
      <p:pic>
        <p:nvPicPr>
          <p:cNvPr id="374" name="picture 37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77950" y="2082827"/>
            <a:ext cx="1409645" cy="368260"/>
          </a:xfrm>
          <a:prstGeom prst="rect">
            <a:avLst/>
          </a:prstGeom>
        </p:spPr>
      </p:pic>
      <p:sp>
        <p:nvSpPr>
          <p:cNvPr id="376" name="textbox 376"/>
          <p:cNvSpPr/>
          <p:nvPr/>
        </p:nvSpPr>
        <p:spPr>
          <a:xfrm>
            <a:off x="431842" y="1949425"/>
            <a:ext cx="1721485" cy="1933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551815" algn="l" rtl="0" eaLnBrk="0">
              <a:lnSpc>
                <a:spcPct val="96000"/>
              </a:lnSpc>
              <a:spcBef>
                <a:spcPts val="1"/>
              </a:spcBef>
              <a:tabLst>
                <a:tab pos="681990" algn="l"/>
              </a:tabLst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必交成果</a:t>
            </a:r>
            <a:endParaRPr sz="1500" dirty="0">
              <a:latin typeface="SimHei"/>
              <a:ea typeface="SimHei"/>
              <a:cs typeface="SimHei"/>
            </a:endParaRPr>
          </a:p>
          <a:p>
            <a:pPr marL="444500" algn="l" rtl="0" eaLnBrk="0">
              <a:lnSpc>
                <a:spcPct val="95000"/>
              </a:lnSpc>
              <a:spcBef>
                <a:spcPts val="1228"/>
              </a:spcBef>
              <a:tabLst/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200" kern="0" spc="-1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诊断记录表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444500" algn="l" rtl="0" eaLnBrk="0">
              <a:lnSpc>
                <a:spcPct val="85000"/>
              </a:lnSpc>
              <a:spcBef>
                <a:spcPts val="674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提示词设计记录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94614" algn="l" rtl="0" eaLnBrk="0">
              <a:lnSpc>
                <a:spcPts val="2526"/>
              </a:lnSpc>
              <a:tabLst/>
            </a:pPr>
            <a:r>
              <a:rPr sz="2100" kern="0" spc="-10" baseline="-20630" dirty="0">
                <a:solidFill>
                  <a:srgbClr val="90C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③</a:t>
            </a:r>
            <a:r>
              <a:rPr sz="1300" kern="0" spc="60" dirty="0">
                <a:solidFill>
                  <a:srgbClr val="90C0F0">
                    <a:alpha val="100000"/>
                  </a:srgbClr>
                </a:solidFill>
                <a:latin typeface="SimSun"/>
                <a:ea typeface="SimSun"/>
                <a:cs typeface="SimSun"/>
              </a:rPr>
              <a:t>  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说明表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r" rtl="0" eaLnBrk="0">
              <a:lnSpc>
                <a:spcPct val="95000"/>
              </a:lnSpc>
              <a:spcBef>
                <a:spcPts val="757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原型草图/界面方案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4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444500" algn="l" rtl="0" eaLnBrk="0">
              <a:lnSpc>
                <a:spcPct val="96000"/>
              </a:lnSpc>
              <a:spcBef>
                <a:spcPts val="7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展示提纲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378" name="picture 37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44542" y="1962125"/>
            <a:ext cx="539672" cy="533419"/>
          </a:xfrm>
          <a:prstGeom prst="rect">
            <a:avLst/>
          </a:prstGeom>
        </p:spPr>
      </p:pic>
      <p:pic>
        <p:nvPicPr>
          <p:cNvPr id="380" name="picture 3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149592" y="2082827"/>
            <a:ext cx="1352525" cy="368260"/>
          </a:xfrm>
          <a:prstGeom prst="rect">
            <a:avLst/>
          </a:prstGeom>
        </p:spPr>
      </p:pic>
      <p:sp>
        <p:nvSpPr>
          <p:cNvPr id="382" name="textbox 382"/>
          <p:cNvSpPr/>
          <p:nvPr/>
        </p:nvSpPr>
        <p:spPr>
          <a:xfrm>
            <a:off x="2584479" y="1930424"/>
            <a:ext cx="1842770" cy="1760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602615" algn="l" rtl="0" eaLnBrk="0">
              <a:lnSpc>
                <a:spcPct val="96000"/>
              </a:lnSpc>
              <a:spcBef>
                <a:spcPts val="7"/>
              </a:spcBef>
              <a:tabLst>
                <a:tab pos="720090" algn="l"/>
              </a:tabLst>
            </a:pPr>
            <a:r>
              <a:rPr sz="15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5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提交形式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88264" algn="l" rtl="0" eaLnBrk="0">
              <a:lnSpc>
                <a:spcPct val="95000"/>
              </a:lnSpc>
              <a:spcBef>
                <a:spcPts val="368"/>
              </a:spcBef>
              <a:tabLst/>
            </a:pP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电子版文档或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200" kern="0" spc="-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截图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88264" algn="l" rtl="0" eaLnBrk="0">
              <a:lnSpc>
                <a:spcPct val="95000"/>
              </a:lnSpc>
              <a:spcBef>
                <a:spcPts val="1542"/>
              </a:spcBef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1200" kern="0" spc="-4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小组统一命名打包提交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2000"/>
              </a:lnSpc>
              <a:tabLst/>
            </a:pPr>
            <a:endParaRPr sz="12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2000"/>
              </a:lnSpc>
              <a:spcBef>
                <a:spcPts val="4"/>
              </a:spcBef>
              <a:tabLst/>
            </a:pP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·材料整洁，分工信息完整</a:t>
            </a:r>
            <a:endParaRPr sz="1200" dirty="0">
              <a:latin typeface="SimHei"/>
              <a:ea typeface="SimHei"/>
              <a:cs typeface="SimHei"/>
            </a:endParaRPr>
          </a:p>
        </p:txBody>
      </p:sp>
      <p:pic>
        <p:nvPicPr>
          <p:cNvPr id="384" name="picture 38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2597179" y="1943124"/>
            <a:ext cx="590528" cy="565148"/>
          </a:xfrm>
          <a:prstGeom prst="rect">
            <a:avLst/>
          </a:prstGeom>
        </p:spPr>
      </p:pic>
      <p:sp>
        <p:nvSpPr>
          <p:cNvPr id="386" name="textbox 386"/>
          <p:cNvSpPr/>
          <p:nvPr/>
        </p:nvSpPr>
        <p:spPr>
          <a:xfrm>
            <a:off x="362602" y="925487"/>
            <a:ext cx="5620384" cy="5867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7000"/>
              </a:lnSpc>
              <a:tabLst/>
            </a:pPr>
            <a:r>
              <a:rPr sz="3800" b="1" kern="0" spc="19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成果提交要求与评价</a:t>
            </a:r>
            <a:r>
              <a:rPr sz="3800" b="1" kern="0" spc="18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标准</a:t>
            </a:r>
            <a:endParaRPr sz="3800" dirty="0">
              <a:latin typeface="SimHei"/>
              <a:ea typeface="SimHei"/>
              <a:cs typeface="SimHei"/>
            </a:endParaRPr>
          </a:p>
        </p:txBody>
      </p:sp>
      <p:pic>
        <p:nvPicPr>
          <p:cNvPr id="388" name="picture 38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5588044" y="1765298"/>
            <a:ext cx="4508488" cy="368320"/>
          </a:xfrm>
          <a:prstGeom prst="rect">
            <a:avLst/>
          </a:prstGeom>
        </p:spPr>
      </p:pic>
      <p:sp>
        <p:nvSpPr>
          <p:cNvPr id="390" name="textbox 390"/>
          <p:cNvSpPr/>
          <p:nvPr/>
        </p:nvSpPr>
        <p:spPr>
          <a:xfrm>
            <a:off x="4832353" y="1631955"/>
            <a:ext cx="3881120" cy="6045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69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41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81050" algn="l" rtl="0" eaLnBrk="0">
              <a:lnSpc>
                <a:spcPct val="95000"/>
              </a:lnSpc>
              <a:tabLst>
                <a:tab pos="1342389" algn="l"/>
              </a:tabLst>
            </a:pPr>
            <a:r>
              <a:rPr sz="16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600" b="1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课堂评价标准(总分100分)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pic>
        <p:nvPicPr>
          <p:cNvPr id="392" name="picture 392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845053" y="1644655"/>
            <a:ext cx="768366" cy="552420"/>
          </a:xfrm>
          <a:prstGeom prst="rect">
            <a:avLst/>
          </a:prstGeom>
        </p:spPr>
      </p:pic>
      <p:sp>
        <p:nvSpPr>
          <p:cNvPr id="394" name="textbox 394"/>
          <p:cNvSpPr/>
          <p:nvPr/>
        </p:nvSpPr>
        <p:spPr>
          <a:xfrm>
            <a:off x="809531" y="271886"/>
            <a:ext cx="635507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8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20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8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|第6次：</a:t>
            </a:r>
            <a:r>
              <a:rPr sz="1700" b="1" kern="0" spc="0" dirty="0">
                <a:solidFill>
                  <a:srgbClr val="10207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1700" b="1" kern="0" spc="8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</a:t>
            </a:r>
            <a:r>
              <a:rPr sz="1700" b="1" kern="0" spc="7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目诊断与原型设计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396" name="textbox 396"/>
          <p:cNvSpPr/>
          <p:nvPr/>
        </p:nvSpPr>
        <p:spPr>
          <a:xfrm>
            <a:off x="1149352" y="4417215"/>
            <a:ext cx="1707514" cy="5378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92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tabLst/>
            </a:pPr>
            <a:r>
              <a:rPr sz="900" kern="0" spc="6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29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根据反馈优化提示词与原型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085"/>
              </a:lnSpc>
              <a:spcBef>
                <a:spcPts val="422"/>
              </a:spcBef>
              <a:tabLst/>
            </a:pPr>
            <a:r>
              <a:rPr sz="900" kern="0" spc="3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340" dirty="0">
                <a:solidFill>
                  <a:srgbClr val="10207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补充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900" kern="0" spc="2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讲解细节</a:t>
            </a:r>
            <a:endParaRPr sz="9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0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100000"/>
              </a:lnSpc>
              <a:spcBef>
                <a:spcPts val="3"/>
              </a:spcBef>
              <a:tabLst/>
            </a:pPr>
            <a:r>
              <a:rPr sz="900" kern="0" spc="5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·</a:t>
            </a:r>
            <a:r>
              <a:rPr sz="900" kern="0" spc="31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5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为下一次路演表达做好准备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398" name="textbox 398"/>
          <p:cNvSpPr/>
          <p:nvPr/>
        </p:nvSpPr>
        <p:spPr>
          <a:xfrm>
            <a:off x="364616" y="1532073"/>
            <a:ext cx="4074159" cy="235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76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2000"/>
              </a:lnSpc>
              <a:tabLst/>
            </a:pPr>
            <a:r>
              <a:rPr sz="1500" b="1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通过规范提交与课堂评价，推动项目原型形成初版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pic>
        <p:nvPicPr>
          <p:cNvPr id="400" name="picture 40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38171" y="4152928"/>
            <a:ext cx="584158" cy="590543"/>
          </a:xfrm>
          <a:prstGeom prst="rect">
            <a:avLst/>
          </a:prstGeom>
        </p:spPr>
      </p:pic>
      <p:pic>
        <p:nvPicPr>
          <p:cNvPr id="402" name="picture 40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39722" y="114308"/>
            <a:ext cx="552412" cy="501630"/>
          </a:xfrm>
          <a:prstGeom prst="rect">
            <a:avLst/>
          </a:prstGeom>
        </p:spPr>
      </p:pic>
      <p:sp>
        <p:nvSpPr>
          <p:cNvPr id="404" name="textbox 404"/>
          <p:cNvSpPr/>
          <p:nvPr/>
        </p:nvSpPr>
        <p:spPr>
          <a:xfrm>
            <a:off x="1151894" y="4130851"/>
            <a:ext cx="1119505" cy="2292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400" b="1" kern="0" spc="20" dirty="0">
                <a:solidFill>
                  <a:srgbClr val="10209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课后延伸任务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406" name="picture 40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9836198" y="196827"/>
            <a:ext cx="609533" cy="3048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40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410" name="textbox 410"/>
          <p:cNvSpPr/>
          <p:nvPr/>
        </p:nvSpPr>
        <p:spPr>
          <a:xfrm>
            <a:off x="444828" y="860013"/>
            <a:ext cx="8865234" cy="8001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72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7000"/>
              </a:lnSpc>
              <a:tabLst/>
            </a:pPr>
            <a:r>
              <a:rPr sz="3800" b="1" kern="0" spc="-14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课堂案例：校园二手平台</a:t>
            </a:r>
            <a:r>
              <a:rPr sz="3800" b="1" kern="0" spc="-15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3800" b="1" kern="0" spc="-15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诊断到原型方案</a:t>
            </a:r>
            <a:endParaRPr sz="3800" dirty="0">
              <a:latin typeface="SimHei"/>
              <a:ea typeface="SimHei"/>
              <a:cs typeface="SimHei"/>
            </a:endParaRPr>
          </a:p>
          <a:p>
            <a:pPr marL="27305" algn="l" rtl="0" eaLnBrk="0">
              <a:lnSpc>
                <a:spcPct val="92000"/>
              </a:lnSpc>
              <a:spcBef>
                <a:spcPts val="36"/>
              </a:spcBef>
              <a:tabLst/>
            </a:pPr>
            <a:r>
              <a:rPr sz="1500" b="1" kern="0" spc="-2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从问题识别、提示词设计到</a:t>
            </a:r>
            <a:r>
              <a:rPr sz="1500" b="1" kern="0" spc="-20" dirty="0">
                <a:solidFill>
                  <a:srgbClr val="102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500" b="1" kern="0" spc="-140" dirty="0">
                <a:solidFill>
                  <a:srgbClr val="10204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500" b="1" kern="0" spc="-2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与界面草图，展示完整</a:t>
            </a:r>
            <a:r>
              <a:rPr sz="1500" b="1" kern="0" spc="-30" dirty="0">
                <a:solidFill>
                  <a:srgbClr val="10204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的实操链路</a:t>
            </a:r>
            <a:endParaRPr sz="1500" dirty="0">
              <a:latin typeface="SimHei"/>
              <a:ea typeface="SimHei"/>
              <a:cs typeface="SimHei"/>
            </a:endParaRPr>
          </a:p>
        </p:txBody>
      </p:sp>
      <p:grpSp>
        <p:nvGrpSpPr>
          <p:cNvPr id="30" name="group 30"/>
          <p:cNvGrpSpPr/>
          <p:nvPr/>
        </p:nvGrpSpPr>
        <p:grpSpPr>
          <a:xfrm rot="21600000">
            <a:off x="7156418" y="1695445"/>
            <a:ext cx="3003605" cy="1670050"/>
            <a:chOff x="0" y="0"/>
            <a:chExt cx="3003605" cy="1670050"/>
          </a:xfrm>
        </p:grpSpPr>
        <p:pic>
          <p:nvPicPr>
            <p:cNvPr id="412" name="picture 4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3003605" cy="1670050"/>
            </a:xfrm>
            <a:prstGeom prst="rect">
              <a:avLst/>
            </a:prstGeom>
          </p:spPr>
        </p:pic>
        <p:sp>
          <p:nvSpPr>
            <p:cNvPr id="414" name="textbox 414"/>
            <p:cNvSpPr/>
            <p:nvPr/>
          </p:nvSpPr>
          <p:spPr>
            <a:xfrm>
              <a:off x="-12700" y="-12700"/>
              <a:ext cx="3029585" cy="171894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83590" algn="l" rtl="0" eaLnBrk="0">
                <a:lnSpc>
                  <a:spcPct val="95000"/>
                </a:lnSpc>
                <a:spcBef>
                  <a:spcPts val="2"/>
                </a:spcBef>
                <a:tabLst/>
              </a:pPr>
              <a:r>
                <a:rPr sz="14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形成的原型方案</a:t>
              </a:r>
              <a:endParaRPr sz="14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416" name="textbox 416"/>
          <p:cNvSpPr/>
          <p:nvPr/>
        </p:nvSpPr>
        <p:spPr>
          <a:xfrm>
            <a:off x="933398" y="2328814"/>
            <a:ext cx="1956435" cy="1791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35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0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项目：校园二手交易平台</a:t>
            </a:r>
            <a:endParaRPr sz="10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4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spcBef>
                <a:spcPts val="330"/>
              </a:spcBef>
              <a:tabLst/>
            </a:pP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目标用户：在校学生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685800" indent="-673100" algn="l" rtl="0" eaLnBrk="0">
              <a:lnSpc>
                <a:spcPct val="126000"/>
              </a:lnSpc>
              <a:spcBef>
                <a:spcPts val="1506"/>
              </a:spcBef>
              <a:tabLst/>
            </a:pP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典型场景：闲置发布、搜索浏览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即时沟通、线下交易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01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241300" indent="-228600" algn="l" rtl="0" eaLnBrk="0">
              <a:lnSpc>
                <a:spcPct val="127000"/>
              </a:lnSpc>
              <a:spcBef>
                <a:spcPts val="3"/>
              </a:spcBef>
              <a:tabLst/>
            </a:pPr>
            <a:r>
              <a:rPr sz="1100" kern="0" spc="-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主要痛点：信息分散、信任不足</a:t>
            </a:r>
            <a:r>
              <a:rPr sz="11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、</a:t>
            </a:r>
            <a:r>
              <a:rPr sz="11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交易效率低、发布流程</a:t>
            </a:r>
            <a:r>
              <a:rPr sz="11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繁琐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418" name="picture 4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3282944" y="2349507"/>
            <a:ext cx="3562388" cy="476235"/>
          </a:xfrm>
          <a:prstGeom prst="rect">
            <a:avLst/>
          </a:prstGeom>
        </p:spPr>
      </p:pic>
      <p:grpSp>
        <p:nvGrpSpPr>
          <p:cNvPr id="32" name="group 32"/>
          <p:cNvGrpSpPr/>
          <p:nvPr/>
        </p:nvGrpSpPr>
        <p:grpSpPr>
          <a:xfrm rot="21600000">
            <a:off x="3162332" y="1758963"/>
            <a:ext cx="3790870" cy="438112"/>
            <a:chOff x="0" y="0"/>
            <a:chExt cx="3790870" cy="438112"/>
          </a:xfrm>
        </p:grpSpPr>
        <p:pic>
          <p:nvPicPr>
            <p:cNvPr id="420" name="picture 4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3790870" cy="438112"/>
            </a:xfrm>
            <a:prstGeom prst="rect">
              <a:avLst/>
            </a:prstGeom>
          </p:spPr>
        </p:pic>
        <p:sp>
          <p:nvSpPr>
            <p:cNvPr id="422" name="textbox 422"/>
            <p:cNvSpPr/>
            <p:nvPr/>
          </p:nvSpPr>
          <p:spPr>
            <a:xfrm>
              <a:off x="-12700" y="-12700"/>
              <a:ext cx="3816350" cy="4851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23000"/>
                </a:lnSpc>
                <a:tabLst/>
              </a:pPr>
              <a:endParaRPr sz="1000" dirty="0">
                <a:latin typeface="Arial"/>
                <a:ea typeface="Arial"/>
                <a:cs typeface="Arial"/>
              </a:endParaRPr>
            </a:p>
            <a:p>
              <a:pPr marL="716915" algn="l" rtl="0" eaLnBrk="0">
                <a:lnSpc>
                  <a:spcPct val="95000"/>
                </a:lnSpc>
                <a:spcBef>
                  <a:spcPts val="6"/>
                </a:spcBef>
                <a:tabLst/>
              </a:pPr>
              <a:r>
                <a:rPr sz="1300" b="1" kern="0" spc="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</a:t>
              </a:r>
              <a:r>
                <a:rPr sz="1300" b="1" kern="0" spc="-13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300" b="1" kern="0" spc="6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辅助分析流程</a:t>
              </a:r>
              <a:endParaRPr sz="1300" dirty="0">
                <a:latin typeface="SimHei"/>
                <a:ea typeface="SimHei"/>
                <a:cs typeface="SimHei"/>
              </a:endParaRPr>
            </a:p>
          </p:txBody>
        </p:sp>
      </p:grpSp>
      <p:sp>
        <p:nvSpPr>
          <p:cNvPr id="424" name="textbox 424"/>
          <p:cNvSpPr/>
          <p:nvPr/>
        </p:nvSpPr>
        <p:spPr>
          <a:xfrm>
            <a:off x="809531" y="265553"/>
            <a:ext cx="63487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20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|第6</a:t>
            </a:r>
            <a:r>
              <a:rPr sz="17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次：</a:t>
            </a:r>
            <a:r>
              <a:rPr sz="1700" b="1" kern="0" spc="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赋能项目诊断与原型设计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sp>
        <p:nvSpPr>
          <p:cNvPr id="426" name="textbox 426"/>
          <p:cNvSpPr/>
          <p:nvPr/>
        </p:nvSpPr>
        <p:spPr>
          <a:xfrm>
            <a:off x="1076662" y="5467697"/>
            <a:ext cx="4993640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63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900" b="1" kern="0" spc="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把链路跑通，原型与</a:t>
            </a:r>
            <a:r>
              <a:rPr sz="1900" b="1" kern="0" spc="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900" b="1" kern="0" spc="460" dirty="0">
                <a:solidFill>
                  <a:srgbClr val="FFFFFF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900" b="1" kern="0" spc="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才更有</a:t>
            </a:r>
            <a:r>
              <a:rPr sz="1900" b="1" kern="0" spc="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说服力。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428" name="textbox 428"/>
          <p:cNvSpPr/>
          <p:nvPr/>
        </p:nvSpPr>
        <p:spPr>
          <a:xfrm>
            <a:off x="3594068" y="3575079"/>
            <a:ext cx="2661285" cy="507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215900" algn="l" rtl="0" eaLnBrk="0">
              <a:lnSpc>
                <a:spcPct val="96000"/>
              </a:lnSpc>
              <a:tabLst>
                <a:tab pos="304165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核心用户明确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保留功能建议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15900" algn="l" rtl="0" eaLnBrk="0">
              <a:lnSpc>
                <a:spcPct val="96000"/>
              </a:lnSpc>
              <a:spcBef>
                <a:spcPts val="5"/>
              </a:spcBef>
              <a:tabLst>
                <a:tab pos="298450" algn="l"/>
              </a:tabLst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关键场景聚焦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  </a:t>
            </a: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风险与改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进点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430" name="picture 43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3606768" y="3860793"/>
            <a:ext cx="203213" cy="190493"/>
          </a:xfrm>
          <a:prstGeom prst="rect">
            <a:avLst/>
          </a:prstGeom>
        </p:spPr>
      </p:pic>
      <p:pic>
        <p:nvPicPr>
          <p:cNvPr id="432" name="picture 4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613138" y="3587779"/>
            <a:ext cx="196843" cy="190494"/>
          </a:xfrm>
          <a:prstGeom prst="rect">
            <a:avLst/>
          </a:prstGeom>
        </p:spPr>
      </p:pic>
      <p:pic>
        <p:nvPicPr>
          <p:cNvPr id="434" name="picture 43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635014" y="1816088"/>
            <a:ext cx="2362221" cy="317530"/>
          </a:xfrm>
          <a:prstGeom prst="rect">
            <a:avLst/>
          </a:prstGeom>
        </p:spPr>
      </p:pic>
      <p:sp>
        <p:nvSpPr>
          <p:cNvPr id="436" name="textbox 436"/>
          <p:cNvSpPr/>
          <p:nvPr/>
        </p:nvSpPr>
        <p:spPr>
          <a:xfrm>
            <a:off x="380985" y="1752598"/>
            <a:ext cx="1898650" cy="442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475615" algn="l" rtl="0" eaLnBrk="0">
              <a:lnSpc>
                <a:spcPct val="95000"/>
              </a:lnSpc>
              <a:tabLst>
                <a:tab pos="650240" algn="l"/>
              </a:tabLst>
            </a:pPr>
            <a:r>
              <a:rPr sz="1400" kern="0" spc="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400" b="1" kern="0" spc="-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案例背景与痛点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438" name="picture 43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393685" y="1765298"/>
            <a:ext cx="463546" cy="393715"/>
          </a:xfrm>
          <a:prstGeom prst="rect">
            <a:avLst/>
          </a:prstGeom>
        </p:spPr>
      </p:pic>
      <p:sp>
        <p:nvSpPr>
          <p:cNvPr id="440" name="textbox 440"/>
          <p:cNvSpPr/>
          <p:nvPr/>
        </p:nvSpPr>
        <p:spPr>
          <a:xfrm>
            <a:off x="3282984" y="2881561"/>
            <a:ext cx="3586479" cy="2012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13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6000"/>
              </a:lnSpc>
              <a:tabLst/>
            </a:pP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问题描述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900" kern="0" spc="-10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提示词优化</a:t>
            </a:r>
            <a:r>
              <a:rPr sz="9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聚焦</a:t>
            </a:r>
            <a:r>
              <a:rPr sz="12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</a:t>
            </a:r>
            <a:r>
              <a:rPr sz="11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原型构思</a:t>
            </a:r>
            <a:endParaRPr sz="1100" dirty="0">
              <a:latin typeface="SimHei"/>
              <a:ea typeface="SimHei"/>
              <a:cs typeface="SimHei"/>
            </a:endParaRPr>
          </a:p>
        </p:txBody>
      </p:sp>
      <p:pic>
        <p:nvPicPr>
          <p:cNvPr id="442" name="picture 4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68310" y="4394212"/>
            <a:ext cx="692135" cy="660395"/>
          </a:xfrm>
          <a:prstGeom prst="rect">
            <a:avLst/>
          </a:prstGeom>
        </p:spPr>
      </p:pic>
      <p:sp>
        <p:nvSpPr>
          <p:cNvPr id="444" name="textbox 444"/>
          <p:cNvSpPr/>
          <p:nvPr/>
        </p:nvSpPr>
        <p:spPr>
          <a:xfrm>
            <a:off x="6838898" y="4591068"/>
            <a:ext cx="1447164" cy="3155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92100" algn="l" rtl="0" eaLnBrk="0">
              <a:lnSpc>
                <a:spcPts val="1247"/>
              </a:lnSpc>
              <a:tabLst>
                <a:tab pos="38100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原型草图/界面方案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pic>
        <p:nvPicPr>
          <p:cNvPr id="446" name="picture 4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6851598" y="4603768"/>
            <a:ext cx="279444" cy="273013"/>
          </a:xfrm>
          <a:prstGeom prst="rect">
            <a:avLst/>
          </a:prstGeom>
        </p:spPr>
      </p:pic>
      <p:sp>
        <p:nvSpPr>
          <p:cNvPr id="448" name="textbox 448"/>
          <p:cNvSpPr/>
          <p:nvPr/>
        </p:nvSpPr>
        <p:spPr>
          <a:xfrm>
            <a:off x="8661446" y="4591067"/>
            <a:ext cx="1227455" cy="3346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304165" algn="l" rtl="0" eaLnBrk="0">
              <a:lnSpc>
                <a:spcPts val="1251"/>
              </a:lnSpc>
              <a:spcBef>
                <a:spcPts val="1"/>
              </a:spcBef>
              <a:tabLst>
                <a:tab pos="374015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展示提纲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pic>
        <p:nvPicPr>
          <p:cNvPr id="450" name="picture 45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8674146" y="4603767"/>
            <a:ext cx="292079" cy="292075"/>
          </a:xfrm>
          <a:prstGeom prst="rect">
            <a:avLst/>
          </a:prstGeom>
        </p:spPr>
      </p:pic>
      <p:sp>
        <p:nvSpPr>
          <p:cNvPr id="452" name="textbox 452"/>
          <p:cNvSpPr/>
          <p:nvPr/>
        </p:nvSpPr>
        <p:spPr>
          <a:xfrm>
            <a:off x="4076726" y="4597401"/>
            <a:ext cx="1219200" cy="3079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  <a:tabLst/>
            </a:pPr>
            <a:endParaRPr sz="6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ts val="1085"/>
              </a:lnSpc>
              <a:spcBef>
                <a:spcPts val="1"/>
              </a:spcBef>
              <a:tabLst>
                <a:tab pos="349250" algn="l"/>
              </a:tabLst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提示词设计记录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pic>
        <p:nvPicPr>
          <p:cNvPr id="454" name="picture 45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4089426" y="4610101"/>
            <a:ext cx="253963" cy="266679"/>
          </a:xfrm>
          <a:prstGeom prst="rect">
            <a:avLst/>
          </a:prstGeom>
        </p:spPr>
      </p:pic>
      <p:sp>
        <p:nvSpPr>
          <p:cNvPr id="456" name="textbox 456"/>
          <p:cNvSpPr/>
          <p:nvPr/>
        </p:nvSpPr>
        <p:spPr>
          <a:xfrm>
            <a:off x="5530858" y="4591068"/>
            <a:ext cx="1008380" cy="321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266065" algn="l" rtl="0" eaLnBrk="0">
              <a:lnSpc>
                <a:spcPts val="1247"/>
              </a:lnSpc>
              <a:spcBef>
                <a:spcPts val="2"/>
              </a:spcBef>
              <a:tabLst>
                <a:tab pos="355600" algn="l"/>
              </a:tabLst>
            </a:pPr>
            <a:r>
              <a:rPr sz="10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	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0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说明表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pic>
        <p:nvPicPr>
          <p:cNvPr id="458" name="picture 45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5543558" y="4603768"/>
            <a:ext cx="253963" cy="279407"/>
          </a:xfrm>
          <a:prstGeom prst="rect">
            <a:avLst/>
          </a:prstGeom>
        </p:spPr>
      </p:pic>
      <p:pic>
        <p:nvPicPr>
          <p:cNvPr id="460" name="picture 46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158727" y="107974"/>
            <a:ext cx="533408" cy="507964"/>
          </a:xfrm>
          <a:prstGeom prst="rect">
            <a:avLst/>
          </a:prstGeom>
        </p:spPr>
      </p:pic>
      <p:sp>
        <p:nvSpPr>
          <p:cNvPr id="462" name="textbox 462"/>
          <p:cNvSpPr/>
          <p:nvPr/>
        </p:nvSpPr>
        <p:spPr>
          <a:xfrm>
            <a:off x="9067766" y="3826671"/>
            <a:ext cx="795655" cy="3771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核心流程演示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9050" algn="l" rtl="0" eaLnBrk="0">
              <a:lnSpc>
                <a:spcPts val="1803"/>
              </a:lnSpc>
              <a:tabLst/>
            </a:pP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价值总结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464" name="textbox 464"/>
          <p:cNvSpPr/>
          <p:nvPr/>
        </p:nvSpPr>
        <p:spPr>
          <a:xfrm>
            <a:off x="7404051" y="3388112"/>
            <a:ext cx="2446654" cy="149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0"/>
              </a:lnSpc>
              <a:tabLst/>
            </a:pP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首页/搜索</a:t>
            </a:r>
            <a:r>
              <a:rPr sz="8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商品详情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   </a:t>
            </a:r>
            <a:r>
              <a:rPr sz="8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发布页面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466" name="textbox 466"/>
          <p:cNvSpPr/>
          <p:nvPr/>
        </p:nvSpPr>
        <p:spPr>
          <a:xfrm>
            <a:off x="1152192" y="4615313"/>
            <a:ext cx="1207135" cy="260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37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tabLst/>
            </a:pPr>
            <a:r>
              <a:rPr sz="1600" b="1" kern="0" spc="-60" dirty="0">
                <a:solidFill>
                  <a:srgbClr val="103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案例成果清单</a:t>
            </a:r>
            <a:endParaRPr sz="1600" dirty="0">
              <a:latin typeface="SimHei"/>
              <a:ea typeface="SimHei"/>
              <a:cs typeface="SimHei"/>
            </a:endParaRPr>
          </a:p>
        </p:txBody>
      </p:sp>
      <p:sp>
        <p:nvSpPr>
          <p:cNvPr id="468" name="textbox 468"/>
          <p:cNvSpPr/>
          <p:nvPr/>
        </p:nvSpPr>
        <p:spPr>
          <a:xfrm>
            <a:off x="7658121" y="3826671"/>
            <a:ext cx="659765" cy="3765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95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89000"/>
              </a:lnSpc>
              <a:tabLst/>
            </a:pP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背景与问题</a:t>
            </a:r>
            <a:endParaRPr sz="9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ts val="1800"/>
              </a:lnSpc>
              <a:tabLst/>
            </a:pPr>
            <a:r>
              <a:rPr sz="900" kern="0" spc="1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解决方案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grpSp>
        <p:nvGrpSpPr>
          <p:cNvPr id="34" name="group 34"/>
          <p:cNvGrpSpPr/>
          <p:nvPr/>
        </p:nvGrpSpPr>
        <p:grpSpPr>
          <a:xfrm rot="21600000">
            <a:off x="4489482" y="3289310"/>
            <a:ext cx="927093" cy="228616"/>
            <a:chOff x="0" y="0"/>
            <a:chExt cx="927093" cy="228616"/>
          </a:xfrm>
        </p:grpSpPr>
        <p:pic>
          <p:nvPicPr>
            <p:cNvPr id="470" name="picture 470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 rot="21600000">
              <a:off x="0" y="0"/>
              <a:ext cx="927093" cy="228616"/>
            </a:xfrm>
            <a:prstGeom prst="rect">
              <a:avLst/>
            </a:prstGeom>
          </p:spPr>
        </p:pic>
        <p:sp>
          <p:nvSpPr>
            <p:cNvPr id="472" name="textbox 472"/>
            <p:cNvSpPr/>
            <p:nvPr/>
          </p:nvSpPr>
          <p:spPr>
            <a:xfrm>
              <a:off x="-12700" y="-12700"/>
              <a:ext cx="952500" cy="2749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4000"/>
                </a:lnSpc>
                <a:tabLst/>
              </a:pPr>
              <a:endParaRPr sz="500" dirty="0">
                <a:latin typeface="Arial"/>
                <a:ea typeface="Arial"/>
                <a:cs typeface="Arial"/>
              </a:endParaRPr>
            </a:p>
            <a:p>
              <a:pPr marL="82550" algn="l" rtl="0" eaLnBrk="0">
                <a:lnSpc>
                  <a:spcPct val="96000"/>
                </a:lnSpc>
                <a:tabLst/>
              </a:pP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AI</a:t>
              </a:r>
              <a:r>
                <a:rPr sz="1200" b="1" kern="0" spc="-1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辅助示例</a:t>
              </a:r>
              <a:endParaRPr sz="1200" dirty="0">
                <a:latin typeface="SimHei"/>
                <a:ea typeface="SimHei"/>
                <a:cs typeface="SimHei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 rot="21600000">
            <a:off x="8058136" y="3568717"/>
            <a:ext cx="990585" cy="188947"/>
            <a:chOff x="0" y="0"/>
            <a:chExt cx="990585" cy="188947"/>
          </a:xfrm>
        </p:grpSpPr>
        <p:pic>
          <p:nvPicPr>
            <p:cNvPr id="474" name="picture 474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 rot="21600000">
              <a:off x="0" y="0"/>
              <a:ext cx="990585" cy="184160"/>
            </a:xfrm>
            <a:prstGeom prst="rect">
              <a:avLst/>
            </a:prstGeom>
          </p:spPr>
        </p:pic>
        <p:sp>
          <p:nvSpPr>
            <p:cNvPr id="476" name="textbox 476"/>
            <p:cNvSpPr/>
            <p:nvPr/>
          </p:nvSpPr>
          <p:spPr>
            <a:xfrm>
              <a:off x="-12700" y="-12700"/>
              <a:ext cx="1016000" cy="2317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8000"/>
                </a:lnSpc>
                <a:tabLst/>
              </a:pPr>
              <a:endParaRPr sz="400" dirty="0">
                <a:latin typeface="Arial"/>
                <a:ea typeface="Arial"/>
                <a:cs typeface="Arial"/>
              </a:endParaRPr>
            </a:p>
            <a:p>
              <a:pPr marL="57150" algn="l" rtl="0" eaLnBrk="0">
                <a:lnSpc>
                  <a:spcPct val="96000"/>
                </a:lnSpc>
                <a:spcBef>
                  <a:spcPts val="4"/>
                </a:spcBef>
                <a:tabLst/>
              </a:pPr>
              <a:r>
                <a:rPr sz="1000" b="1" kern="0" spc="-2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Demo</a:t>
              </a:r>
              <a:r>
                <a:rPr sz="1000" b="1" kern="0" spc="-70" dirty="0">
                  <a:solidFill>
                    <a:srgbClr val="FFFFFF">
                      <a:alpha val="100000"/>
                    </a:srgbClr>
                  </a:solidFill>
                  <a:latin typeface="Arial"/>
                  <a:ea typeface="Arial"/>
                  <a:cs typeface="Arial"/>
                </a:rPr>
                <a:t> </a:t>
              </a:r>
              <a:r>
                <a:rPr sz="1000" b="1" kern="0" spc="-20" dirty="0">
                  <a:solidFill>
                    <a:srgbClr val="FFFFFF">
                      <a:alpha val="100000"/>
                    </a:srgbClr>
                  </a:solidFill>
                  <a:latin typeface="SimHei"/>
                  <a:ea typeface="SimHei"/>
                  <a:cs typeface="SimHei"/>
                </a:rPr>
                <a:t>讲解提纲</a:t>
              </a:r>
              <a:endParaRPr sz="1000" dirty="0">
                <a:latin typeface="SimHei"/>
                <a:ea typeface="SimHei"/>
                <a:cs typeface="SimHei"/>
              </a:endParaRPr>
            </a:p>
          </p:txBody>
        </p:sp>
      </p:grpSp>
      <p:pic>
        <p:nvPicPr>
          <p:cNvPr id="478" name="picture 478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9842463" y="196827"/>
            <a:ext cx="609639" cy="298468"/>
          </a:xfrm>
          <a:prstGeom prst="rect">
            <a:avLst/>
          </a:prstGeom>
        </p:spPr>
      </p:pic>
      <p:sp>
        <p:nvSpPr>
          <p:cNvPr id="480" name="textbox 480"/>
          <p:cNvSpPr/>
          <p:nvPr/>
        </p:nvSpPr>
        <p:spPr>
          <a:xfrm>
            <a:off x="3028915" y="4659140"/>
            <a:ext cx="773430" cy="184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34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ts val="1247"/>
              </a:lnSpc>
              <a:tabLst/>
            </a:pP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0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诊断记录表</a:t>
            </a:r>
            <a:endParaRPr sz="1000" dirty="0">
              <a:latin typeface="SimHei"/>
              <a:ea typeface="SimHei"/>
              <a:cs typeface="SimHei"/>
            </a:endParaRPr>
          </a:p>
        </p:txBody>
      </p:sp>
      <p:pic>
        <p:nvPicPr>
          <p:cNvPr id="482" name="picture 482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 rot="21600000">
            <a:off x="8813763" y="3797275"/>
            <a:ext cx="209583" cy="431838"/>
          </a:xfrm>
          <a:prstGeom prst="rect">
            <a:avLst/>
          </a:prstGeom>
        </p:spPr>
      </p:pic>
      <p:pic>
        <p:nvPicPr>
          <p:cNvPr id="484" name="picture 48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565153" y="3124211"/>
            <a:ext cx="298449" cy="292075"/>
          </a:xfrm>
          <a:prstGeom prst="rect">
            <a:avLst/>
          </a:prstGeom>
        </p:spPr>
      </p:pic>
      <p:pic>
        <p:nvPicPr>
          <p:cNvPr id="486" name="picture 48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565153" y="3670299"/>
            <a:ext cx="304819" cy="279407"/>
          </a:xfrm>
          <a:prstGeom prst="rect">
            <a:avLst/>
          </a:prstGeom>
        </p:spPr>
      </p:pic>
      <p:pic>
        <p:nvPicPr>
          <p:cNvPr id="488" name="picture 488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584158" y="2686039"/>
            <a:ext cx="266704" cy="292135"/>
          </a:xfrm>
          <a:prstGeom prst="rect">
            <a:avLst/>
          </a:prstGeom>
        </p:spPr>
      </p:pic>
      <p:pic>
        <p:nvPicPr>
          <p:cNvPr id="490" name="picture 49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2705050" y="4610101"/>
            <a:ext cx="266704" cy="273073"/>
          </a:xfrm>
          <a:prstGeom prst="rect">
            <a:avLst/>
          </a:prstGeom>
        </p:spPr>
      </p:pic>
      <p:pic>
        <p:nvPicPr>
          <p:cNvPr id="492" name="picture 49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577894" y="2273322"/>
            <a:ext cx="279338" cy="260345"/>
          </a:xfrm>
          <a:prstGeom prst="rect">
            <a:avLst/>
          </a:prstGeom>
        </p:spPr>
      </p:pic>
      <p:pic>
        <p:nvPicPr>
          <p:cNvPr id="494" name="picture 494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7391376" y="4025892"/>
            <a:ext cx="196843" cy="203221"/>
          </a:xfrm>
          <a:prstGeom prst="rect">
            <a:avLst/>
          </a:prstGeom>
        </p:spPr>
      </p:pic>
      <p:pic>
        <p:nvPicPr>
          <p:cNvPr id="496" name="picture 49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7391376" y="3797275"/>
            <a:ext cx="196843" cy="1905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8" name="picture 4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0" y="0"/>
            <a:ext cx="10617200" cy="5975350"/>
          </a:xfrm>
          <a:prstGeom prst="rect">
            <a:avLst/>
          </a:prstGeom>
        </p:spPr>
      </p:pic>
      <p:sp>
        <p:nvSpPr>
          <p:cNvPr id="500" name="textbox 500"/>
          <p:cNvSpPr/>
          <p:nvPr/>
        </p:nvSpPr>
        <p:spPr>
          <a:xfrm>
            <a:off x="1152815" y="4728772"/>
            <a:ext cx="7794625" cy="1017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2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059180" algn="l" rtl="0" eaLnBrk="0">
              <a:lnSpc>
                <a:spcPct val="98000"/>
              </a:lnSpc>
              <a:tabLst/>
            </a:pPr>
            <a:r>
              <a:rPr sz="2300" b="1" kern="0" spc="60" baseline="4529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街接提醒</a:t>
            </a:r>
            <a:r>
              <a:rPr sz="1400" kern="0" spc="6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18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从“</a:t>
            </a:r>
            <a:r>
              <a:rPr sz="1800" b="1" kern="0" spc="60" dirty="0">
                <a:solidFill>
                  <a:srgbClr val="1020B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会诊断、能原型”</a:t>
            </a:r>
            <a:r>
              <a:rPr sz="1800" b="1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走向</a:t>
            </a:r>
            <a:r>
              <a:rPr sz="1800" b="1" kern="0" spc="6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“能表达、会答</a:t>
            </a:r>
            <a:r>
              <a:rPr sz="1800" b="1" kern="0" spc="5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辩”。</a:t>
            </a:r>
            <a:endParaRPr sz="1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4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8000"/>
              </a:lnSpc>
              <a:tabLst/>
            </a:pPr>
            <a:endParaRPr sz="4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spcBef>
                <a:spcPts val="4"/>
              </a:spcBef>
              <a:tabLst/>
            </a:pPr>
            <a:r>
              <a:rPr sz="1900" b="1" kern="0" spc="-7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把原型讲明白，项目才更</a:t>
            </a:r>
            <a:r>
              <a:rPr sz="1900" b="1" kern="0" spc="-8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容易获得认可。</a:t>
            </a:r>
            <a:endParaRPr sz="1900" dirty="0">
              <a:latin typeface="SimHei"/>
              <a:ea typeface="SimHei"/>
              <a:cs typeface="SimHei"/>
            </a:endParaRPr>
          </a:p>
        </p:txBody>
      </p:sp>
      <p:sp>
        <p:nvSpPr>
          <p:cNvPr id="502" name="textbox 502"/>
          <p:cNvSpPr/>
          <p:nvPr/>
        </p:nvSpPr>
        <p:spPr>
          <a:xfrm>
            <a:off x="3771906" y="1774950"/>
            <a:ext cx="2953385" cy="2456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751840" algn="l" rtl="0" eaLnBrk="0">
              <a:lnSpc>
                <a:spcPct val="95000"/>
              </a:lnSpc>
              <a:tabLst/>
            </a:pPr>
            <a:r>
              <a:rPr sz="1400" b="1" kern="0" spc="2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课后行动清单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584200" algn="l" rtl="0" eaLnBrk="0">
              <a:lnSpc>
                <a:spcPct val="95000"/>
              </a:lnSpc>
              <a:spcBef>
                <a:spcPts val="1413"/>
              </a:spcBef>
              <a:tabLst/>
            </a:pPr>
            <a:r>
              <a:rPr sz="1100" kern="0" spc="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组内复盘本次反馈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584200" algn="l" rtl="0" eaLnBrk="0">
              <a:lnSpc>
                <a:spcPct val="96000"/>
              </a:lnSpc>
              <a:spcBef>
                <a:spcPts val="1295"/>
              </a:spcBef>
              <a:tabLst/>
            </a:pP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按分工修改原型与文</a:t>
            </a:r>
            <a:r>
              <a:rPr sz="1200" kern="0" spc="-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案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584200" algn="l" rtl="0" eaLnBrk="0">
              <a:lnSpc>
                <a:spcPct val="95000"/>
              </a:lnSpc>
              <a:spcBef>
                <a:spcPts val="1360"/>
              </a:spcBef>
              <a:tabLst/>
            </a:pPr>
            <a:r>
              <a:rPr sz="1100" kern="0" spc="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补齐展示素材与截图</a:t>
            </a:r>
            <a:endParaRPr sz="1100" dirty="0">
              <a:latin typeface="SimHei"/>
              <a:ea typeface="SimHei"/>
              <a:cs typeface="SimHei"/>
            </a:endParaRPr>
          </a:p>
          <a:p>
            <a:pPr marL="584200" algn="l" rtl="0" eaLnBrk="0">
              <a:lnSpc>
                <a:spcPct val="95000"/>
              </a:lnSpc>
              <a:spcBef>
                <a:spcPts val="1405"/>
              </a:spcBef>
              <a:tabLst/>
            </a:pP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完成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 </a:t>
            </a:r>
            <a:r>
              <a:rPr sz="11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提纲初稿</a:t>
            </a:r>
            <a:endParaRPr sz="11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2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ts val="970"/>
              </a:lnSpc>
              <a:spcBef>
                <a:spcPts val="241"/>
              </a:spcBef>
              <a:tabLst/>
            </a:pPr>
            <a:r>
              <a:rPr sz="800" kern="0" spc="9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建议分工</a:t>
            </a:r>
            <a:endParaRPr sz="8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2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1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9050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Al</a:t>
            </a:r>
            <a:r>
              <a:rPr sz="9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诊断整理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</a:t>
            </a:r>
            <a:r>
              <a:rPr sz="9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原型完善</a:t>
            </a:r>
            <a:r>
              <a:rPr sz="9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文案讲解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 </a:t>
            </a:r>
            <a:r>
              <a:rPr sz="800" kern="0" spc="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演示统筹</a:t>
            </a:r>
            <a:endParaRPr sz="800" dirty="0">
              <a:latin typeface="SimHei"/>
              <a:ea typeface="SimHei"/>
              <a:cs typeface="SimHei"/>
            </a:endParaRPr>
          </a:p>
        </p:txBody>
      </p:sp>
      <p:sp>
        <p:nvSpPr>
          <p:cNvPr id="504" name="textbox 504"/>
          <p:cNvSpPr/>
          <p:nvPr/>
        </p:nvSpPr>
        <p:spPr>
          <a:xfrm>
            <a:off x="999175" y="1774950"/>
            <a:ext cx="1998345" cy="27482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52400" algn="l" rtl="0" eaLnBrk="0">
              <a:lnSpc>
                <a:spcPct val="95000"/>
              </a:lnSpc>
              <a:tabLst/>
            </a:pPr>
            <a:r>
              <a:rPr sz="1400" b="1" kern="0" spc="3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本次课需完善的成果</a:t>
            </a:r>
            <a:endParaRPr sz="1400" dirty="0">
              <a:latin typeface="SimHei"/>
              <a:ea typeface="SimHei"/>
              <a:cs typeface="SimHei"/>
            </a:endParaRPr>
          </a:p>
          <a:p>
            <a:pPr marL="162560" algn="l" rtl="0" eaLnBrk="0">
              <a:lnSpc>
                <a:spcPct val="95000"/>
              </a:lnSpc>
              <a:spcBef>
                <a:spcPts val="1417"/>
              </a:spcBef>
              <a:tabLst/>
            </a:pP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完善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诊断记录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62560" algn="l" rtl="0" eaLnBrk="0">
              <a:lnSpc>
                <a:spcPct val="96000"/>
              </a:lnSpc>
              <a:spcBef>
                <a:spcPts val="1377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优化关键提示词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62560" algn="l" rtl="0" eaLnBrk="0">
              <a:lnSpc>
                <a:spcPct val="85000"/>
              </a:lnSpc>
              <a:spcBef>
                <a:spcPts val="1260"/>
              </a:spcBef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明确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MVP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核心功能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62560" algn="l" rtl="0" eaLnBrk="0">
              <a:lnSpc>
                <a:spcPts val="2750"/>
              </a:lnSpc>
              <a:tabLst/>
            </a:pPr>
            <a:r>
              <a:rPr sz="1200" kern="0" spc="-4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补充原型页面说明</a:t>
            </a:r>
            <a:endParaRPr sz="1200" dirty="0">
              <a:latin typeface="SimHei"/>
              <a:ea typeface="SimHei"/>
              <a:cs typeface="SimHei"/>
            </a:endParaRPr>
          </a:p>
          <a:p>
            <a:pPr marL="162560" algn="l" rtl="0" eaLnBrk="0">
              <a:lnSpc>
                <a:spcPts val="2799"/>
              </a:lnSpc>
              <a:tabLst/>
            </a:pP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梳理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200" kern="0" spc="-5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200" kern="0" spc="-3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展示顺序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88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indent="1000760" algn="l" rtl="0" eaLnBrk="0">
              <a:lnSpc>
                <a:spcPct val="93000"/>
              </a:lnSpc>
              <a:spcBef>
                <a:spcPts val="280"/>
              </a:spcBef>
              <a:tabLst/>
            </a:pPr>
            <a:r>
              <a:rPr sz="900" kern="0" spc="100" dirty="0">
                <a:solidFill>
                  <a:srgbClr val="1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900" kern="0" spc="-10" dirty="0">
                <a:solidFill>
                  <a:srgbClr val="1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材料命名统</a:t>
            </a:r>
            <a:r>
              <a:rPr sz="900" kern="0" spc="-26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10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一</a:t>
            </a:r>
            <a:r>
              <a:rPr sz="9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800" b="1" kern="0" spc="80" baseline="2893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提交提醒</a:t>
            </a:r>
            <a:r>
              <a:rPr sz="1100" kern="0" spc="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    </a:t>
            </a:r>
            <a:r>
              <a:rPr sz="1400" kern="0" spc="80" baseline="-3720" dirty="0">
                <a:solidFill>
                  <a:srgbClr val="1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900" kern="0" spc="80" dirty="0">
                <a:solidFill>
                  <a:srgbClr val="1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400" kern="0" spc="80" baseline="-37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文件截图清晰</a:t>
            </a:r>
            <a:endParaRPr sz="1400" baseline="-372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37000"/>
              </a:lnSpc>
              <a:tabLst/>
            </a:pPr>
            <a:endParaRPr sz="200" dirty="0">
              <a:latin typeface="Arial"/>
              <a:ea typeface="Arial"/>
              <a:cs typeface="Arial"/>
            </a:endParaRPr>
          </a:p>
          <a:p>
            <a:pPr marL="1013460" algn="l" rtl="0" eaLnBrk="0">
              <a:lnSpc>
                <a:spcPct val="100000"/>
              </a:lnSpc>
              <a:spcBef>
                <a:spcPts val="1"/>
              </a:spcBef>
              <a:tabLst/>
            </a:pPr>
            <a:r>
              <a:rPr sz="900" kern="0" spc="80" dirty="0">
                <a:solidFill>
                  <a:srgbClr val="1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●</a:t>
            </a:r>
            <a:r>
              <a:rPr sz="900" kern="0" spc="170" dirty="0">
                <a:solidFill>
                  <a:srgbClr val="1060C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9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分工信息完整</a:t>
            </a:r>
            <a:endParaRPr sz="900" dirty="0">
              <a:latin typeface="SimHei"/>
              <a:ea typeface="SimHei"/>
              <a:cs typeface="SimHei"/>
            </a:endParaRPr>
          </a:p>
        </p:txBody>
      </p:sp>
      <p:sp>
        <p:nvSpPr>
          <p:cNvPr id="506" name="textbox 506"/>
          <p:cNvSpPr/>
          <p:nvPr/>
        </p:nvSpPr>
        <p:spPr>
          <a:xfrm>
            <a:off x="7438627" y="2257784"/>
            <a:ext cx="2477135" cy="19621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480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5000"/>
              </a:lnSpc>
              <a:tabLst/>
            </a:pPr>
            <a:r>
              <a:rPr sz="1500" b="1" kern="0" spc="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第7次：路演</a:t>
            </a:r>
            <a:r>
              <a:rPr sz="1500" b="1" kern="0" spc="0" dirty="0">
                <a:solidFill>
                  <a:srgbClr val="1030A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500" b="1" kern="0" spc="40" dirty="0">
                <a:solidFill>
                  <a:srgbClr val="1030A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与答辩演练</a:t>
            </a:r>
            <a:endParaRPr sz="15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0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0525" algn="l" rtl="0" eaLnBrk="0">
              <a:lnSpc>
                <a:spcPct val="95000"/>
              </a:lnSpc>
              <a:spcBef>
                <a:spcPts val="360"/>
              </a:spcBef>
              <a:tabLst>
                <a:tab pos="51117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路演结构设计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6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0525" algn="l" rtl="0" eaLnBrk="0">
              <a:lnSpc>
                <a:spcPct val="95000"/>
              </a:lnSpc>
              <a:spcBef>
                <a:spcPts val="371"/>
              </a:spcBef>
              <a:tabLst>
                <a:tab pos="51117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故事线提炼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23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390525" algn="l" rtl="0" eaLnBrk="0">
              <a:lnSpc>
                <a:spcPct val="96000"/>
              </a:lnSpc>
              <a:spcBef>
                <a:spcPts val="370"/>
              </a:spcBef>
              <a:tabLst>
                <a:tab pos="511175" algn="l"/>
              </a:tabLst>
            </a:pPr>
            <a:r>
              <a:rPr sz="12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200" kern="0" spc="-2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讲稿准备</a:t>
            </a:r>
            <a:endParaRPr sz="1200" dirty="0">
              <a:latin typeface="SimHei"/>
              <a:ea typeface="SimHei"/>
              <a:cs typeface="SimHei"/>
            </a:endParaRPr>
          </a:p>
          <a:p>
            <a:pPr algn="l" rtl="0" eaLnBrk="0">
              <a:lnSpc>
                <a:spcPct val="115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108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390525" algn="l" rtl="0" eaLnBrk="0">
              <a:lnSpc>
                <a:spcPct val="96000"/>
              </a:lnSpc>
              <a:spcBef>
                <a:spcPts val="3"/>
              </a:spcBef>
              <a:tabLst>
                <a:tab pos="511175" algn="l"/>
              </a:tabLst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	</a:t>
            </a:r>
            <a:r>
              <a:rPr sz="1300" kern="0" spc="-9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模拟答辩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pic>
        <p:nvPicPr>
          <p:cNvPr id="508" name="picture 50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7480347" y="3841732"/>
            <a:ext cx="349199" cy="342925"/>
          </a:xfrm>
          <a:prstGeom prst="rect">
            <a:avLst/>
          </a:prstGeom>
        </p:spPr>
      </p:pic>
      <p:pic>
        <p:nvPicPr>
          <p:cNvPr id="510" name="picture 5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480347" y="3429014"/>
            <a:ext cx="349199" cy="349259"/>
          </a:xfrm>
          <a:prstGeom prst="rect">
            <a:avLst/>
          </a:prstGeom>
        </p:spPr>
      </p:pic>
      <p:pic>
        <p:nvPicPr>
          <p:cNvPr id="512" name="picture 5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480347" y="3022571"/>
            <a:ext cx="349199" cy="342925"/>
          </a:xfrm>
          <a:prstGeom prst="rect">
            <a:avLst/>
          </a:prstGeom>
        </p:spPr>
      </p:pic>
      <p:pic>
        <p:nvPicPr>
          <p:cNvPr id="514" name="picture 5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7480347" y="2616187"/>
            <a:ext cx="349199" cy="349259"/>
          </a:xfrm>
          <a:prstGeom prst="rect">
            <a:avLst/>
          </a:prstGeom>
        </p:spPr>
      </p:pic>
      <p:sp>
        <p:nvSpPr>
          <p:cNvPr id="516" name="textbox 516"/>
          <p:cNvSpPr/>
          <p:nvPr/>
        </p:nvSpPr>
        <p:spPr>
          <a:xfrm>
            <a:off x="368351" y="859073"/>
            <a:ext cx="5516245" cy="680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745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24765" algn="l" rtl="0" eaLnBrk="0">
              <a:lnSpc>
                <a:spcPct val="91000"/>
              </a:lnSpc>
              <a:tabLst/>
            </a:pPr>
            <a:r>
              <a:rPr sz="3400" b="1" kern="0" spc="1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课后推进计划与下次课</a:t>
            </a:r>
            <a:r>
              <a:rPr sz="3400" b="1" kern="0" spc="1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衔接</a:t>
            </a:r>
            <a:endParaRPr sz="3400" dirty="0">
              <a:latin typeface="SimHei"/>
              <a:ea typeface="SimHei"/>
              <a:cs typeface="SimHei"/>
            </a:endParaRPr>
          </a:p>
          <a:p>
            <a:pPr marL="12700" algn="l" rtl="0" eaLnBrk="0">
              <a:lnSpc>
                <a:spcPct val="91000"/>
              </a:lnSpc>
              <a:spcBef>
                <a:spcPts val="14"/>
              </a:spcBef>
              <a:tabLst/>
            </a:pP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继续完善原型与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Demo</a:t>
            </a:r>
            <a:r>
              <a:rPr sz="1300" kern="0" spc="22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 </a:t>
            </a:r>
            <a:r>
              <a:rPr sz="1300" kern="0" spc="8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材料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，为下一次路演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Arial"/>
                <a:ea typeface="Arial"/>
                <a:cs typeface="Arial"/>
              </a:rPr>
              <a:t>PPT</a:t>
            </a:r>
            <a:r>
              <a:rPr sz="1300" kern="0" spc="70" dirty="0">
                <a:solidFill>
                  <a:srgbClr val="00000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与答辩演练做好准备</a:t>
            </a:r>
            <a:endParaRPr sz="1300" dirty="0">
              <a:latin typeface="SimHei"/>
              <a:ea typeface="SimHei"/>
              <a:cs typeface="SimHei"/>
            </a:endParaRPr>
          </a:p>
        </p:txBody>
      </p:sp>
      <p:sp>
        <p:nvSpPr>
          <p:cNvPr id="518" name="textbox 518"/>
          <p:cNvSpPr/>
          <p:nvPr/>
        </p:nvSpPr>
        <p:spPr>
          <a:xfrm>
            <a:off x="815901" y="240157"/>
            <a:ext cx="6361429" cy="2679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22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94000"/>
              </a:lnSpc>
              <a:tabLst/>
            </a:pP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《创新创业基础》实践课</a:t>
            </a:r>
            <a:r>
              <a:rPr sz="1700" kern="0" spc="-19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 </a:t>
            </a: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|第6次：</a:t>
            </a:r>
            <a:r>
              <a:rPr sz="1700" b="1" kern="0" spc="0" dirty="0">
                <a:solidFill>
                  <a:srgbClr val="103080">
                    <a:alpha val="100000"/>
                  </a:srgbClr>
                </a:solidFill>
                <a:latin typeface="Arial"/>
                <a:ea typeface="Arial"/>
                <a:cs typeface="Arial"/>
              </a:rPr>
              <a:t>AI</a:t>
            </a:r>
            <a:r>
              <a:rPr sz="1700" b="1" kern="0" spc="8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赋能项目诊断与</a:t>
            </a:r>
            <a:r>
              <a:rPr sz="1700" b="1" kern="0" spc="70" dirty="0">
                <a:solidFill>
                  <a:srgbClr val="103080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原型设计</a:t>
            </a:r>
            <a:endParaRPr sz="1700" dirty="0">
              <a:latin typeface="SimHei"/>
              <a:ea typeface="SimHei"/>
              <a:cs typeface="SimHei"/>
            </a:endParaRPr>
          </a:p>
        </p:txBody>
      </p:sp>
      <p:pic>
        <p:nvPicPr>
          <p:cNvPr id="520" name="picture 5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146092" y="76185"/>
            <a:ext cx="546042" cy="514358"/>
          </a:xfrm>
          <a:prstGeom prst="rect">
            <a:avLst/>
          </a:prstGeom>
        </p:spPr>
      </p:pic>
      <p:sp>
        <p:nvSpPr>
          <p:cNvPr id="522" name="textbox 522"/>
          <p:cNvSpPr/>
          <p:nvPr/>
        </p:nvSpPr>
        <p:spPr>
          <a:xfrm>
            <a:off x="7978116" y="1772106"/>
            <a:ext cx="1275080" cy="2266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772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4000"/>
              </a:lnSpc>
              <a:tabLst/>
            </a:pPr>
            <a:r>
              <a:rPr sz="1400" b="1" kern="0" spc="-10" dirty="0">
                <a:solidFill>
                  <a:srgbClr val="FFFFFF">
                    <a:alpha val="100000"/>
                  </a:srgbClr>
                </a:solidFill>
                <a:latin typeface="SimHei"/>
                <a:ea typeface="SimHei"/>
                <a:cs typeface="SimHei"/>
              </a:rPr>
              <a:t>下次实践课预告</a:t>
            </a:r>
            <a:endParaRPr sz="1400" dirty="0">
              <a:latin typeface="SimHei"/>
              <a:ea typeface="SimHei"/>
              <a:cs typeface="SimHei"/>
            </a:endParaRPr>
          </a:p>
        </p:txBody>
      </p:sp>
      <p:pic>
        <p:nvPicPr>
          <p:cNvPr id="524" name="picture 5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162787" y="1612926"/>
            <a:ext cx="501663" cy="438112"/>
          </a:xfrm>
          <a:prstGeom prst="rect">
            <a:avLst/>
          </a:prstGeom>
        </p:spPr>
      </p:pic>
      <p:pic>
        <p:nvPicPr>
          <p:cNvPr id="526" name="picture 5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9861573" y="184160"/>
            <a:ext cx="596898" cy="30480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2026-05-06T02:34:29Z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2026-05-06T02:34:40</vt:filetime>
  </property>
  <property fmtid="{D5CDD505-2E9C-101B-9397-08002B2CF9AE}" pid="4" name="UsrData">
    <vt:lpwstr>69fa38305b4fbf001f8d8c03wl</vt:lpwstr>
  </property>
</Properties>
</file>