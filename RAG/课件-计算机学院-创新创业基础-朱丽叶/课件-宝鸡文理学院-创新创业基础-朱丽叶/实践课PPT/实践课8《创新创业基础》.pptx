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4" Type="http://schemas.openxmlformats.org/officeDocument/2006/relationships/viewProps" Target="viewProps.xml"/><Relationship Id="rId13" Type="http://schemas.openxmlformats.org/officeDocument/2006/relationships/tableStyles" Target="tableStyles.xml"/><Relationship Id="rId12" Type="http://schemas.openxmlformats.org/officeDocument/2006/relationships/presProps" Target="presProps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jpeg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jpeg"/><Relationship Id="rId8" Type="http://schemas.openxmlformats.org/officeDocument/2006/relationships/image" Target="../media/image32.jpeg"/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2" Type="http://schemas.openxmlformats.org/officeDocument/2006/relationships/image" Target="../media/image36.jpeg"/><Relationship Id="rId11" Type="http://schemas.openxmlformats.org/officeDocument/2006/relationships/image" Target="../media/image35.jpeg"/><Relationship Id="rId10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image" Target="../media/image40.jpeg"/><Relationship Id="rId4" Type="http://schemas.openxmlformats.org/officeDocument/2006/relationships/image" Target="../media/image39.jpe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jpeg"/><Relationship Id="rId8" Type="http://schemas.openxmlformats.org/officeDocument/2006/relationships/image" Target="../media/image47.jpeg"/><Relationship Id="rId7" Type="http://schemas.openxmlformats.org/officeDocument/2006/relationships/image" Target="../media/image46.jpeg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Relationship Id="rId3" Type="http://schemas.openxmlformats.org/officeDocument/2006/relationships/image" Target="../media/image42.jpeg"/><Relationship Id="rId26" Type="http://schemas.openxmlformats.org/officeDocument/2006/relationships/image" Target="../media/image65.jpeg"/><Relationship Id="rId25" Type="http://schemas.openxmlformats.org/officeDocument/2006/relationships/image" Target="../media/image64.jpeg"/><Relationship Id="rId24" Type="http://schemas.openxmlformats.org/officeDocument/2006/relationships/image" Target="../media/image63.jpeg"/><Relationship Id="rId23" Type="http://schemas.openxmlformats.org/officeDocument/2006/relationships/image" Target="../media/image62.jpeg"/><Relationship Id="rId22" Type="http://schemas.openxmlformats.org/officeDocument/2006/relationships/image" Target="../media/image61.jpeg"/><Relationship Id="rId21" Type="http://schemas.openxmlformats.org/officeDocument/2006/relationships/image" Target="../media/image60.jpeg"/><Relationship Id="rId20" Type="http://schemas.openxmlformats.org/officeDocument/2006/relationships/image" Target="../media/image59.jpeg"/><Relationship Id="rId2" Type="http://schemas.openxmlformats.org/officeDocument/2006/relationships/image" Target="../media/image41.png"/><Relationship Id="rId19" Type="http://schemas.openxmlformats.org/officeDocument/2006/relationships/image" Target="../media/image58.jpeg"/><Relationship Id="rId18" Type="http://schemas.openxmlformats.org/officeDocument/2006/relationships/image" Target="../media/image57.jpeg"/><Relationship Id="rId17" Type="http://schemas.openxmlformats.org/officeDocument/2006/relationships/image" Target="../media/image56.jpeg"/><Relationship Id="rId16" Type="http://schemas.openxmlformats.org/officeDocument/2006/relationships/image" Target="../media/image55.jpeg"/><Relationship Id="rId15" Type="http://schemas.openxmlformats.org/officeDocument/2006/relationships/image" Target="../media/image54.jpeg"/><Relationship Id="rId14" Type="http://schemas.openxmlformats.org/officeDocument/2006/relationships/image" Target="../media/image53.jpeg"/><Relationship Id="rId13" Type="http://schemas.openxmlformats.org/officeDocument/2006/relationships/image" Target="../media/image52.jpeg"/><Relationship Id="rId12" Type="http://schemas.openxmlformats.org/officeDocument/2006/relationships/image" Target="../media/image51.jpe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71.jpeg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Relationship Id="rId3" Type="http://schemas.openxmlformats.org/officeDocument/2006/relationships/image" Target="../media/image67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eg"/><Relationship Id="rId7" Type="http://schemas.openxmlformats.org/officeDocument/2006/relationships/image" Target="../media/image77.jpeg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image" Target="../media/image74.jpeg"/><Relationship Id="rId3" Type="http://schemas.openxmlformats.org/officeDocument/2006/relationships/image" Target="../media/image73.jpe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44421" y="1414096"/>
            <a:ext cx="4350384" cy="2049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0" algn="l" rtl="0" eaLnBrk="0">
              <a:lnSpc>
                <a:spcPct val="104000"/>
              </a:lnSpc>
              <a:tabLst/>
            </a:pPr>
            <a:r>
              <a:rPr sz="4600" b="1" kern="0" spc="-3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把成果展示出来，</a:t>
            </a:r>
            <a:r>
              <a:rPr sz="4600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700" b="1" kern="0" spc="-3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把成长总结出来</a:t>
            </a:r>
            <a:endParaRPr sz="4700" dirty="0">
              <a:latin typeface="SimHei"/>
              <a:ea typeface="SimHei"/>
              <a:cs typeface="SimHei"/>
            </a:endParaRPr>
          </a:p>
          <a:p>
            <a:pPr marL="55244" algn="l" rtl="0" eaLnBrk="0">
              <a:lnSpc>
                <a:spcPct val="99000"/>
              </a:lnSpc>
              <a:spcBef>
                <a:spcPts val="757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围绕项目终评展示、成果汇报、小组互评、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2544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教师点评与课程复盘，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完成实践课收官展示。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921284" y="1159432"/>
          <a:ext cx="3764914" cy="1379220"/>
        </p:xfrm>
        <a:graphic>
          <a:graphicData uri="http://schemas.openxmlformats.org/drawingml/2006/table">
            <a:tbl>
              <a:tblPr/>
              <a:tblGrid>
                <a:gridCol w="2321560"/>
                <a:gridCol w="1443355"/>
              </a:tblGrid>
              <a:tr h="13792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4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项目名</a:t>
                      </a:r>
                      <a:r>
                        <a:rPr sz="8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iSu"/>
                          <a:ea typeface="LiSu"/>
                          <a:cs typeface="LiSu"/>
                        </a:rPr>
                        <a:t>称</a:t>
                      </a:r>
                      <a:r>
                        <a:rPr sz="8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iSu"/>
                          <a:ea typeface="LiSu"/>
                          <a:cs typeface="LiSu"/>
                        </a:rPr>
                        <a:t> </a:t>
                      </a:r>
                      <a:r>
                        <a:rPr sz="8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iSu"/>
                          <a:ea typeface="LiSu"/>
                          <a:cs typeface="LiSu"/>
                        </a:rPr>
                        <a:t>：智能校园二手交易</a:t>
                      </a:r>
                      <a:r>
                        <a:rPr sz="8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LiSu"/>
                          <a:ea typeface="LiSu"/>
                          <a:cs typeface="LiSu"/>
                        </a:rPr>
                        <a:t>平台</a:t>
                      </a:r>
                      <a:endParaRPr sz="800" dirty="0">
                        <a:latin typeface="LiSu"/>
                        <a:ea typeface="LiSu"/>
                        <a:cs typeface="LiSu"/>
                      </a:endParaRPr>
                    </a:p>
                    <a:p>
                      <a:pPr marL="51435" algn="l" rtl="0" eaLnBrk="0">
                        <a:lnSpc>
                          <a:spcPts val="738"/>
                        </a:lnSpc>
                        <a:spcBef>
                          <a:spcPts val="913"/>
                        </a:spcBef>
                        <a:tabLst/>
                      </a:pPr>
                      <a:r>
                        <a:rPr sz="600" b="1" kern="0" spc="-4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项目概览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ts val="62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b="1" kern="0" spc="30" dirty="0">
                          <a:solidFill>
                            <a:srgbClr val="204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枝心价值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6460" algn="l" rtl="0" eaLnBrk="0">
                        <a:lnSpc>
                          <a:spcPts val="114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10308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终评要点</a:t>
                      </a:r>
                      <a:endParaRPr sz="900" dirty="0">
                        <a:latin typeface="KaiTi"/>
                        <a:ea typeface="KaiTi"/>
                        <a:cs typeface="KaiTi"/>
                      </a:endParaRPr>
                    </a:p>
                    <a:p>
                      <a:pPr marL="852805" algn="just" rtl="0" eaLnBrk="0">
                        <a:lnSpc>
                          <a:spcPct val="147000"/>
                        </a:lnSpc>
                        <a:spcBef>
                          <a:spcPts val="329"/>
                        </a:spcBef>
                        <a:tabLst/>
                      </a:pPr>
                      <a:r>
                        <a:rPr sz="800" kern="0" spc="-4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800" kern="0" spc="-4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FangSong"/>
                          <a:ea typeface="FangSong"/>
                          <a:cs typeface="FangSong"/>
                        </a:rPr>
                        <a:t>价</a:t>
                      </a:r>
                      <a:r>
                        <a:rPr sz="800" kern="0" spc="-4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TXingkai"/>
                          <a:ea typeface="STXingkai"/>
                          <a:cs typeface="STXingkai"/>
                        </a:rPr>
                        <a:t>值与创新</a:t>
                      </a:r>
                      <a:r>
                        <a:rPr sz="800" kern="0" spc="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TXingkai"/>
                          <a:ea typeface="STXingkai"/>
                          <a:cs typeface="STXingkai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700" b="1" kern="0" spc="2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市场与用户</a:t>
                      </a:r>
                      <a:r>
                        <a:rPr sz="700" kern="0" spc="-1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  </a:t>
                      </a:r>
                      <a:r>
                        <a:rPr sz="800" kern="0" spc="-7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800" kern="0" spc="-18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800" kern="0" spc="-7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TXingkai"/>
                          <a:ea typeface="STXingkai"/>
                          <a:cs typeface="STXingkai"/>
                        </a:rPr>
                        <a:t>产品与技术</a:t>
                      </a:r>
                      <a:r>
                        <a:rPr sz="800" kern="0" spc="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TXingkai"/>
                          <a:ea typeface="STXingkai"/>
                          <a:cs typeface="STXingkai"/>
                        </a:rPr>
                        <a:t> </a:t>
                      </a:r>
                      <a:r>
                        <a:rPr sz="800" kern="0" spc="-7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☑</a:t>
                      </a:r>
                      <a:r>
                        <a:rPr sz="800" kern="0" spc="-7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MS Gothic"/>
                          <a:ea typeface="MS Gothic"/>
                          <a:cs typeface="MS Gothic"/>
                        </a:rPr>
                        <a:t> </a:t>
                      </a:r>
                      <a:r>
                        <a:rPr sz="800" kern="0" spc="-7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TXingkai"/>
                          <a:ea typeface="STXingkai"/>
                          <a:cs typeface="STXingkai"/>
                        </a:rPr>
                        <a:t>商业模式</a:t>
                      </a:r>
                      <a:endParaRPr sz="800" dirty="0">
                        <a:latin typeface="STXingkai"/>
                        <a:ea typeface="STXingkai"/>
                        <a:cs typeface="STXingkai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  <a:spcBef>
                          <a:spcPts val="192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2040B0">
                              <a:alpha val="100000"/>
                            </a:srgbClr>
                          </a:solidFill>
                          <a:latin typeface="STXingkai"/>
                          <a:ea typeface="STXingkai"/>
                          <a:cs typeface="STXingkai"/>
                        </a:rPr>
                        <a:t>团队与执行</a:t>
                      </a:r>
                      <a:endParaRPr sz="700" dirty="0">
                        <a:latin typeface="STXingkai"/>
                        <a:ea typeface="STXingkai"/>
                        <a:cs typeface="STXingka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TXingkai"/>
                          <a:ea typeface="STXingkai"/>
                          <a:cs typeface="STXingkai"/>
                        </a:rPr>
                        <a:t>财务与发展</a:t>
                      </a:r>
                      <a:endParaRPr sz="700" dirty="0">
                        <a:latin typeface="STXingkai"/>
                        <a:ea typeface="STXingkai"/>
                        <a:cs typeface="STXingka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8"/>
          <p:cNvSpPr/>
          <p:nvPr/>
        </p:nvSpPr>
        <p:spPr>
          <a:xfrm>
            <a:off x="2838442" y="5405377"/>
            <a:ext cx="5578475" cy="379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400" kern="0" spc="23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一</a:t>
            </a:r>
            <a:r>
              <a:rPr sz="24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400" kern="0" spc="23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把项目讲清楚，把经验</a:t>
            </a:r>
            <a:r>
              <a:rPr sz="2400" kern="0" spc="22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沉淀下来。</a:t>
            </a:r>
            <a:endParaRPr sz="2400" dirty="0">
              <a:latin typeface="STXingkai"/>
              <a:ea typeface="STXingkai"/>
              <a:cs typeface="STXingka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67" y="165098"/>
            <a:ext cx="469917" cy="406383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311124" y="259358"/>
            <a:ext cx="5610859" cy="314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000" kern="0" spc="10" baseline="-22571" dirty="0">
                <a:solidFill>
                  <a:srgbClr val="B0E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900" kern="0" spc="10" dirty="0">
                <a:solidFill>
                  <a:srgbClr val="B0E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500" b="1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《创新创业基础》实践课|第8次：项目终评展示与课程复盘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054116" y="3978052"/>
            <a:ext cx="2992754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</a:t>
            </a:r>
            <a:r>
              <a:rPr sz="1200" b="1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模块</a:t>
            </a:r>
            <a:r>
              <a:rPr sz="1200" b="1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</a:t>
            </a:r>
            <a:r>
              <a:rPr sz="12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路演竞赛与商业落地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328164" y="196827"/>
            <a:ext cx="1136677" cy="355593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9199" y="3721089"/>
            <a:ext cx="622380" cy="628666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7124712" y="4284388"/>
            <a:ext cx="752475" cy="351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indent="-44450" algn="l" rtl="0" eaLnBrk="0">
              <a:lnSpc>
                <a:spcPct val="130000"/>
              </a:lnSpc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项目展示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终评汇报材料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8223274" y="4264045"/>
            <a:ext cx="683259" cy="378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9070" algn="l" rtl="0" eaLnBrk="0">
              <a:lnSpc>
                <a:spcPct val="96000"/>
              </a:lnSpc>
              <a:tabLst/>
            </a:pPr>
            <a:r>
              <a:rPr sz="1100" b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互评表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0"/>
              </a:lnSpc>
              <a:spcBef>
                <a:spcPts val="4"/>
              </a:spcBef>
              <a:tabLst/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小组互评打分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9347210" y="4282662"/>
            <a:ext cx="696594" cy="36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ts val="1085"/>
              </a:lnSpc>
              <a:tabLst/>
            </a:pP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复盘记录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0"/>
              </a:lnSpc>
              <a:spcBef>
                <a:spcPts val="3"/>
              </a:spcBef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经验沉淀总结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6064266" y="4284388"/>
            <a:ext cx="675640" cy="351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-6350" algn="l" rtl="0" eaLnBrk="0">
              <a:lnSpc>
                <a:spcPct val="130000"/>
              </a:lnSpc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终版项目包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完整材料归档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1380483" y="4315663"/>
            <a:ext cx="8453119" cy="148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04"/>
              </a:lnSpc>
              <a:tabLst/>
            </a:pPr>
            <a:r>
              <a:rPr sz="14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终评展示</a:t>
            </a:r>
            <a:r>
              <a:rPr sz="1400" kern="0" spc="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1400" b="1" kern="0" spc="-2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成果汇报</a:t>
            </a:r>
            <a:r>
              <a:rPr sz="1400" kern="0" spc="4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400" kern="0" spc="3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4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小组互评</a:t>
            </a:r>
            <a:r>
              <a:rPr sz="1400" kern="0" spc="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400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4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教师点评</a:t>
            </a:r>
            <a:r>
              <a:rPr sz="1400" kern="0" spc="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4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课程复盘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8119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2400" b="1" kern="0" spc="23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</a:t>
            </a:r>
            <a:r>
              <a:rPr sz="2400" kern="0" spc="23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23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有总结的展示，才是完整的收</a:t>
            </a:r>
            <a:r>
              <a:rPr sz="2400" kern="0" spc="22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官。</a:t>
            </a:r>
            <a:endParaRPr sz="24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46083" y="1918268"/>
            <a:ext cx="2959735" cy="1806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2689" algn="l" rtl="0" eaLnBrk="0">
              <a:lnSpc>
                <a:spcPct val="94000"/>
              </a:lnSpc>
              <a:tabLst/>
            </a:pP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92000"/>
              </a:lnSpc>
              <a:spcBef>
                <a:spcPts val="369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完成项目终版成果展示；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92000"/>
              </a:lnSpc>
              <a:spcBef>
                <a:spcPts val="365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展示项目逻辑、方案价值与实践成效；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1155"/>
              </a:spcBef>
              <a:tabLst/>
            </a:pPr>
            <a:r>
              <a:rPr sz="2900" kern="0" spc="-40" baseline="-10776" dirty="0">
                <a:solidFill>
                  <a:srgbClr val="6080C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800" kern="0" spc="-40" dirty="0">
                <a:solidFill>
                  <a:srgbClr val="6080C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通过复盘总结收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获、问题与改进方向；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94000"/>
              </a:lnSpc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完成实践课终结性评价。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7429532" y="1923234"/>
            <a:ext cx="1819910" cy="2023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7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成果产出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99000"/>
              </a:lnSpc>
              <a:spcBef>
                <a:spcPts val="370"/>
              </a:spcBef>
              <a:tabLst/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终版项目包；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743"/>
              </a:spcBef>
              <a:tabLst/>
            </a:pPr>
            <a:r>
              <a:rPr sz="1700" kern="0" spc="-20" dirty="0">
                <a:solidFill>
                  <a:srgbClr val="6080C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700" kern="0" spc="160" dirty="0">
                <a:solidFill>
                  <a:srgbClr val="6080C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项目展示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PPT;</a:t>
            </a:r>
            <a:endParaRPr sz="1200" dirty="0">
              <a:latin typeface="Arial"/>
              <a:ea typeface="Arial"/>
              <a:cs typeface="Arial"/>
            </a:endParaRPr>
          </a:p>
          <a:p>
            <a:pPr marL="349250" indent="-336550" algn="l" rtl="0" eaLnBrk="0">
              <a:lnSpc>
                <a:spcPct val="114000"/>
              </a:lnSpc>
              <a:spcBef>
                <a:spcPts val="711"/>
              </a:spcBef>
              <a:tabLst/>
            </a:pPr>
            <a:r>
              <a:rPr sz="1700" kern="0" spc="-10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700" kern="0" spc="160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课程复盘报告；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小组互评表；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700" kern="0" spc="-80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⑤</a:t>
            </a:r>
            <a:r>
              <a:rPr sz="1700" kern="0" spc="160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个人反思记录。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381250" y="852191"/>
            <a:ext cx="4170679" cy="811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2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3800" b="1" kern="0" spc="-2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r>
              <a:rPr sz="3800" b="1" kern="0" spc="-1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与核心任</a:t>
            </a:r>
            <a:r>
              <a:rPr sz="3800" b="1" kern="0" spc="-1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33655" algn="l" rtl="0" eaLnBrk="0">
              <a:lnSpc>
                <a:spcPct val="95000"/>
              </a:lnSpc>
              <a:spcBef>
                <a:spcPts val="132"/>
              </a:spcBef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从“完成项目”走向“完成展示、完成复盘”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4508528" y="1921723"/>
            <a:ext cx="1459864" cy="2004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7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365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项目终评展示；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375"/>
              </a:spcBef>
              <a:tabLst/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成果汇报；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921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小组互评；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284"/>
              </a:spcBef>
              <a:tabLst/>
            </a:pP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教师总结点评；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课程复盘反思。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7838" y="165098"/>
            <a:ext cx="463547" cy="406383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311124" y="259358"/>
            <a:ext cx="5604509" cy="289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3000" kern="0" spc="30" baseline="-17362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500" b="1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</a:t>
            </a:r>
            <a:r>
              <a:rPr sz="1500" b="1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》实践课|第8次：项目终评展示与课程复盘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321795" y="203221"/>
            <a:ext cx="1136677" cy="342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927562" y="872741"/>
            <a:ext cx="9280525" cy="894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-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任务导入：为什么要</a:t>
            </a:r>
            <a:r>
              <a:rPr sz="3800" b="1" kern="0" spc="-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做终评展示与课程复盘?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682114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终评不是结束，而是把项目</a:t>
            </a: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价值讲清楚、把经验方法沉淀下来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03203" y="1997704"/>
            <a:ext cx="2045335" cy="2936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8140" algn="l" rtl="0" eaLnBrk="0">
              <a:lnSpc>
                <a:spcPct val="95000"/>
              </a:lnSpc>
              <a:tabLst/>
            </a:pPr>
            <a:r>
              <a:rPr sz="1600" b="1" kern="0" spc="-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常见误区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50800" indent="-38100" algn="l" rtl="0" eaLnBrk="0">
              <a:lnSpc>
                <a:spcPct val="137000"/>
              </a:lnSpc>
              <a:spcBef>
                <a:spcPts val="1173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只展示结果，不解释过程；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只讲功能，不讲价值；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ct val="100000"/>
              </a:lnSpc>
              <a:spcBef>
                <a:spcPts val="691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有做法，但缺少反思；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ct val="96000"/>
              </a:lnSpc>
              <a:spcBef>
                <a:spcPts val="695"/>
              </a:spcBef>
              <a:tabLst/>
            </a:pP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展示结束后没有沉淀经验。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0990" algn="l" rtl="0" eaLnBrk="0">
              <a:lnSpc>
                <a:spcPct val="96000"/>
              </a:lnSpc>
              <a:spcBef>
                <a:spcPts val="457"/>
              </a:spcBef>
              <a:tabLst/>
            </a:pPr>
            <a:r>
              <a:rPr sz="15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终评的真正价值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2000"/>
              </a:lnSpc>
              <a:spcBef>
                <a:spcPts val="333"/>
              </a:spcBef>
              <a:tabLst/>
            </a:pP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检验项目完整度与说服力；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ct val="93000"/>
              </a:lnSpc>
              <a:spcBef>
                <a:spcPts val="488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获得来自同伴和教师的反馈；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ts val="2049"/>
              </a:lnSpc>
              <a:tabLst/>
            </a:pP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总结团队协作与项目方法；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为后续竞赛、申报与落地打基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础。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4940329" y="2051235"/>
            <a:ext cx="4743450" cy="521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901"/>
              </a:lnSpc>
              <a:tabLst/>
            </a:pPr>
            <a:r>
              <a:rPr sz="3200" kern="0" spc="-110" dirty="0">
                <a:solidFill>
                  <a:srgbClr val="408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3200" kern="0" spc="-100" dirty="0">
                <a:solidFill>
                  <a:srgbClr val="408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</a:t>
            </a:r>
            <a:r>
              <a:rPr sz="3200" kern="0" spc="-110" dirty="0">
                <a:solidFill>
                  <a:srgbClr val="408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2700" kern="0" spc="-100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⑤</a:t>
            </a:r>
            <a:endParaRPr sz="2700" dirty="0">
              <a:latin typeface="SimSun"/>
              <a:ea typeface="SimSun"/>
              <a:cs typeface="SimSun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2644862" y="5465562"/>
            <a:ext cx="543560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400" b="1" kern="0" spc="-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</a:t>
            </a:r>
            <a:r>
              <a:rPr sz="2400" kern="0" spc="-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-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把结果展示出来，也把成长说出来。</a:t>
            </a:r>
            <a:endParaRPr sz="2400" dirty="0">
              <a:latin typeface="STXingkai"/>
              <a:ea typeface="STXingkai"/>
              <a:cs typeface="STXingkai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7838" y="152371"/>
            <a:ext cx="463547" cy="412777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292119" y="252964"/>
            <a:ext cx="5622925" cy="301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9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3300" kern="0" spc="20" baseline="-15784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1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500" b="1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《创新创业基础》实践课|第8次</a:t>
            </a:r>
            <a:r>
              <a:rPr sz="1500" b="1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3838939" y="4564929"/>
            <a:ext cx="5185409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3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好的收官=清晰展示+</a:t>
            </a:r>
            <a:r>
              <a:rPr sz="1900" b="1" kern="0" spc="3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真诚复盘+持续改进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3238499" y="3363764"/>
            <a:ext cx="883919" cy="734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640" algn="l" rtl="0" eaLnBrk="0">
              <a:lnSpc>
                <a:spcPct val="96000"/>
              </a:lnSpc>
              <a:tabLst/>
            </a:pPr>
            <a:r>
              <a:rPr sz="16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成果展示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8900" indent="-76200" algn="l" rtl="0" eaLnBrk="0">
              <a:lnSpc>
                <a:spcPct val="124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梳理项目亮点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与关键证据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4682902" y="3362952"/>
            <a:ext cx="831214" cy="735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接受反馈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93039" indent="-56514" algn="l" rtl="0" eaLnBrk="0">
              <a:lnSpc>
                <a:spcPct val="115000"/>
              </a:lnSpc>
              <a:spcBef>
                <a:spcPts val="1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倾听提问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与建议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070671" y="3364374"/>
            <a:ext cx="831214" cy="734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6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继续成长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0325" algn="l" rtl="0" eaLnBrk="0">
              <a:lnSpc>
                <a:spcPct val="117000"/>
              </a:lnSpc>
              <a:spcBef>
                <a:spcPts val="4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为后续实践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与竞赛准备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7629281" y="3362952"/>
            <a:ext cx="828675" cy="733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形成方法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3675" indent="-139700" algn="l" rtl="0" eaLnBrk="0">
              <a:lnSpc>
                <a:spcPct val="124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沉淀可复用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的经验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6162409" y="3363764"/>
            <a:ext cx="828039" cy="736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600" b="1" kern="0" spc="-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复盘反思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ct val="115000"/>
              </a:lnSpc>
              <a:spcBef>
                <a:spcPts val="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识别做得好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与做得不足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321795" y="190494"/>
            <a:ext cx="1136677" cy="349259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482592" y="2449722"/>
            <a:ext cx="106679" cy="2477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14" rIns="0" bIns="0"/>
          <a:lstStyle/>
          <a:p>
            <a:pPr marL="12700" algn="l" rtl="0" eaLnBrk="0">
              <a:lnSpc>
                <a:spcPct val="219000"/>
              </a:lnSpc>
              <a:spcBef>
                <a:spcPts val="6"/>
              </a:spcBef>
              <a:tabLst/>
            </a:pP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58000"/>
              </a:lnSpc>
              <a:spcBef>
                <a:spcPts val="87"/>
              </a:spcBef>
              <a:tabLst/>
            </a:pP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600" kern="0" spc="-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230000"/>
              </a:lnSpc>
              <a:spcBef>
                <a:spcPts val="181"/>
              </a:spcBef>
              <a:tabLst/>
            </a:pP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600" kern="0" spc="-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222000"/>
              </a:lnSpc>
              <a:spcBef>
                <a:spcPts val="2"/>
              </a:spcBef>
              <a:tabLst/>
            </a:pP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600" kern="0" spc="-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1289606" y="887424"/>
            <a:ext cx="8696325" cy="899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终评展示标准结构：一套清晰</a:t>
            </a:r>
            <a:r>
              <a:rPr sz="38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的汇报框架</a:t>
            </a:r>
            <a:endParaRPr sz="3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323464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让评委和同学在短时间内快速抓住项目核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95333" y="1975529"/>
            <a:ext cx="1557655" cy="269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" algn="l" rtl="0" eaLnBrk="0">
              <a:lnSpc>
                <a:spcPct val="96000"/>
              </a:lnSpc>
              <a:tabLst/>
            </a:pPr>
            <a:r>
              <a:rPr sz="1500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设计原则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96000"/>
              </a:lnSpc>
              <a:spcBef>
                <a:spcPts val="337"/>
              </a:spcBef>
              <a:tabLst>
                <a:tab pos="40576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一页只讲一个重点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7815" algn="l" rtl="0" eaLnBrk="0">
              <a:lnSpc>
                <a:spcPct val="92000"/>
              </a:lnSpc>
              <a:spcBef>
                <a:spcPts val="330"/>
              </a:spcBef>
              <a:tabLst>
                <a:tab pos="40576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先结论，后展开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165" algn="l" rtl="0" eaLnBrk="0">
              <a:lnSpc>
                <a:spcPct val="96000"/>
              </a:lnSpc>
              <a:spcBef>
                <a:spcPts val="330"/>
              </a:spcBef>
              <a:tabLst>
                <a:tab pos="40576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图表优于大段文字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115" algn="l" rtl="0" eaLnBrk="0">
              <a:lnSpc>
                <a:spcPct val="96000"/>
              </a:lnSpc>
              <a:spcBef>
                <a:spcPts val="337"/>
              </a:spcBef>
              <a:tabLst>
                <a:tab pos="40576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数据要真实准确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97815" algn="l" rtl="0" eaLnBrk="0">
              <a:lnSpc>
                <a:spcPct val="95000"/>
              </a:lnSpc>
              <a:spcBef>
                <a:spcPts val="3"/>
              </a:spcBef>
              <a:tabLst>
                <a:tab pos="4057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整体风格统一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08033" y="4368817"/>
            <a:ext cx="285708" cy="266679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14297" y="3879854"/>
            <a:ext cx="266704" cy="29207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8033" y="3390891"/>
            <a:ext cx="292079" cy="298468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0667" y="2870199"/>
            <a:ext cx="273074" cy="298468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08033" y="2368568"/>
            <a:ext cx="298449" cy="298408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2965424" y="5457612"/>
            <a:ext cx="4867909" cy="36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672"/>
              </a:lnSpc>
              <a:tabLst/>
            </a:pPr>
            <a:r>
              <a:rPr sz="2200" kern="0" spc="-8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一</a:t>
            </a:r>
            <a:r>
              <a:rPr sz="2200" kern="0" spc="35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-8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有</a:t>
            </a:r>
            <a:r>
              <a:rPr sz="2200" kern="0" spc="23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-8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框</a:t>
            </a:r>
            <a:r>
              <a:rPr sz="2200" kern="0" spc="33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-8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架 ，</a:t>
            </a:r>
            <a:r>
              <a:rPr sz="2200" kern="0" spc="25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-8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展  示 </a:t>
            </a:r>
            <a:r>
              <a:rPr sz="2200" kern="0" spc="-9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才</a:t>
            </a:r>
            <a:r>
              <a:rPr sz="2200" kern="0" spc="3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-9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不</a:t>
            </a:r>
            <a:r>
              <a:rPr sz="2200" kern="0" spc="32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-9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容  易</a:t>
            </a:r>
            <a:r>
              <a:rPr sz="2200" kern="0" spc="18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-9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乱 。</a:t>
            </a:r>
            <a:endParaRPr sz="22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8782056" y="2450848"/>
            <a:ext cx="739140" cy="2217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开场与定位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3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问题与方案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34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成果与验证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1479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商业与团队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71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迭代与展望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预留问答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7838" y="165098"/>
            <a:ext cx="463547" cy="406383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285749" y="262082"/>
            <a:ext cx="5626100" cy="303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30" baseline="-2155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8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500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《创新创业基础》实践课|第8次：项目终评展示与课程复盘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5613354" y="2341808"/>
            <a:ext cx="706755" cy="1945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0" indent="-177800" algn="l" rtl="0" eaLnBrk="0">
              <a:lnSpc>
                <a:spcPct val="96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解决方案/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9864" indent="-81914" algn="l" rtl="0" eaLnBrk="0">
              <a:lnSpc>
                <a:spcPct val="101000"/>
              </a:lnSpc>
              <a:spcBef>
                <a:spcPts val="3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不足与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迭代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7080226" y="2387372"/>
            <a:ext cx="641350" cy="1903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8750" indent="-76200" algn="l" rtl="0" eaLnBrk="0">
              <a:lnSpc>
                <a:spcPct val="103000"/>
              </a:lnSpc>
              <a:spcBef>
                <a:spcPts val="1"/>
              </a:spcBef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展望与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计划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2787692" y="2337737"/>
            <a:ext cx="636269" cy="1916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81914" algn="l" rtl="0" eaLnBrk="0">
              <a:lnSpc>
                <a:spcPct val="89000"/>
              </a:lnSpc>
              <a:tabLst/>
            </a:pP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封面与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项目定位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4464" indent="-76200" algn="l" rtl="0" eaLnBrk="0">
              <a:lnSpc>
                <a:spcPct val="101000"/>
              </a:lnSpc>
              <a:spcBef>
                <a:spcPts val="1"/>
              </a:spcBef>
              <a:tabLst/>
            </a:pP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成果与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4311685" y="2292620"/>
            <a:ext cx="485140" cy="199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2550" indent="-69850" algn="l" rtl="0" eaLnBrk="0">
              <a:lnSpc>
                <a:spcPct val="104000"/>
              </a:lnSpc>
              <a:tabLst/>
            </a:pP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214" indent="-56514" algn="l" rtl="0" eaLnBrk="0">
              <a:lnSpc>
                <a:spcPct val="101000"/>
              </a:lnSpc>
              <a:spcBef>
                <a:spcPts val="1"/>
              </a:spcBef>
              <a:tabLst/>
            </a:pPr>
            <a:r>
              <a:rPr sz="13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9747267" y="2450848"/>
            <a:ext cx="382270" cy="2218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6000"/>
              </a:lnSpc>
              <a:tabLst/>
            </a:pPr>
            <a:r>
              <a:rPr sz="1200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30</a:t>
            </a:r>
            <a:r>
              <a:rPr sz="1200" kern="0" spc="-1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秒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70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90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秒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40"/>
              </a:spcBef>
              <a:tabLst/>
            </a:pPr>
            <a:r>
              <a:rPr sz="1100" kern="0" spc="1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90</a:t>
            </a:r>
            <a:r>
              <a:rPr sz="1100" kern="0" spc="-9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秒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4604" algn="l" rtl="0" eaLnBrk="0">
              <a:lnSpc>
                <a:spcPct val="100000"/>
              </a:lnSpc>
              <a:spcBef>
                <a:spcPts val="1465"/>
              </a:spcBef>
              <a:tabLst/>
            </a:pPr>
            <a:r>
              <a:rPr sz="1200" b="1" kern="0" spc="7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60秒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6000"/>
              </a:lnSpc>
              <a:spcBef>
                <a:spcPts val="363"/>
              </a:spcBef>
              <a:tabLst/>
            </a:pPr>
            <a:r>
              <a:rPr sz="1200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30秒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2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40秒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321795" y="203221"/>
            <a:ext cx="1136677" cy="349199"/>
          </a:xfrm>
          <a:prstGeom prst="rect">
            <a:avLst/>
          </a:prstGeom>
        </p:spPr>
      </p:pic>
      <p:sp>
        <p:nvSpPr>
          <p:cNvPr id="112" name="textbox 112"/>
          <p:cNvSpPr/>
          <p:nvPr/>
        </p:nvSpPr>
        <p:spPr>
          <a:xfrm>
            <a:off x="8648705" y="1975529"/>
            <a:ext cx="1227455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5分钟展示建议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596899" y="1769118"/>
          <a:ext cx="9372600" cy="2600325"/>
        </p:xfrm>
        <a:graphic>
          <a:graphicData uri="http://schemas.openxmlformats.org/drawingml/2006/table">
            <a:tbl>
              <a:tblPr/>
              <a:tblGrid>
                <a:gridCol w="145414"/>
                <a:gridCol w="2651760"/>
                <a:gridCol w="2905760"/>
                <a:gridCol w="3669665"/>
              </a:tblGrid>
              <a:tr h="1866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54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064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16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终评展示流程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03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b="1" kern="0" spc="-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展示前准备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261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9676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700" b="1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角色分工建议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08990" algn="l" rtl="0" eaLnBrk="0">
                        <a:lnSpc>
                          <a:spcPct val="88000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小组签到与材料确认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28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8"/>
                        </a:lnSpc>
                        <a:tabLst/>
                      </a:pPr>
                      <a:r>
                        <a:rPr sz="800" kern="0" spc="-30" dirty="0">
                          <a:solidFill>
                            <a:srgbClr val="204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7"/>
                        </a:lnSpc>
                        <a:spcBef>
                          <a:spcPts val="250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104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7"/>
                        </a:lnSpc>
                        <a:spcBef>
                          <a:spcPts val="277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104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30" dirty="0">
                          <a:solidFill>
                            <a:srgbClr val="104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●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9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提前提交终版材料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" algn="l" rtl="0" eaLnBrk="0">
                        <a:lnSpc>
                          <a:spcPct val="96000"/>
                        </a:lnSpc>
                        <a:spcBef>
                          <a:spcPts val="362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检查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PPT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、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视频与原型文件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8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95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明确主讲人与辅助答辩分工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7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4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准备互评表与记录表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项目展示汇报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ct val="85000"/>
                        </a:lnSpc>
                        <a:spcBef>
                          <a:spcPts val="365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现场提问与答辩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08990" algn="l" rtl="0" eaLnBrk="0">
                        <a:lnSpc>
                          <a:spcPts val="3300"/>
                        </a:lnSpc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同伴互评打分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ct val="96000"/>
                        </a:lnSpc>
                        <a:spcBef>
                          <a:spcPts val="362"/>
                        </a:spcBef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教师点评总结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课程复盘与记录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621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>
                          <a:tab pos="1617980" algn="l"/>
                        </a:tabLst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11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主讲人：负责完整表达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5580" algn="l" rtl="0" eaLnBrk="0">
                        <a:lnSpc>
                          <a:spcPct val="95000"/>
                        </a:lnSpc>
                        <a:spcBef>
                          <a:spcPts val="335"/>
                        </a:spcBef>
                        <a:tabLst>
                          <a:tab pos="1617980" algn="l"/>
                        </a:tabLst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辅助答辩人：补充说</a:t>
                      </a: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明与回应问题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59230" algn="l" rtl="0" eaLnBrk="0">
                        <a:lnSpc>
                          <a:spcPct val="95000"/>
                        </a:lnSpc>
                        <a:spcBef>
                          <a:spcPts val="338"/>
                        </a:spcBef>
                        <a:tabLst>
                          <a:tab pos="1617980" algn="l"/>
                        </a:tabLst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计时/记录：控制时间、记录反馈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621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>
                          <a:tab pos="1617980" algn="l"/>
                        </a:tabLst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互评员：依据标准提出建议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18" name="picture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359631" y="3879854"/>
            <a:ext cx="406426" cy="412717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59631" y="3371830"/>
            <a:ext cx="400056" cy="400049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359631" y="2870199"/>
            <a:ext cx="406406" cy="400049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59631" y="2362175"/>
            <a:ext cx="406426" cy="406443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942493" y="4760485"/>
            <a:ext cx="8839200" cy="1094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时间建议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</a:t>
            </a:r>
            <a:r>
              <a:rPr sz="1300" kern="0" spc="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</a:t>
            </a:r>
            <a:r>
              <a:rPr sz="1300" kern="0" spc="-14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分钟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答</a:t>
            </a:r>
            <a:r>
              <a:rPr sz="13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1300" kern="0" spc="-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分钟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互评</a:t>
            </a:r>
            <a:r>
              <a:rPr sz="1300" kern="0" spc="-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300" kern="0" spc="-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分钟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点评</a:t>
            </a:r>
            <a:r>
              <a:rPr sz="1300" kern="0" spc="-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300" kern="0" spc="-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分钟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958975" algn="l" rtl="0" eaLnBrk="0">
              <a:lnSpc>
                <a:spcPct val="98000"/>
              </a:lnSpc>
              <a:spcBef>
                <a:spcPts val="6"/>
              </a:spcBef>
              <a:tabLst/>
            </a:pP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· 流程清晰，展示与反馈才能更有质量。</a:t>
            </a:r>
            <a:endParaRPr sz="20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995358" y="670622"/>
            <a:ext cx="7079615" cy="902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300" b="1" kern="0" spc="-5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课堂终评展示流程与组织安排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1363344" algn="l" rtl="0" eaLnBrk="0">
              <a:lnSpc>
                <a:spcPct val="92000"/>
              </a:lnSpc>
              <a:spcBef>
                <a:spcPts val="327"/>
              </a:spcBef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通过规范流程，保证展示、互评与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总结高效进行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730277" y="185836"/>
            <a:ext cx="5118100" cy="239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500" kern="0" spc="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《创新创业基础》实践课|第8次：项目终评展示与课程复盘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01240" y="126976"/>
            <a:ext cx="882607" cy="33019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165097" y="107974"/>
            <a:ext cx="431801" cy="380988"/>
            <a:chOff x="0" y="0"/>
            <a:chExt cx="431801" cy="380988"/>
          </a:xfrm>
        </p:grpSpPr>
        <p:pic>
          <p:nvPicPr>
            <p:cNvPr id="134" name="picture 13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31801" cy="380988"/>
            </a:xfrm>
            <a:prstGeom prst="rect">
              <a:avLst/>
            </a:prstGeom>
          </p:spPr>
        </p:pic>
        <p:sp>
          <p:nvSpPr>
            <p:cNvPr id="136" name="textbox 136"/>
            <p:cNvSpPr/>
            <p:nvPr/>
          </p:nvSpPr>
          <p:spPr>
            <a:xfrm>
              <a:off x="-12700" y="-12700"/>
              <a:ext cx="457834" cy="464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2400" algn="l" rtl="0" eaLnBrk="0">
                <a:lnSpc>
                  <a:spcPct val="76000"/>
                </a:lnSpc>
                <a:spcBef>
                  <a:spcPts val="3"/>
                </a:spcBef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140" name="table 140"/>
          <p:cNvGraphicFramePr>
            <a:graphicFrameLocks noGrp="1"/>
          </p:cNvGraphicFramePr>
          <p:nvPr/>
        </p:nvGraphicFramePr>
        <p:xfrm>
          <a:off x="5794346" y="2181233"/>
          <a:ext cx="4356100" cy="2672714"/>
        </p:xfrm>
        <a:graphic>
          <a:graphicData uri="http://schemas.openxmlformats.org/drawingml/2006/table">
            <a:tbl>
              <a:tblPr/>
              <a:tblGrid>
                <a:gridCol w="1006475"/>
                <a:gridCol w="755650"/>
                <a:gridCol w="2593975"/>
              </a:tblGrid>
              <a:tr h="333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4629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评价维度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0504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权重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6305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评价要点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项目价值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ts val="1421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问题真实，价值主张清晰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用户与场景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ts val="142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核心用户明确，场景具体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方案与产品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ts val="1421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解决方案合理，功能结构清楚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商业与运营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ts val="14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基本模式清晰，具备落地思考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展示表达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ts val="14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结构完整，表达清楚，有证据支撑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团队协作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ts val="142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分工明确，回答配合自然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 rot="21600000">
            <a:off x="19004" y="4972029"/>
            <a:ext cx="10566449" cy="984259"/>
            <a:chOff x="0" y="0"/>
            <a:chExt cx="10566449" cy="984259"/>
          </a:xfrm>
        </p:grpSpPr>
        <p:pic>
          <p:nvPicPr>
            <p:cNvPr id="142" name="picture 1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66449" cy="984259"/>
            </a:xfrm>
            <a:prstGeom prst="rect">
              <a:avLst/>
            </a:prstGeom>
          </p:spPr>
        </p:pic>
        <p:sp>
          <p:nvSpPr>
            <p:cNvPr id="144" name="textbox 144"/>
            <p:cNvSpPr/>
            <p:nvPr/>
          </p:nvSpPr>
          <p:spPr>
            <a:xfrm>
              <a:off x="-12700" y="-12700"/>
              <a:ext cx="10592434" cy="1042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674745" algn="l" rtl="0" eaLnBrk="0">
                <a:lnSpc>
                  <a:spcPct val="97000"/>
                </a:lnSpc>
                <a:tabLst/>
              </a:pPr>
              <a:r>
                <a:rPr sz="2600" b="1" kern="0" spc="-1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评价越具体，改进越有效。</a:t>
              </a:r>
              <a:endParaRPr sz="26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46" name="textbox 146"/>
          <p:cNvSpPr/>
          <p:nvPr/>
        </p:nvSpPr>
        <p:spPr>
          <a:xfrm>
            <a:off x="400196" y="830240"/>
            <a:ext cx="5439409" cy="824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3800" b="1" kern="0" spc="-280" dirty="0">
                <a:solidFill>
                  <a:srgbClr val="2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终评评价维度与</a:t>
            </a:r>
            <a:r>
              <a:rPr sz="3800" b="1" kern="0" spc="-270" dirty="0">
                <a:solidFill>
                  <a:srgbClr val="2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互评关注</a:t>
            </a:r>
            <a:r>
              <a:rPr sz="3800" b="1" kern="0" spc="-200" dirty="0">
                <a:solidFill>
                  <a:srgbClr val="2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53339" algn="l" rtl="0" eaLnBrk="0">
              <a:lnSpc>
                <a:spcPct val="92000"/>
              </a:lnSpc>
              <a:spcBef>
                <a:spcPts val="103"/>
              </a:spcBef>
              <a:tabLst/>
            </a:pP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评价不是挑错，而是帮助项目更完整、更有说服力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25655" y="2133618"/>
            <a:ext cx="1625599" cy="116836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603203" y="4521216"/>
            <a:ext cx="4648834" cy="424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87350" algn="l" rtl="0" eaLnBrk="0">
              <a:lnSpc>
                <a:spcPct val="95000"/>
              </a:lnSpc>
              <a:spcBef>
                <a:spcPts val="4"/>
              </a:spcBef>
              <a:tabLst>
                <a:tab pos="491490" algn="l"/>
              </a:tabLst>
            </a:pPr>
            <a:r>
              <a:rPr sz="1500" kern="0" spc="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-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互评提示</a:t>
            </a:r>
            <a:r>
              <a:rPr sz="1500" kern="0" spc="-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先肯定亮点，再提出建议；先说结论，再说明依据</a:t>
            </a: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15903" y="4533916"/>
            <a:ext cx="374681" cy="374654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6981" y="152370"/>
            <a:ext cx="431801" cy="400049"/>
          </a:xfrm>
          <a:prstGeom prst="rect">
            <a:avLst/>
          </a:prstGeom>
        </p:spPr>
      </p:pic>
      <p:sp>
        <p:nvSpPr>
          <p:cNvPr id="156" name="textbox 156"/>
          <p:cNvSpPr/>
          <p:nvPr/>
        </p:nvSpPr>
        <p:spPr>
          <a:xfrm>
            <a:off x="228628" y="240296"/>
            <a:ext cx="5509259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3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3300" kern="0" spc="10" baseline="-18941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500" b="1" kern="0" spc="1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</a:t>
            </a:r>
            <a:r>
              <a:rPr sz="1500" b="1" kern="0" spc="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8次：项目终评展示与课程复盘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6623009" y="1822422"/>
            <a:ext cx="2578174" cy="292134"/>
            <a:chOff x="0" y="0"/>
            <a:chExt cx="2578174" cy="292134"/>
          </a:xfrm>
        </p:grpSpPr>
        <p:pic>
          <p:nvPicPr>
            <p:cNvPr id="158" name="picture 15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578174" cy="292134"/>
            </a:xfrm>
            <a:prstGeom prst="rect">
              <a:avLst/>
            </a:prstGeom>
          </p:spPr>
        </p:pic>
        <p:sp>
          <p:nvSpPr>
            <p:cNvPr id="160" name="textbox 160"/>
            <p:cNvSpPr/>
            <p:nvPr/>
          </p:nvSpPr>
          <p:spPr>
            <a:xfrm>
              <a:off x="-12700" y="-12700"/>
              <a:ext cx="2604135" cy="3429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13690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500" b="1" kern="0" spc="1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课堂评价参考(100</a:t>
              </a:r>
              <a:r>
                <a:rPr sz="1500" b="1" kern="0" spc="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分)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62" name="textbox 162"/>
          <p:cNvSpPr/>
          <p:nvPr/>
        </p:nvSpPr>
        <p:spPr>
          <a:xfrm>
            <a:off x="1847817" y="1790693"/>
            <a:ext cx="1975485" cy="292734"/>
          </a:xfrm>
          <a:prstGeom prst="rect">
            <a:avLst/>
          </a:prstGeom>
          <a:solidFill>
            <a:srgbClr val="04308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0579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5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评价维度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2127302" y="3902374"/>
            <a:ext cx="1403985" cy="394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6554" algn="l" rtl="0" eaLnBrk="0">
              <a:lnSpc>
                <a:spcPct val="96000"/>
              </a:lnSpc>
              <a:tabLst/>
            </a:pPr>
            <a:r>
              <a:rPr sz="1200" b="1" kern="0" spc="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展示表达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47"/>
              </a:lnSpc>
              <a:spcBef>
                <a:spcPts val="279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是否清楚、流畅、有重点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3841767" y="3902374"/>
            <a:ext cx="1402080" cy="393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9254" algn="l" rtl="0" eaLnBrk="0">
              <a:lnSpc>
                <a:spcPct val="96000"/>
              </a:lnSpc>
              <a:tabLst/>
            </a:pPr>
            <a:r>
              <a:rPr sz="1200" b="1" kern="0" spc="1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8"/>
              </a:lnSpc>
              <a:spcBef>
                <a:spcPts val="3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是否分工合理、配合默契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3886148" y="2720676"/>
            <a:ext cx="1302385" cy="410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8604" algn="l" rtl="0" eaLnBrk="0">
              <a:lnSpc>
                <a:spcPct val="95000"/>
              </a:lnSpc>
              <a:tabLst/>
            </a:pPr>
            <a:r>
              <a:rPr sz="1200" b="1" kern="0" spc="-2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方案与产品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是否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可行、是否有亮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423402" y="171432"/>
            <a:ext cx="1073186" cy="349258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666800" y="3889962"/>
            <a:ext cx="1028700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5254" algn="l" rtl="0" eaLnBrk="0">
              <a:lnSpc>
                <a:spcPct val="96000"/>
              </a:lnSpc>
              <a:tabLst/>
            </a:pPr>
            <a:r>
              <a:rPr sz="1300" b="1" kern="0" spc="-10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商业与运营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51"/>
              </a:lnSpc>
              <a:spcBef>
                <a:spcPts val="267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是否具有基本逻辑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673064" y="2721286"/>
            <a:ext cx="1021714" cy="405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ct val="96000"/>
              </a:lnSpc>
              <a:tabLst/>
            </a:pPr>
            <a:r>
              <a:rPr sz="1200" b="1" kern="0" spc="-2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项目价值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5"/>
              </a:lnSpc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是否解决真实问题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298904" y="3498866"/>
            <a:ext cx="482657" cy="330197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90584" y="3467077"/>
            <a:ext cx="387315" cy="387381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03325" y="2273322"/>
            <a:ext cx="380945" cy="380987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387876" y="2260594"/>
            <a:ext cx="311084" cy="406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1857" y="2235198"/>
            <a:ext cx="6565888" cy="2235199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933398" y="828284"/>
            <a:ext cx="8787765" cy="5039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3800" b="1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课程复盘框架：从项</a:t>
            </a:r>
            <a:r>
              <a:rPr sz="3800" b="1" kern="0" spc="-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目经历中沉淀方法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2228850" algn="l" rtl="0" eaLnBrk="0">
              <a:lnSpc>
                <a:spcPct val="92000"/>
              </a:lnSpc>
              <a:spcBef>
                <a:spcPts val="407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复盘不只是回顾，更是把经验变成下一次能用的方法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2682239" algn="l" rtl="0" eaLnBrk="0">
              <a:lnSpc>
                <a:spcPts val="2664"/>
              </a:lnSpc>
              <a:spcBef>
                <a:spcPts val="1599"/>
              </a:spcBef>
              <a:tabLst/>
            </a:pPr>
            <a:r>
              <a:rPr sz="2600" b="1" kern="0" spc="50" baseline="25851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复盘四问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6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2100" b="1" kern="0" spc="40" baseline="-126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建议复盘维度</a:t>
            </a:r>
            <a:endParaRPr sz="2100" baseline="-1264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4000"/>
              </a:lnSpc>
              <a:spcBef>
                <a:spcPts val="531"/>
              </a:spcBef>
              <a:tabLst/>
            </a:pPr>
            <a:r>
              <a:rPr sz="3000" kern="0" spc="-20" baseline="-3472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</a:t>
            </a:r>
            <a:r>
              <a:rPr sz="19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做对了什</a:t>
            </a:r>
            <a:r>
              <a:rPr sz="19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么?</a:t>
            </a:r>
            <a:r>
              <a:rPr sz="1900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4300" kern="0" spc="-30" baseline="-7268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9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遇到了什么问题?</a:t>
            </a:r>
            <a:r>
              <a:rPr sz="1900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600" kern="0" spc="-30" baseline="-651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问题发现</a:t>
            </a:r>
            <a:endParaRPr sz="1600" baseline="-6511" dirty="0">
              <a:latin typeface="SimHei"/>
              <a:ea typeface="SimHei"/>
              <a:cs typeface="SimHei"/>
            </a:endParaRPr>
          </a:p>
          <a:p>
            <a:pPr marL="869950" algn="l" rtl="0" eaLnBrk="0">
              <a:lnSpc>
                <a:spcPct val="88000"/>
              </a:lnSpc>
              <a:spcBef>
                <a:spcPts val="9"/>
              </a:spcBef>
              <a:tabLst/>
            </a:pPr>
            <a:r>
              <a:rPr sz="1600" kern="0" spc="-20" baseline="325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用户洞察、方案设计、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资料不足、逻辑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不清、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869950" algn="l" rtl="0" eaLnBrk="0">
              <a:lnSpc>
                <a:spcPts val="1501"/>
              </a:lnSpc>
              <a:spcBef>
                <a:spcPts val="378"/>
              </a:spcBef>
              <a:tabLst/>
            </a:pPr>
            <a:r>
              <a:rPr sz="1600" kern="0" spc="40" baseline="875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团队协作、展示表达中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</a:t>
            </a:r>
            <a:r>
              <a:rPr sz="1800" kern="0" spc="30" baseline="-379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执行拖延、验证不够等</a:t>
            </a:r>
            <a:endParaRPr sz="1800" baseline="-3791" dirty="0">
              <a:latin typeface="SimHei"/>
              <a:ea typeface="SimHei"/>
              <a:cs typeface="SimHei"/>
            </a:endParaRPr>
          </a:p>
          <a:p>
            <a:pPr marL="869950" algn="l" rtl="0" eaLnBrk="0">
              <a:lnSpc>
                <a:spcPts val="1566"/>
              </a:lnSpc>
              <a:spcBef>
                <a:spcPts val="94"/>
              </a:spcBef>
              <a:tabLst/>
            </a:pPr>
            <a:r>
              <a:rPr sz="1600" kern="0" spc="50" baseline="1602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的有效做法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                                        </a:t>
            </a:r>
            <a:r>
              <a:rPr sz="1600" kern="0" spc="50" baseline="-676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方案打磨</a:t>
            </a:r>
            <a:endParaRPr sz="1600" baseline="-6762" dirty="0">
              <a:latin typeface="SimHei"/>
              <a:ea typeface="SimHei"/>
              <a:cs typeface="SimHei"/>
            </a:endParaRPr>
          </a:p>
          <a:p>
            <a:pPr marL="869950" indent="-857250" algn="l" rtl="0" eaLnBrk="0">
              <a:lnSpc>
                <a:spcPct val="120000"/>
              </a:lnSpc>
              <a:spcBef>
                <a:spcPts val="1354"/>
              </a:spcBef>
              <a:tabLst/>
            </a:pP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           </a:t>
            </a:r>
            <a:r>
              <a:rPr sz="19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为什么会这样?</a:t>
            </a:r>
            <a:r>
              <a:rPr sz="1900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</a:t>
            </a:r>
            <a:r>
              <a:rPr sz="19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下一次如何改进?</a:t>
            </a:r>
            <a:r>
              <a:rPr sz="1900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600" kern="0" spc="-30" baseline="5859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商业思考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分工、流程、资源、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明确节点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、补强证据、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800" kern="0" spc="-10" baseline="11575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1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baseline="1157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</a:t>
            </a:r>
            <a:endParaRPr sz="1800" baseline="11575" dirty="0">
              <a:latin typeface="SimHei"/>
              <a:ea typeface="SimHei"/>
              <a:cs typeface="SimHei"/>
            </a:endParaRPr>
          </a:p>
          <a:p>
            <a:pPr marL="869950" algn="l" rtl="0" eaLnBrk="0">
              <a:lnSpc>
                <a:spcPct val="85000"/>
              </a:lnSpc>
              <a:spcBef>
                <a:spcPts val="378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时间、沟通等原因分析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优化分工、提前演练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677150" algn="l" rtl="0" eaLnBrk="0">
              <a:lnSpc>
                <a:spcPct val="95000"/>
              </a:lnSpc>
              <a:spcBef>
                <a:spcPts val="335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路演表达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606550" algn="l" rtl="0" eaLnBrk="0">
              <a:lnSpc>
                <a:spcPct val="92000"/>
              </a:lnSpc>
              <a:spcBef>
                <a:spcPts val="289"/>
              </a:spcBef>
              <a:tabLst/>
            </a:pPr>
            <a:r>
              <a:rPr sz="1300" kern="0" spc="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好的复盘，既能总结成绩，也能看见不足。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517650" algn="l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2200" kern="0" spc="22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一</a:t>
            </a:r>
            <a:r>
              <a:rPr sz="2200" kern="0" spc="-10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200" kern="0" spc="22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把经验沉淀下来，成长才不会停在这</a:t>
            </a:r>
            <a:r>
              <a:rPr sz="2200" kern="0" spc="21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一 次。</a:t>
            </a:r>
            <a:endParaRPr sz="22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781028" y="249354"/>
            <a:ext cx="5130800" cy="239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500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《创新创业基础》实践课|第8次：</a:t>
            </a:r>
            <a:r>
              <a:rPr sz="1500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328164" y="184160"/>
            <a:ext cx="1136677" cy="355593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165097" y="152371"/>
            <a:ext cx="469917" cy="406443"/>
            <a:chOff x="0" y="0"/>
            <a:chExt cx="469917" cy="406443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69917" cy="406443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-12700" y="-12700"/>
              <a:ext cx="495934" cy="5022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52400" algn="l" rtl="0" eaLnBrk="0">
                <a:lnSpc>
                  <a:spcPct val="81000"/>
                </a:lnSpc>
                <a:spcBef>
                  <a:spcPts val="4"/>
                </a:spcBef>
                <a:tabLst/>
              </a:pPr>
              <a:r>
                <a:rPr sz="23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</a:t>
              </a:r>
              <a:endParaRPr sz="23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98" name="textbox 198"/>
          <p:cNvSpPr/>
          <p:nvPr/>
        </p:nvSpPr>
        <p:spPr>
          <a:xfrm>
            <a:off x="8597849" y="4183463"/>
            <a:ext cx="586105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8597848" y="2773758"/>
            <a:ext cx="576580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用户研究</a:t>
            </a:r>
            <a:endParaRPr sz="11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25375" y="4762473"/>
            <a:ext cx="10560079" cy="1193815"/>
            <a:chOff x="0" y="0"/>
            <a:chExt cx="10560079" cy="1193815"/>
          </a:xfrm>
        </p:grpSpPr>
        <p:pic>
          <p:nvPicPr>
            <p:cNvPr id="204" name="picture 20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60079" cy="1193815"/>
            </a:xfrm>
            <a:prstGeom prst="rect">
              <a:avLst/>
            </a:prstGeom>
          </p:spPr>
        </p:pic>
        <p:sp>
          <p:nvSpPr>
            <p:cNvPr id="206" name="textbox 206"/>
            <p:cNvSpPr/>
            <p:nvPr/>
          </p:nvSpPr>
          <p:spPr>
            <a:xfrm>
              <a:off x="-12700" y="-12700"/>
              <a:ext cx="10586084" cy="12319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1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736850" algn="l" rtl="0" eaLnBrk="0">
                <a:lnSpc>
                  <a:spcPct val="92000"/>
                </a:lnSpc>
                <a:tabLst/>
              </a:pPr>
              <a:r>
                <a:rPr sz="1700" kern="0" spc="15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—</a:t>
              </a:r>
              <a:r>
                <a:rPr sz="1700" kern="0" spc="33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700" kern="0" spc="15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一</a:t>
              </a:r>
              <a:r>
                <a:rPr sz="1700" kern="0" spc="15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700" b="1" kern="0" spc="15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过程做扎实，结课展示更有底</a:t>
              </a:r>
              <a:r>
                <a:rPr sz="1700" b="1" kern="0" spc="14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气。</a:t>
              </a:r>
              <a:r>
                <a:rPr sz="1700" kern="0" spc="51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700" b="1" kern="0" spc="14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—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654300" algn="l" rtl="0" eaLnBrk="0">
                <a:lnSpc>
                  <a:spcPct val="97000"/>
                </a:lnSpc>
                <a:spcBef>
                  <a:spcPts val="5"/>
                </a:spcBef>
                <a:tabLst/>
              </a:pPr>
              <a:r>
                <a:rPr sz="2200" kern="0" spc="320" dirty="0">
                  <a:solidFill>
                    <a:srgbClr val="FFFFFF">
                      <a:alpha val="100000"/>
                    </a:srgbClr>
                  </a:solidFill>
                  <a:latin typeface="STXingkai"/>
                  <a:ea typeface="STXingkai"/>
                  <a:cs typeface="STXingkai"/>
                </a:rPr>
                <a:t>一   把成果做成材料，</a:t>
              </a:r>
              <a:r>
                <a:rPr sz="2200" kern="0" spc="310" dirty="0">
                  <a:solidFill>
                    <a:srgbClr val="FFFFFF">
                      <a:alpha val="100000"/>
                    </a:srgbClr>
                  </a:solidFill>
                  <a:latin typeface="STXingkai"/>
                  <a:ea typeface="STXingkai"/>
                  <a:cs typeface="STXingkai"/>
                </a:rPr>
                <a:t>把经验写成方法。</a:t>
              </a:r>
              <a:endParaRPr sz="2200" dirty="0">
                <a:latin typeface="STXingkai"/>
                <a:ea typeface="STXingkai"/>
                <a:cs typeface="STXingkai"/>
              </a:endParaRPr>
            </a:p>
          </p:txBody>
        </p:sp>
      </p:grpSp>
      <p:sp>
        <p:nvSpPr>
          <p:cNvPr id="208" name="textbox 208"/>
          <p:cNvSpPr/>
          <p:nvPr/>
        </p:nvSpPr>
        <p:spPr>
          <a:xfrm>
            <a:off x="519786" y="751580"/>
            <a:ext cx="6767830" cy="674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b="1" kern="0" spc="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成果样例展示：终版项目包</a:t>
            </a:r>
            <a:r>
              <a:rPr sz="3000" b="1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应包含什么?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19684" algn="l" rtl="0" eaLnBrk="0">
              <a:lnSpc>
                <a:spcPct val="94000"/>
              </a:lnSpc>
              <a:spcBef>
                <a:spcPts val="306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展示本次实践课建议形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成的结课成果样式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10" name="table 210"/>
          <p:cNvGraphicFramePr>
            <a:graphicFrameLocks noGrp="1"/>
          </p:cNvGraphicFramePr>
          <p:nvPr/>
        </p:nvGraphicFramePr>
        <p:xfrm>
          <a:off x="587353" y="3508358"/>
          <a:ext cx="3485515" cy="1041400"/>
        </p:xfrm>
        <a:graphic>
          <a:graphicData uri="http://schemas.openxmlformats.org/drawingml/2006/table">
            <a:tbl>
              <a:tblPr/>
              <a:tblGrid>
                <a:gridCol w="1024889"/>
                <a:gridCol w="863600"/>
                <a:gridCol w="1597025"/>
              </a:tblGrid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229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0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评价项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81000"/>
                        </a:lnSpc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得分(1-10)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659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1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建议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项目创新性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亮点突出，</a:t>
                      </a:r>
                      <a:r>
                        <a:rPr sz="800" kern="0" spc="0" dirty="0">
                          <a:solidFill>
                            <a:srgbClr val="0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可进一步细化创新点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方案可行性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方案完整，建议补充数据支撑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展示表现力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表达清晰，</a:t>
                      </a:r>
                      <a:r>
                        <a:rPr sz="800" kern="0" spc="-1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建议优化时间分配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团队协作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843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分工合理，</a:t>
                      </a:r>
                      <a:r>
                        <a:rPr sz="800" kern="0" spc="-1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协作高效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总分</a:t>
                      </a:r>
                      <a:r>
                        <a:rPr sz="800" kern="0" spc="20" dirty="0">
                          <a:solidFill>
                            <a:srgbClr val="202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(平均分)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1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8.</a:t>
                      </a:r>
                      <a:r>
                        <a:rPr sz="800" kern="0" spc="-20" dirty="0">
                          <a:solidFill>
                            <a:srgbClr val="101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3584" algn="l" rtl="0" eaLnBrk="0">
                        <a:lnSpc>
                          <a:spcPts val="57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800" kern="0" spc="-10" dirty="0">
                          <a:solidFill>
                            <a:srgbClr val="104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2" name="textbox 212"/>
          <p:cNvSpPr/>
          <p:nvPr/>
        </p:nvSpPr>
        <p:spPr>
          <a:xfrm>
            <a:off x="5854748" y="3524261"/>
            <a:ext cx="1943100" cy="1073150"/>
          </a:xfrm>
          <a:prstGeom prst="rect">
            <a:avLst/>
          </a:prstGeom>
          <a:solidFill>
            <a:srgbClr val="F0F4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ts val="852"/>
              </a:lnSpc>
              <a:spcBef>
                <a:spcPts val="5"/>
              </a:spcBef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学到了</a:t>
            </a:r>
            <a:r>
              <a:rPr sz="7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…</a:t>
            </a:r>
            <a:r>
              <a:rPr sz="7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,提升了</a:t>
            </a:r>
            <a:r>
              <a:rPr sz="7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.</a:t>
            </a:r>
            <a:r>
              <a:rPr sz="7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.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ts val="852"/>
              </a:lnSpc>
              <a:spcBef>
                <a:spcPts val="213"/>
              </a:spcBef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我发现自己在……方面还需要改进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75564" algn="l" rtl="0" eaLnBrk="0">
              <a:lnSpc>
                <a:spcPts val="852"/>
              </a:lnSpc>
              <a:spcBef>
                <a:spcPts val="1347"/>
              </a:spcBef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我主要负责……,为团队做了……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ts val="852"/>
              </a:lnSpc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下次我会……,争取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做到……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8528094" y="3092450"/>
            <a:ext cx="1142364" cy="1417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27965" algn="l" rtl="0" eaLnBrk="0">
              <a:lnSpc>
                <a:spcPct val="96000"/>
              </a:lnSpc>
              <a:spcBef>
                <a:spcPts val="3"/>
              </a:spcBef>
              <a:tabLst>
                <a:tab pos="3295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逻辑清楚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27965" algn="l" rtl="0" eaLnBrk="0">
              <a:lnSpc>
                <a:spcPct val="96000"/>
              </a:lnSpc>
              <a:spcBef>
                <a:spcPts val="1580"/>
              </a:spcBef>
              <a:tabLst>
                <a:tab pos="32956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页面规范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27965" algn="l" rtl="0" eaLnBrk="0">
              <a:lnSpc>
                <a:spcPct val="96000"/>
              </a:lnSpc>
              <a:spcBef>
                <a:spcPts val="1502"/>
              </a:spcBef>
              <a:tabLst>
                <a:tab pos="32956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反思具体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34315" algn="l" rtl="0" eaLnBrk="0">
              <a:lnSpc>
                <a:spcPct val="95000"/>
              </a:lnSpc>
              <a:spcBef>
                <a:spcPts val="2"/>
              </a:spcBef>
              <a:tabLst>
                <a:tab pos="32956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建议可执行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16" name="picture 2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40794" y="4260843"/>
            <a:ext cx="222218" cy="215889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540794" y="3879854"/>
            <a:ext cx="215848" cy="215889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540794" y="3492472"/>
            <a:ext cx="215848" cy="215949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540794" y="3105150"/>
            <a:ext cx="215848" cy="215889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6092" y="120642"/>
            <a:ext cx="444436" cy="393715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266744" y="221334"/>
            <a:ext cx="5502275" cy="27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000" kern="0" spc="60" baseline="-138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9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4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《创新创业基础》实践课|第8次：项目终评展示与课程复盘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661974" y="2509851"/>
            <a:ext cx="3354070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3"/>
              </a:lnSpc>
              <a:tabLst/>
            </a:pP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项目展示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项目说明文档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关键截图/附件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分工信息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870"/>
              </a:lnSpc>
              <a:tabLst/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完整演示文稿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项目详情与说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支撑材料与证据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000" kern="0" spc="40" baseline="16759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成员分工与贡献</a:t>
            </a:r>
            <a:endParaRPr sz="1000" baseline="16759" dirty="0">
              <a:latin typeface="SimHei"/>
              <a:ea typeface="SimHei"/>
              <a:cs typeface="SimHei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8420077" y="1695445"/>
            <a:ext cx="1708201" cy="425444"/>
            <a:chOff x="0" y="0"/>
            <a:chExt cx="1708201" cy="425444"/>
          </a:xfrm>
        </p:grpSpPr>
        <p:pic>
          <p:nvPicPr>
            <p:cNvPr id="230" name="picture 2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708201" cy="425444"/>
            </a:xfrm>
            <a:prstGeom prst="rect">
              <a:avLst/>
            </a:prstGeom>
          </p:spPr>
        </p:pic>
        <p:sp>
          <p:nvSpPr>
            <p:cNvPr id="232" name="textbox 232"/>
            <p:cNvSpPr/>
            <p:nvPr/>
          </p:nvSpPr>
          <p:spPr>
            <a:xfrm>
              <a:off x="-12700" y="-12700"/>
              <a:ext cx="1734185" cy="4743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5140" algn="l" rtl="0" eaLnBrk="0">
                <a:lnSpc>
                  <a:spcPct val="95000"/>
                </a:lnSpc>
                <a:tabLst/>
              </a:pP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优秀成果特征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4483112" y="3524261"/>
            <a:ext cx="1270029" cy="520692"/>
            <a:chOff x="0" y="0"/>
            <a:chExt cx="1270029" cy="520692"/>
          </a:xfrm>
        </p:grpSpPr>
        <p:pic>
          <p:nvPicPr>
            <p:cNvPr id="234" name="picture 23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1270029" cy="520692"/>
            </a:xfrm>
            <a:prstGeom prst="rect">
              <a:avLst/>
            </a:prstGeom>
          </p:spPr>
        </p:pic>
        <p:sp>
          <p:nvSpPr>
            <p:cNvPr id="236" name="textbox 236"/>
            <p:cNvSpPr/>
            <p:nvPr/>
          </p:nvSpPr>
          <p:spPr>
            <a:xfrm>
              <a:off x="-12700" y="-12700"/>
              <a:ext cx="1296035" cy="5581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01320" algn="l" rtl="0" eaLnBrk="0">
                <a:lnSpc>
                  <a:spcPts val="852"/>
                </a:lnSpc>
                <a:spcBef>
                  <a:spcPts val="2"/>
                </a:spcBef>
                <a:tabLst/>
              </a:pPr>
              <a:r>
                <a:rPr sz="700" b="1" kern="0" spc="3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我最重要的收获</a:t>
              </a:r>
              <a:endParaRPr sz="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76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01320" algn="l" rtl="0" eaLnBrk="0">
                <a:lnSpc>
                  <a:spcPts val="852"/>
                </a:lnSpc>
                <a:tabLst/>
              </a:pPr>
              <a:r>
                <a:rPr sz="700" b="1" kern="0" spc="3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我还需提升</a:t>
              </a:r>
              <a:endParaRPr sz="7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4489482" y="4089410"/>
            <a:ext cx="1257288" cy="507964"/>
            <a:chOff x="0" y="0"/>
            <a:chExt cx="1257288" cy="507964"/>
          </a:xfrm>
        </p:grpSpPr>
        <p:pic>
          <p:nvPicPr>
            <p:cNvPr id="238" name="picture 23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257288" cy="507964"/>
            </a:xfrm>
            <a:prstGeom prst="rect">
              <a:avLst/>
            </a:prstGeom>
          </p:spPr>
        </p:pic>
        <p:sp>
          <p:nvSpPr>
            <p:cNvPr id="240" name="textbox 240"/>
            <p:cNvSpPr/>
            <p:nvPr/>
          </p:nvSpPr>
          <p:spPr>
            <a:xfrm>
              <a:off x="-12700" y="-12700"/>
              <a:ext cx="1282700" cy="5454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94970" algn="l" rtl="0" eaLnBrk="0">
                <a:lnSpc>
                  <a:spcPts val="852"/>
                </a:lnSpc>
                <a:spcBef>
                  <a:spcPts val="4"/>
                </a:spcBef>
                <a:tabLst/>
              </a:pPr>
              <a:r>
                <a:rPr sz="700" b="1" kern="0" spc="30" dirty="0">
                  <a:solidFill>
                    <a:srgbClr val="103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我对团队的责献</a:t>
              </a:r>
              <a:endParaRPr sz="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86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93065" algn="l" rtl="0" eaLnBrk="0">
                <a:lnSpc>
                  <a:spcPts val="852"/>
                </a:lnSpc>
                <a:tabLst/>
              </a:pPr>
              <a:r>
                <a:rPr sz="700" kern="0" spc="40" dirty="0">
                  <a:solidFill>
                    <a:srgbClr val="102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我下次会怎么做</a:t>
              </a:r>
              <a:endParaRPr sz="7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42" name="textbox 242"/>
          <p:cNvSpPr/>
          <p:nvPr/>
        </p:nvSpPr>
        <p:spPr>
          <a:xfrm>
            <a:off x="8528094" y="2317746"/>
            <a:ext cx="979169" cy="649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34315" algn="l" rtl="0" eaLnBrk="0">
              <a:lnSpc>
                <a:spcPct val="95000"/>
              </a:lnSpc>
              <a:tabLst>
                <a:tab pos="32956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结构完整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27965" algn="l" rtl="0" eaLnBrk="0">
              <a:lnSpc>
                <a:spcPct val="96000"/>
              </a:lnSpc>
              <a:spcBef>
                <a:spcPts val="1"/>
              </a:spcBef>
              <a:tabLst>
                <a:tab pos="3295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内容真实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540794" y="2717828"/>
            <a:ext cx="215848" cy="215889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540794" y="2330446"/>
            <a:ext cx="222218" cy="222283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4413292" y="1562103"/>
            <a:ext cx="1667510" cy="394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67665" algn="l" rtl="0" eaLnBrk="0">
              <a:lnSpc>
                <a:spcPct val="95000"/>
              </a:lnSpc>
              <a:spcBef>
                <a:spcPts val="1"/>
              </a:spcBef>
              <a:tabLst>
                <a:tab pos="440055" algn="l"/>
              </a:tabLst>
            </a:pPr>
            <a:r>
              <a:rPr sz="12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课程复盘报告示例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425992" y="1574803"/>
            <a:ext cx="355569" cy="349259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4413292" y="3149574"/>
            <a:ext cx="1666875" cy="395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67665" algn="l" rtl="0" eaLnBrk="0">
              <a:lnSpc>
                <a:spcPct val="96000"/>
              </a:lnSpc>
              <a:spcBef>
                <a:spcPts val="4"/>
              </a:spcBef>
              <a:tabLst>
                <a:tab pos="440055" algn="l"/>
              </a:tabLst>
            </a:pPr>
            <a:r>
              <a:rPr sz="12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个人反思记录示例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425992" y="3162274"/>
            <a:ext cx="355569" cy="349259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533448" y="3149574"/>
            <a:ext cx="1508125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74015" algn="l" rtl="0" eaLnBrk="0">
              <a:lnSpc>
                <a:spcPct val="96000"/>
              </a:lnSpc>
              <a:spcBef>
                <a:spcPts val="4"/>
              </a:spcBef>
              <a:tabLst>
                <a:tab pos="440055" algn="l"/>
              </a:tabLst>
            </a:pPr>
            <a:r>
              <a:rPr sz="12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小组互评表示例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46148" y="3162274"/>
            <a:ext cx="361940" cy="342925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546083" y="1568437"/>
            <a:ext cx="1496060" cy="38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96000"/>
              </a:lnSpc>
              <a:spcBef>
                <a:spcPts val="5"/>
              </a:spcBef>
              <a:tabLst>
                <a:tab pos="421005" algn="l"/>
              </a:tabLst>
            </a:pPr>
            <a:r>
              <a:rPr sz="12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终版项目包示例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62" name="picture 26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58783" y="1581137"/>
            <a:ext cx="349305" cy="342925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378461" y="1943124"/>
            <a:ext cx="825487" cy="488903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248434" y="1943124"/>
            <a:ext cx="761996" cy="488903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4483112" y="1968519"/>
            <a:ext cx="806482" cy="444506"/>
            <a:chOff x="0" y="0"/>
            <a:chExt cx="806482" cy="444506"/>
          </a:xfrm>
        </p:grpSpPr>
        <p:pic>
          <p:nvPicPr>
            <p:cNvPr id="268" name="picture 26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806482" cy="444506"/>
            </a:xfrm>
            <a:prstGeom prst="rect">
              <a:avLst/>
            </a:prstGeom>
          </p:spPr>
        </p:pic>
        <p:sp>
          <p:nvSpPr>
            <p:cNvPr id="270" name="textbox 270"/>
            <p:cNvSpPr/>
            <p:nvPr/>
          </p:nvSpPr>
          <p:spPr>
            <a:xfrm>
              <a:off x="-12700" y="-12700"/>
              <a:ext cx="832485" cy="4826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5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0820" algn="l" rtl="0" eaLnBrk="0">
                <a:lnSpc>
                  <a:spcPts val="860"/>
                </a:lnSpc>
                <a:tabLst/>
              </a:pPr>
              <a:r>
                <a:rPr sz="700" b="1" kern="0" spc="60" dirty="0">
                  <a:solidFill>
                    <a:srgbClr val="102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本组收获</a:t>
              </a:r>
              <a:endParaRPr sz="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72" name="picture 27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467887" y="152371"/>
            <a:ext cx="1041334" cy="342925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7092927" y="1962125"/>
            <a:ext cx="704875" cy="450899"/>
            <a:chOff x="0" y="0"/>
            <a:chExt cx="704875" cy="450899"/>
          </a:xfrm>
        </p:grpSpPr>
        <p:pic>
          <p:nvPicPr>
            <p:cNvPr id="274" name="picture 27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704875" cy="450899"/>
            </a:xfrm>
            <a:prstGeom prst="rect">
              <a:avLst/>
            </a:prstGeom>
          </p:spPr>
        </p:pic>
        <p:sp>
          <p:nvSpPr>
            <p:cNvPr id="276" name="textbox 276"/>
            <p:cNvSpPr/>
            <p:nvPr/>
          </p:nvSpPr>
          <p:spPr>
            <a:xfrm>
              <a:off x="-12700" y="-12700"/>
              <a:ext cx="730884" cy="4895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60020" algn="l" rtl="0" eaLnBrk="0">
                <a:lnSpc>
                  <a:spcPts val="863"/>
                </a:lnSpc>
                <a:spcBef>
                  <a:spcPts val="4"/>
                </a:spcBef>
                <a:tabLst/>
              </a:pPr>
              <a:r>
                <a:rPr sz="700" b="1" kern="0" spc="70" dirty="0">
                  <a:solidFill>
                    <a:srgbClr val="102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后续计划</a:t>
              </a:r>
              <a:endParaRPr sz="7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78" name="textbox 278"/>
          <p:cNvSpPr/>
          <p:nvPr/>
        </p:nvSpPr>
        <p:spPr>
          <a:xfrm>
            <a:off x="4527533" y="2479783"/>
            <a:ext cx="457200" cy="507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2"/>
              </a:lnSpc>
              <a:tabLst/>
            </a:pPr>
            <a:r>
              <a:rPr sz="600" kern="0" spc="2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3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知识技能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738"/>
              </a:lnSpc>
              <a:spcBef>
                <a:spcPts val="103"/>
              </a:spcBef>
              <a:tabLst/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方法工具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740"/>
              </a:lnSpc>
              <a:spcBef>
                <a:spcPts val="464"/>
              </a:spcBef>
              <a:tabLst/>
            </a:pPr>
            <a:r>
              <a:rPr sz="600" kern="0" spc="2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3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2"/>
              </a:lnSpc>
              <a:tabLst/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其他收获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7150087" y="2479783"/>
            <a:ext cx="56197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2"/>
              </a:lnSpc>
              <a:tabLst/>
            </a:pPr>
            <a:r>
              <a:rPr sz="600" kern="0" spc="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</a:t>
            </a:r>
            <a:r>
              <a:rPr sz="600" kern="0" spc="-14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600" kern="0" spc="-16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步目标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855"/>
              </a:lnSpc>
              <a:spcBef>
                <a:spcPts val="209"/>
              </a:spcBef>
              <a:tabLst/>
            </a:pP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行动计划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2"/>
              </a:lnSpc>
              <a:tabLst/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时间安排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5441992" y="2479535"/>
            <a:ext cx="551180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0"/>
              </a:lnSpc>
              <a:tabLst/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4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遇到的困难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858"/>
              </a:lnSpc>
              <a:spcBef>
                <a:spcPts val="216"/>
              </a:spcBef>
              <a:tabLst/>
            </a:pPr>
            <a:r>
              <a:rPr sz="700" kern="0" spc="-6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19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6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原因分析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2"/>
              </a:lnSpc>
              <a:tabLst/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影响与后果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6318230" y="2473064"/>
            <a:ext cx="478155" cy="401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700" kern="0" spc="-5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6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5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改进方向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740"/>
              </a:lnSpc>
              <a:spcBef>
                <a:spcPts val="299"/>
              </a:spcBef>
              <a:tabLst/>
            </a:pPr>
            <a:r>
              <a:rPr sz="600" kern="0" spc="4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1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40" dirty="0">
                <a:solidFill>
                  <a:srgbClr val="2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改进描施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所需支持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286" name="picture 28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838227" y="2076434"/>
            <a:ext cx="349199" cy="368320"/>
          </a:xfrm>
          <a:prstGeom prst="rect">
            <a:avLst/>
          </a:prstGeom>
        </p:spPr>
      </p:pic>
      <p:pic>
        <p:nvPicPr>
          <p:cNvPr id="288" name="picture 28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3511532" y="2108223"/>
            <a:ext cx="342935" cy="285741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790696" y="2082828"/>
            <a:ext cx="285708" cy="342865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2679675" y="2114557"/>
            <a:ext cx="292079" cy="2794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2851183" y="4519482"/>
            <a:ext cx="5400675" cy="1273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7025" algn="l" rtl="0" eaLnBrk="0">
              <a:lnSpc>
                <a:spcPct val="98000"/>
              </a:lnSpc>
              <a:tabLst/>
            </a:pPr>
            <a:r>
              <a:rPr sz="1900" b="1" kern="0" spc="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下一步：进入项目终评展示与课程收束总结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813"/>
              </a:lnSpc>
              <a:spcBef>
                <a:spcPts val="3"/>
              </a:spcBef>
              <a:tabLst/>
            </a:pP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一</a:t>
            </a:r>
            <a:r>
              <a:rPr sz="2300" kern="0" spc="21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把</a:t>
            </a:r>
            <a:r>
              <a:rPr sz="2300" kern="0" spc="35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细</a:t>
            </a:r>
            <a:r>
              <a:rPr sz="2300" kern="0" spc="27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节</a:t>
            </a:r>
            <a:r>
              <a:rPr sz="2300" kern="0" spc="31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做</a:t>
            </a:r>
            <a:r>
              <a:rPr sz="2300" kern="0" spc="40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好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，</a:t>
            </a:r>
            <a:r>
              <a:rPr sz="2300" kern="0" spc="32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展  示  才</a:t>
            </a:r>
            <a:r>
              <a:rPr sz="2300" kern="0" spc="26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4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更 </a:t>
            </a:r>
            <a:r>
              <a:rPr sz="2300" kern="0" spc="-15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从</a:t>
            </a:r>
            <a:r>
              <a:rPr sz="2300" kern="0" spc="39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5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容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2300" kern="0" spc="-150" dirty="0">
                <a:solidFill>
                  <a:srgbClr val="FFFFFF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。</a:t>
            </a:r>
            <a:endParaRPr sz="23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2153572" y="828857"/>
            <a:ext cx="6614794" cy="898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100" b="1" kern="0" spc="-13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成果提交要求与结课检查清单</a:t>
            </a:r>
            <a:endParaRPr sz="4100" dirty="0">
              <a:latin typeface="SimHei"/>
              <a:ea typeface="SimHei"/>
              <a:cs typeface="SimHei"/>
            </a:endParaRPr>
          </a:p>
          <a:p>
            <a:pPr marL="1357630" algn="l" rtl="0" eaLnBrk="0">
              <a:lnSpc>
                <a:spcPct val="92000"/>
              </a:lnSpc>
              <a:spcBef>
                <a:spcPts val="409"/>
              </a:spcBef>
              <a:tabLst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通过规范提交与自查，保证终评展示顺利完成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7131084" y="2519828"/>
            <a:ext cx="2519679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065" algn="l" rtl="0" eaLnBrk="0">
              <a:lnSpc>
                <a:spcPct val="99000"/>
              </a:lnSpc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项目逻辑是否完整?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3065" algn="l" rtl="0" eaLnBrk="0">
              <a:lnSpc>
                <a:spcPct val="99000"/>
              </a:lnSpc>
              <a:spcBef>
                <a:spcPts val="360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关键数据与案例是否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准确?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1"/>
              </a:spcBef>
              <a:tabLst/>
            </a:pP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□路演展示是否经过演练?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37465" algn="l" rtl="0" eaLnBrk="0">
              <a:lnSpc>
                <a:spcPct val="95000"/>
              </a:lnSpc>
              <a:spcBef>
                <a:spcPts val="1332"/>
              </a:spcBef>
              <a:tabLst/>
            </a:pP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□互评与复盘材料是否填写完整?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tabLst/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□文件命名与打包是否规范?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3822657" y="2590320"/>
            <a:ext cx="2590164" cy="1617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-13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400" kern="0" spc="44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电子版材料统一打包提交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248"/>
              </a:spcBef>
              <a:tabLst/>
            </a:pPr>
            <a:r>
              <a:rPr sz="1400" kern="0" spc="-9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400" kern="0" spc="-9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文件命名规范、版本清晰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075"/>
              </a:spcBef>
              <a:tabLst/>
            </a:pPr>
            <a:r>
              <a:rPr sz="1300" kern="0" spc="-2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36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页面完整，截图清楚，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信息准确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384"/>
              </a:spcBef>
              <a:tabLst/>
            </a:pPr>
            <a:r>
              <a:rPr sz="1400" kern="0" spc="-1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400" kern="0" spc="17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小组成员与分工信息完整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kern="0" spc="-3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300" kern="0" spc="26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按课堂要求时间提交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641319" y="2477657"/>
            <a:ext cx="1738629" cy="1694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8950" algn="l" rtl="0" eaLnBrk="0">
              <a:lnSpc>
                <a:spcPct val="96000"/>
              </a:lnSpc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终版项目包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447"/>
              </a:spcBef>
              <a:tabLst/>
            </a:pPr>
            <a:r>
              <a:rPr sz="4200" kern="0" spc="-30" baseline="-7441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2700" kern="0" spc="-30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-30" baseline="651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项目展示</a:t>
            </a:r>
            <a:r>
              <a:rPr sz="2400" kern="0" spc="-30" baseline="651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endParaRPr sz="2400" baseline="6511" dirty="0">
              <a:latin typeface="Arial"/>
              <a:ea typeface="Arial"/>
              <a:cs typeface="Arial"/>
            </a:endParaRPr>
          </a:p>
          <a:p>
            <a:pPr marL="488950" indent="-476250" algn="l" rtl="0" eaLnBrk="0">
              <a:lnSpc>
                <a:spcPct val="101000"/>
              </a:lnSpc>
              <a:spcBef>
                <a:spcPts val="21"/>
              </a:spcBef>
              <a:tabLst/>
            </a:pPr>
            <a:r>
              <a:rPr sz="4200" kern="0" spc="0" baseline="-6200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2700" kern="0" spc="0" dirty="0">
                <a:solidFill>
                  <a:srgbClr val="609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0" baseline="4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课程复盘报告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小组互评表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8950" algn="l" rtl="0" eaLnBrk="0">
              <a:lnSpc>
                <a:spcPct val="96000"/>
              </a:lnSpc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个人反思记录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7023065" y="1816087"/>
            <a:ext cx="3022610" cy="558814"/>
            <a:chOff x="0" y="0"/>
            <a:chExt cx="3022610" cy="558814"/>
          </a:xfrm>
        </p:grpSpPr>
        <p:pic>
          <p:nvPicPr>
            <p:cNvPr id="306" name="picture 3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022610" cy="558814"/>
            </a:xfrm>
            <a:prstGeom prst="rect">
              <a:avLst/>
            </a:prstGeom>
          </p:spPr>
        </p:pic>
        <p:sp>
          <p:nvSpPr>
            <p:cNvPr id="308" name="textbox 308"/>
            <p:cNvSpPr/>
            <p:nvPr/>
          </p:nvSpPr>
          <p:spPr>
            <a:xfrm>
              <a:off x="-12700" y="-12700"/>
              <a:ext cx="3048635" cy="615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98525" algn="l" rtl="0" eaLnBrk="0">
                <a:lnSpc>
                  <a:spcPct val="98000"/>
                </a:lnSpc>
                <a:tabLst/>
              </a:pPr>
              <a:r>
                <a:rPr sz="1900" b="1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结课自查清单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21600000">
            <a:off x="3702005" y="1816088"/>
            <a:ext cx="2965489" cy="552481"/>
            <a:chOff x="0" y="0"/>
            <a:chExt cx="2965489" cy="552481"/>
          </a:xfrm>
        </p:grpSpPr>
        <p:pic>
          <p:nvPicPr>
            <p:cNvPr id="310" name="picture 3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965489" cy="552481"/>
            </a:xfrm>
            <a:prstGeom prst="rect">
              <a:avLst/>
            </a:prstGeom>
          </p:spPr>
        </p:pic>
        <p:sp>
          <p:nvSpPr>
            <p:cNvPr id="312" name="textbox 312"/>
            <p:cNvSpPr/>
            <p:nvPr/>
          </p:nvSpPr>
          <p:spPr>
            <a:xfrm>
              <a:off x="-12700" y="-12700"/>
              <a:ext cx="2991485" cy="611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52525" algn="l" rtl="0" eaLnBrk="0">
                <a:lnSpc>
                  <a:spcPct val="98000"/>
                </a:lnSpc>
                <a:spcBef>
                  <a:spcPts val="2"/>
                </a:spcBef>
                <a:tabLst/>
              </a:pPr>
              <a:r>
                <a:rPr sz="1900" b="1" kern="0" spc="-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提交要求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546148" y="1809754"/>
            <a:ext cx="2832031" cy="552420"/>
            <a:chOff x="0" y="0"/>
            <a:chExt cx="2832031" cy="552420"/>
          </a:xfrm>
        </p:grpSpPr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832031" cy="552420"/>
            </a:xfrm>
            <a:prstGeom prst="rect">
              <a:avLst/>
            </a:prstGeom>
          </p:spPr>
        </p:pic>
        <p:sp>
          <p:nvSpPr>
            <p:cNvPr id="316" name="textbox 316"/>
            <p:cNvSpPr/>
            <p:nvPr/>
          </p:nvSpPr>
          <p:spPr>
            <a:xfrm>
              <a:off x="-12700" y="-12700"/>
              <a:ext cx="2857500" cy="611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001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900" b="1" kern="0" spc="-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必交成果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18" name="textbox 318"/>
          <p:cNvSpPr/>
          <p:nvPr/>
        </p:nvSpPr>
        <p:spPr>
          <a:xfrm>
            <a:off x="723907" y="268415"/>
            <a:ext cx="5099050" cy="239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500" kern="0" spc="1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《创新创业基础》实践课|第8次：项目</a:t>
            </a:r>
            <a:r>
              <a:rPr sz="1500" kern="0" spc="0" dirty="0">
                <a:solidFill>
                  <a:srgbClr val="1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366281" y="196827"/>
            <a:ext cx="1130306" cy="349259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101606" y="158765"/>
            <a:ext cx="469917" cy="412717"/>
            <a:chOff x="0" y="0"/>
            <a:chExt cx="469917" cy="412717"/>
          </a:xfrm>
        </p:grpSpPr>
        <p:pic>
          <p:nvPicPr>
            <p:cNvPr id="322" name="picture 3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69917" cy="412717"/>
            </a:xfrm>
            <a:prstGeom prst="rect">
              <a:avLst/>
            </a:prstGeom>
          </p:spPr>
        </p:pic>
        <p:sp>
          <p:nvSpPr>
            <p:cNvPr id="324" name="textbox 324"/>
            <p:cNvSpPr/>
            <p:nvPr/>
          </p:nvSpPr>
          <p:spPr>
            <a:xfrm>
              <a:off x="-12700" y="-12700"/>
              <a:ext cx="495934" cy="4959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0" algn="l" rtl="0" eaLnBrk="0">
                <a:lnSpc>
                  <a:spcPct val="77000"/>
                </a:lnSpc>
                <a:spcBef>
                  <a:spcPts val="1"/>
                </a:spcBef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9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picture 3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901653" y="4208527"/>
            <a:ext cx="7587615" cy="155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从发现问题到展示成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果，形成完整项目实践链路。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57425" algn="l" rtl="0" eaLnBrk="0">
              <a:lnSpc>
                <a:spcPct val="94000"/>
              </a:lnSpc>
              <a:spcBef>
                <a:spcPts val="572"/>
              </a:spcBef>
              <a:tabLst/>
            </a:pPr>
            <a:r>
              <a:rPr sz="19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课程结束，但项目思考与创新</a:t>
            </a:r>
            <a:r>
              <a:rPr sz="19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行动可以继续。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138045" algn="l" rtl="0" eaLnBrk="0">
              <a:lnSpc>
                <a:spcPct val="97000"/>
              </a:lnSpc>
              <a:tabLst/>
            </a:pPr>
            <a:r>
              <a:rPr sz="2400" b="1" kern="0" spc="18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把课程变成能力，把项目带向更远。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349862" y="942593"/>
            <a:ext cx="4678679" cy="1294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2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课程总结与后续行动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46355" algn="l" rtl="0" eaLnBrk="0">
              <a:lnSpc>
                <a:spcPct val="92000"/>
              </a:lnSpc>
              <a:spcBef>
                <a:spcPts val="485"/>
              </a:spcBef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从课程收官走向持续迭代，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把项目与能力继续带向未来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211454" algn="l" rtl="0" eaLnBrk="0">
              <a:lnSpc>
                <a:spcPct val="94000"/>
              </a:lnSpc>
              <a:spcBef>
                <a:spcPts val="2"/>
              </a:spcBef>
              <a:tabLst/>
            </a:pPr>
            <a:r>
              <a:rPr sz="16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八次实践课学习路径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139656" y="133337"/>
            <a:ext cx="5768975" cy="497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ct val="94000"/>
              </a:lnSpc>
              <a:tabLst>
                <a:tab pos="751840" algn="l"/>
              </a:tabLst>
            </a:pPr>
            <a:r>
              <a:rPr sz="15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</a:t>
            </a:r>
            <a:r>
              <a:rPr sz="1500" b="1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第8次：项目终评展示与课程复盘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34" name="picture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2356" y="146037"/>
            <a:ext cx="501662" cy="450839"/>
          </a:xfrm>
          <a:prstGeom prst="rect">
            <a:avLst/>
          </a:prstGeom>
        </p:spPr>
      </p:pic>
      <p:sp>
        <p:nvSpPr>
          <p:cNvPr id="336" name="textbox 336"/>
          <p:cNvSpPr/>
          <p:nvPr/>
        </p:nvSpPr>
        <p:spPr>
          <a:xfrm>
            <a:off x="8839178" y="1858496"/>
            <a:ext cx="1310005" cy="493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500" b="1" kern="0" spc="-30" dirty="0">
                <a:solidFill>
                  <a:srgbClr val="2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准备竞赛/</a:t>
            </a:r>
            <a:r>
              <a:rPr sz="1500" b="1" kern="0" spc="-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申报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筛选适合的展示场景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8839178" y="3312658"/>
            <a:ext cx="1382394" cy="461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500" b="1" kern="0" spc="-30" dirty="0">
                <a:solidFill>
                  <a:srgbClr val="2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沉淀个人能力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39"/>
              </a:lnSpc>
              <a:spcBef>
                <a:spcPts val="1"/>
              </a:spcBef>
              <a:tabLst/>
            </a:pP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表达、协作、创新与执行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340" name="textbox 340"/>
          <p:cNvSpPr/>
          <p:nvPr/>
        </p:nvSpPr>
        <p:spPr>
          <a:xfrm>
            <a:off x="6438947" y="3287262"/>
            <a:ext cx="1284605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339" algn="l" rtl="0" eaLnBrk="0">
              <a:lnSpc>
                <a:spcPct val="96000"/>
              </a:lnSpc>
              <a:tabLst/>
            </a:pPr>
            <a:r>
              <a:rPr sz="1500" b="1" kern="0" spc="-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持续复盘优化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47"/>
              </a:lnSpc>
              <a:spcBef>
                <a:spcPts val="4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将反馈转化为改进清单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342" name="textbox 342"/>
          <p:cNvSpPr/>
          <p:nvPr/>
        </p:nvSpPr>
        <p:spPr>
          <a:xfrm>
            <a:off x="2857447" y="2855622"/>
            <a:ext cx="520700" cy="1146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5"/>
              </a:lnSpc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需求调研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路演答辩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1746251" y="2905929"/>
            <a:ext cx="534034" cy="1092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用户画像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1092"/>
              </a:lnSpc>
              <a:spcBef>
                <a:spcPts val="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46" name="textbox 346"/>
          <p:cNvSpPr/>
          <p:nvPr/>
        </p:nvSpPr>
        <p:spPr>
          <a:xfrm>
            <a:off x="622314" y="2900078"/>
            <a:ext cx="528319" cy="1097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5"/>
              </a:lnSpc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8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团队迭代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48" name="textbox 348"/>
          <p:cNvSpPr/>
          <p:nvPr/>
        </p:nvSpPr>
        <p:spPr>
          <a:xfrm>
            <a:off x="6476957" y="1851400"/>
            <a:ext cx="1183639" cy="502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500" b="1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继续完善项目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补强证据与材料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3968749" y="2855622"/>
            <a:ext cx="504190" cy="1141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5"/>
              </a:lnSpc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商业模式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5"/>
              </a:lnSpc>
              <a:spcBef>
                <a:spcPts val="1"/>
              </a:spcBef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终评复盘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95915" y="1752570"/>
            <a:ext cx="685870" cy="685850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83512" y="1758963"/>
            <a:ext cx="673131" cy="679456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83512" y="3194063"/>
            <a:ext cx="666760" cy="660395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83281" y="3194063"/>
            <a:ext cx="647649" cy="654061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321795" y="209555"/>
            <a:ext cx="1136677" cy="342865"/>
          </a:xfrm>
          <a:prstGeom prst="rect">
            <a:avLst/>
          </a:prstGeom>
        </p:spPr>
      </p:pic>
      <p:sp>
        <p:nvSpPr>
          <p:cNvPr id="362" name="textbox 362"/>
          <p:cNvSpPr/>
          <p:nvPr/>
        </p:nvSpPr>
        <p:spPr>
          <a:xfrm>
            <a:off x="5807020" y="1027240"/>
            <a:ext cx="1330325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后续行动建议</a:t>
            </a:r>
            <a:endParaRPr sz="1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2026-05-06T02:34:36</vt:filetime>
  </property>
  <property fmtid="{D5CDD505-2E9C-101B-9397-08002B2CF9AE}" pid="4" name="UsrData">
    <vt:lpwstr>69fa382f7fe946001f81e361wl</vt:lpwstr>
  </property>
</Properties>
</file>