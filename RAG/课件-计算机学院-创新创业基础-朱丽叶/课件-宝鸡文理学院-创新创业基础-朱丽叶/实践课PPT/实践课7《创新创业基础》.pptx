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2" Type="http://schemas.openxmlformats.org/officeDocument/2006/relationships/image" Target="../media/image15.jpeg"/><Relationship Id="rId11" Type="http://schemas.openxmlformats.org/officeDocument/2006/relationships/image" Target="../media/image14.jpeg"/><Relationship Id="rId10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image" Target="../media/image24.jpeg"/><Relationship Id="rId7" Type="http://schemas.openxmlformats.org/officeDocument/2006/relationships/image" Target="../media/image23.jpe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37.jpeg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jpe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jpeg"/><Relationship Id="rId8" Type="http://schemas.openxmlformats.org/officeDocument/2006/relationships/image" Target="../media/image50.jpeg"/><Relationship Id="rId7" Type="http://schemas.openxmlformats.org/officeDocument/2006/relationships/image" Target="../media/image49.jpeg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5" Type="http://schemas.openxmlformats.org/officeDocument/2006/relationships/image" Target="../media/image57.jpeg"/><Relationship Id="rId14" Type="http://schemas.openxmlformats.org/officeDocument/2006/relationships/image" Target="../media/image56.jpeg"/><Relationship Id="rId13" Type="http://schemas.openxmlformats.org/officeDocument/2006/relationships/image" Target="../media/image55.jpeg"/><Relationship Id="rId12" Type="http://schemas.openxmlformats.org/officeDocument/2006/relationships/image" Target="../media/image54.jpeg"/><Relationship Id="rId11" Type="http://schemas.openxmlformats.org/officeDocument/2006/relationships/image" Target="../media/image53.jpeg"/><Relationship Id="rId10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jpeg"/><Relationship Id="rId8" Type="http://schemas.openxmlformats.org/officeDocument/2006/relationships/image" Target="../media/image64.jpeg"/><Relationship Id="rId7" Type="http://schemas.openxmlformats.org/officeDocument/2006/relationships/image" Target="../media/image63.jpeg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Relationship Id="rId3" Type="http://schemas.openxmlformats.org/officeDocument/2006/relationships/image" Target="../media/image59.jpeg"/><Relationship Id="rId21" Type="http://schemas.openxmlformats.org/officeDocument/2006/relationships/image" Target="../media/image77.jpeg"/><Relationship Id="rId20" Type="http://schemas.openxmlformats.org/officeDocument/2006/relationships/image" Target="../media/image76.jpeg"/><Relationship Id="rId2" Type="http://schemas.openxmlformats.org/officeDocument/2006/relationships/image" Target="../media/image58.png"/><Relationship Id="rId19" Type="http://schemas.openxmlformats.org/officeDocument/2006/relationships/image" Target="../media/image75.jpeg"/><Relationship Id="rId18" Type="http://schemas.openxmlformats.org/officeDocument/2006/relationships/image" Target="../media/image74.jpeg"/><Relationship Id="rId17" Type="http://schemas.openxmlformats.org/officeDocument/2006/relationships/image" Target="../media/image73.jpeg"/><Relationship Id="rId16" Type="http://schemas.openxmlformats.org/officeDocument/2006/relationships/image" Target="../media/image72.png"/><Relationship Id="rId15" Type="http://schemas.openxmlformats.org/officeDocument/2006/relationships/image" Target="../media/image71.jpeg"/><Relationship Id="rId14" Type="http://schemas.openxmlformats.org/officeDocument/2006/relationships/image" Target="../media/image70.jpeg"/><Relationship Id="rId13" Type="http://schemas.openxmlformats.org/officeDocument/2006/relationships/image" Target="../media/image69.jpeg"/><Relationship Id="rId12" Type="http://schemas.openxmlformats.org/officeDocument/2006/relationships/image" Target="../media/image68.jpeg"/><Relationship Id="rId11" Type="http://schemas.openxmlformats.org/officeDocument/2006/relationships/image" Target="../media/image67.jpeg"/><Relationship Id="rId10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83.jpeg"/><Relationship Id="rId6" Type="http://schemas.openxmlformats.org/officeDocument/2006/relationships/image" Target="../media/image82.jpeg"/><Relationship Id="rId5" Type="http://schemas.openxmlformats.org/officeDocument/2006/relationships/image" Target="../media/image81.png"/><Relationship Id="rId4" Type="http://schemas.openxmlformats.org/officeDocument/2006/relationships/image" Target="../media/image80.jpeg"/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61980" y="1235204"/>
            <a:ext cx="5073650" cy="2449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2000"/>
              </a:lnSpc>
              <a:tabLst/>
            </a:pPr>
            <a:r>
              <a:rPr sz="4900" b="1" kern="0" spc="14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让表达成为</a:t>
            </a:r>
            <a:endParaRPr sz="4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7000"/>
              </a:lnSpc>
              <a:spcBef>
                <a:spcPts val="32"/>
              </a:spcBef>
              <a:tabLst/>
            </a:pPr>
            <a:r>
              <a:rPr sz="4800" b="1" kern="0" spc="-4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项目价值放大的舞</a:t>
            </a:r>
            <a:r>
              <a:rPr sz="4800" b="1" kern="0" spc="-3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台</a:t>
            </a:r>
            <a:endParaRPr sz="4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97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围绕路演结构设计、</a:t>
            </a:r>
            <a:r>
              <a:rPr sz="1300" kern="0" spc="-3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内容梳理、故事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线提炼、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052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模拟答辩与同伴互评，帮助团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队把项目讲清楚、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258"/>
              </a:lnSpc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讲精彩、讲有说服力。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2740" y="4845052"/>
            <a:ext cx="10572715" cy="1117569"/>
            <a:chOff x="0" y="0"/>
            <a:chExt cx="10572715" cy="111756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2715" cy="1117569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-12700" y="-12700"/>
              <a:ext cx="10598150" cy="11664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65860" algn="l" rtl="0" eaLnBrk="0">
                <a:lnSpc>
                  <a:spcPct val="94000"/>
                </a:lnSpc>
                <a:spcBef>
                  <a:spcPts val="4"/>
                </a:spcBef>
                <a:tabLst/>
              </a:pPr>
              <a:r>
                <a:rPr sz="2100" b="1" kern="0" spc="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会表达，项目价值才能</a:t>
              </a:r>
              <a:r>
                <a:rPr sz="2100" b="1" kern="0" spc="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被看见。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0" name="textbox 10"/>
          <p:cNvSpPr/>
          <p:nvPr/>
        </p:nvSpPr>
        <p:spPr>
          <a:xfrm>
            <a:off x="5786365" y="947100"/>
            <a:ext cx="2567304" cy="3834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8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</a:t>
            </a:r>
            <a:r>
              <a:rPr sz="8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</a:t>
            </a:r>
            <a:r>
              <a:rPr sz="800" kern="0" spc="-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</a:t>
            </a:r>
            <a:r>
              <a:rPr sz="8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园</a:t>
            </a:r>
            <a:r>
              <a:rPr sz="800" kern="0" spc="-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|智能校园出行解决方案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7145" algn="l" rtl="0" eaLnBrk="0">
              <a:lnSpc>
                <a:spcPts val="1104"/>
              </a:lnSpc>
              <a:spcBef>
                <a:spcPts val="315"/>
              </a:spcBef>
              <a:tabLst/>
            </a:pPr>
            <a:r>
              <a:rPr sz="1000" kern="0" spc="20" baseline="15405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让校园出行更便捷、更安全、更高效</a:t>
            </a: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600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600" kern="0" spc="10" baseline="-43775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市场规模(亿元)</a:t>
            </a:r>
            <a:endParaRPr sz="600" baseline="-43775" dirty="0">
              <a:latin typeface="SimHei"/>
              <a:ea typeface="SimHei"/>
              <a:cs typeface="SimHei"/>
            </a:endParaRPr>
          </a:p>
          <a:p>
            <a:pPr marL="62864" algn="l" rtl="0" eaLnBrk="0">
              <a:lnSpc>
                <a:spcPts val="604"/>
              </a:lnSpc>
              <a:spcBef>
                <a:spcPts val="1238"/>
              </a:spcBef>
              <a:tabLst/>
            </a:pPr>
            <a:r>
              <a:rPr sz="500" b="1" kern="0" spc="1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01市场机会</a:t>
            </a:r>
            <a:r>
              <a:rPr sz="500" kern="0" spc="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500" b="1" kern="0" spc="1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02解决方案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1494" algn="l" rtl="0" eaLnBrk="0">
              <a:lnSpc>
                <a:spcPts val="492"/>
              </a:lnSpc>
              <a:spcBef>
                <a:spcPts val="130"/>
              </a:spcBef>
              <a:tabLst/>
            </a:pPr>
            <a:r>
              <a:rPr sz="400" kern="0" spc="-30" dirty="0">
                <a:solidFill>
                  <a:srgbClr val="305080">
                    <a:alpha val="100000"/>
                  </a:srgbClr>
                </a:solidFill>
                <a:latin typeface="LiSu"/>
                <a:ea typeface="LiSu"/>
                <a:cs typeface="LiSu"/>
              </a:rPr>
              <a:t>赢血可航食</a:t>
            </a:r>
            <a:r>
              <a:rPr sz="400" kern="0" spc="50" dirty="0">
                <a:solidFill>
                  <a:srgbClr val="305080">
                    <a:alpha val="100000"/>
                  </a:srgbClr>
                </a:solidFill>
                <a:latin typeface="LiSu"/>
                <a:ea typeface="LiSu"/>
                <a:cs typeface="LiSu"/>
              </a:rPr>
              <a:t>   </a:t>
            </a:r>
            <a:r>
              <a:rPr sz="400" kern="0" spc="-30" dirty="0">
                <a:solidFill>
                  <a:srgbClr val="203080">
                    <a:alpha val="100000"/>
                  </a:srgbClr>
                </a:solidFill>
                <a:latin typeface="LiSu"/>
                <a:ea typeface="LiSu"/>
                <a:cs typeface="LiSu"/>
              </a:rPr>
              <a:t>差异化艳原</a:t>
            </a:r>
            <a:endParaRPr sz="4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84045" algn="l" rtl="0" eaLnBrk="0">
              <a:lnSpc>
                <a:spcPts val="731"/>
              </a:lnSpc>
              <a:spcBef>
                <a:spcPts val="182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答辩问题</a:t>
            </a: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卡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(示例)</a:t>
            </a:r>
            <a:endParaRPr sz="600" dirty="0">
              <a:latin typeface="LiSu"/>
              <a:ea typeface="LiSu"/>
              <a:cs typeface="LiSu"/>
            </a:endParaRPr>
          </a:p>
          <a:p>
            <a:pPr marL="1884045" algn="l" rtl="0" eaLnBrk="0">
              <a:lnSpc>
                <a:spcPct val="85000"/>
              </a:lnSpc>
              <a:spcBef>
                <a:spcPts val="596"/>
              </a:spcBef>
              <a:tabLst/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目标用户是谁?</a:t>
            </a:r>
            <a:endParaRPr sz="500" dirty="0">
              <a:latin typeface="LiSu"/>
              <a:ea typeface="LiSu"/>
              <a:cs typeface="LiSu"/>
            </a:endParaRPr>
          </a:p>
          <a:p>
            <a:pPr marL="1884045" algn="l" rtl="0" eaLnBrk="0">
              <a:lnSpc>
                <a:spcPts val="623"/>
              </a:lnSpc>
              <a:spcBef>
                <a:spcPts val="360"/>
              </a:spcBef>
              <a:tabLst/>
            </a:pP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2.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兖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争对手有曜些?</a:t>
            </a:r>
            <a:endParaRPr sz="500" dirty="0">
              <a:latin typeface="LiSu"/>
              <a:ea typeface="LiSu"/>
              <a:cs typeface="LiSu"/>
            </a:endParaRPr>
          </a:p>
          <a:p>
            <a:pPr marL="1845945" algn="l" rtl="0" eaLnBrk="0">
              <a:lnSpc>
                <a:spcPct val="95000"/>
              </a:lnSpc>
              <a:spcBef>
                <a:spcPts val="427"/>
              </a:spcBef>
              <a:tabLst/>
            </a:pP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 如何验证帝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场需求?</a:t>
            </a:r>
            <a:endParaRPr sz="500" dirty="0">
              <a:latin typeface="LiSu"/>
              <a:ea typeface="LiSu"/>
              <a:cs typeface="LiSu"/>
            </a:endParaRPr>
          </a:p>
          <a:p>
            <a:pPr marL="1845945" algn="l" rtl="0" eaLnBrk="0">
              <a:lnSpc>
                <a:spcPct val="96000"/>
              </a:lnSpc>
              <a:spcBef>
                <a:spcPts val="428"/>
              </a:spcBef>
              <a:tabLst/>
            </a:pP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</a:t>
            </a:r>
            <a:r>
              <a:rPr sz="5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横型是否满晰?</a:t>
            </a:r>
            <a:endParaRPr sz="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608"/>
              </a:lnSpc>
              <a:spcBef>
                <a:spcPts val="2"/>
              </a:spcBef>
              <a:tabLst/>
            </a:pP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5.融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慢后资金如伺使用?</a:t>
            </a:r>
            <a:endParaRPr sz="500" dirty="0">
              <a:latin typeface="LiSu"/>
              <a:ea typeface="LiSu"/>
              <a:cs typeface="LiSu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33392" y="69879"/>
            <a:ext cx="6322059" cy="582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ct val="94000"/>
              </a:lnSpc>
              <a:spcBef>
                <a:spcPts val="3"/>
              </a:spcBef>
              <a:tabLst>
                <a:tab pos="78359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《创新创业基础》实践课|第7次：路演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6092" y="82579"/>
            <a:ext cx="546042" cy="533359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9417071" y="1009939"/>
            <a:ext cx="821055" cy="1623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路演要点清单</a:t>
            </a:r>
            <a:endParaRPr sz="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981"/>
              </a:lnSpc>
              <a:spcBef>
                <a:spcPts val="591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痛点与机会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13970" algn="l" rtl="0" eaLnBrk="0">
              <a:lnSpc>
                <a:spcPct val="113000"/>
              </a:lnSpc>
              <a:spcBef>
                <a:spcPts val="18"/>
              </a:spcBef>
              <a:tabLst/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解决方案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商业模式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800" b="1" kern="0" spc="6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800" b="1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数据与验证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团队与优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势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融资需求</a:t>
            </a:r>
            <a:endParaRPr sz="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8000"/>
              </a:lnSpc>
              <a:spcBef>
                <a:spcPts val="775"/>
              </a:spcBef>
              <a:tabLst/>
            </a:pP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答辩准备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56514" algn="l" rtl="0" eaLnBrk="0">
              <a:lnSpc>
                <a:spcPts val="914"/>
              </a:lnSpc>
              <a:spcBef>
                <a:spcPts val="336"/>
              </a:spcBef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·</a:t>
            </a: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7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可能问题清单</a:t>
            </a:r>
            <a:endParaRPr sz="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ts val="763"/>
              </a:lnSpc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·  应</a:t>
            </a:r>
            <a:r>
              <a:rPr sz="600" kern="0" spc="1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对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要  点</a:t>
            </a:r>
            <a:endParaRPr sz="6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4959334" y="3891074"/>
            <a:ext cx="701675" cy="775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67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3分钟路演结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构卡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488"/>
              </a:lnSpc>
              <a:spcBef>
                <a:spcPts val="711"/>
              </a:spcBef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①</a:t>
            </a:r>
            <a:r>
              <a:rPr sz="400" kern="0" spc="16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开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场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(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s)</a:t>
            </a:r>
            <a:endParaRPr sz="4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ts val="867"/>
              </a:lnSpc>
              <a:spcBef>
                <a:spcPts val="86"/>
              </a:spcBef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2</a:t>
            </a:r>
            <a:r>
              <a:rPr sz="600" kern="0" spc="2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痛点与机会(45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s)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93000"/>
              </a:lnSpc>
              <a:spcBef>
                <a:spcPts val="433"/>
              </a:spcBef>
              <a:tabLst/>
            </a:pP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③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解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决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方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案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( 6 0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s)</a:t>
            </a:r>
            <a:endParaRPr sz="5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93000"/>
              </a:lnSpc>
              <a:spcBef>
                <a:spcPts val="253"/>
              </a:spcBef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④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业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樱式(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45s)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ts val="631"/>
              </a:lnSpc>
              <a:spcBef>
                <a:spcPts val="1"/>
              </a:spcBef>
              <a:tabLst/>
            </a:pP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⑤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回  队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未来(30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s)</a:t>
            </a:r>
            <a:endParaRPr sz="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081489" y="4091993"/>
            <a:ext cx="2814320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b="1" kern="0" spc="80" dirty="0">
                <a:solidFill>
                  <a:srgbClr val="002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对应理论模块：模块5路演竞赛与商业</a:t>
            </a:r>
            <a:r>
              <a:rPr sz="1100" b="1" kern="0" spc="70" dirty="0">
                <a:solidFill>
                  <a:srgbClr val="002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落地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48833" y="196827"/>
            <a:ext cx="60326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483452" y="814256"/>
            <a:ext cx="7764144" cy="1482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66875" algn="l" rtl="0" eaLnBrk="0">
              <a:lnSpc>
                <a:spcPct val="94000"/>
              </a:lnSpc>
              <a:tabLst/>
            </a:pPr>
            <a:r>
              <a:rPr sz="4300" b="1" kern="0" spc="-15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2151379" algn="l" rtl="0" eaLnBrk="0">
              <a:lnSpc>
                <a:spcPct val="95000"/>
              </a:lnSpc>
              <a:spcBef>
                <a:spcPts val="121"/>
              </a:spcBef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从“有项目”走向“会路演、能答辩”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21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r>
              <a:rPr sz="21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1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21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</a:t>
            </a: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果产出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90569" y="2496221"/>
            <a:ext cx="2972435" cy="1430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4000"/>
              </a:lnSpc>
              <a:tabLst/>
            </a:pPr>
            <a:r>
              <a:rPr sz="2900" kern="0" spc="-90" baseline="-14369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r>
              <a:rPr sz="1800" kern="0" spc="33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帮助学生形成项目路演表达框架；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ct val="96000"/>
              </a:lnSpc>
              <a:spcBef>
                <a:spcPts val="326"/>
              </a:spcBef>
              <a:tabLst/>
            </a:pPr>
            <a:r>
              <a:rPr sz="3600" kern="0" spc="-280" baseline="-10128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300" kern="0" spc="-21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训练学生进行商业表达和口头呈现；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ct val="94000"/>
              </a:lnSpc>
              <a:spcBef>
                <a:spcPts val="409"/>
              </a:spcBef>
              <a:tabLst/>
            </a:pPr>
            <a:r>
              <a:rPr sz="3600" kern="0" spc="-280" baseline="-10128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2300" kern="0" spc="-15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帮助学生预判评委问题与答辩风险；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3"/>
              </a:spcBef>
              <a:tabLst>
                <a:tab pos="4057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提升学生的临场表达与项目说服力。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3269" y="3587779"/>
            <a:ext cx="304819" cy="304742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33392" y="88881"/>
            <a:ext cx="6309359" cy="556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ct val="94000"/>
              </a:lnSpc>
              <a:spcBef>
                <a:spcPts val="6"/>
              </a:spcBef>
              <a:tabLst>
                <a:tab pos="789940" algn="l"/>
              </a:tabLst>
            </a:pPr>
            <a:r>
              <a:rPr sz="1700" kern="0" spc="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0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《创新创业基础》实践课|第7次：路演</a:t>
            </a:r>
            <a:r>
              <a:rPr sz="1700" b="1" kern="0" spc="0" dirty="0">
                <a:solidFill>
                  <a:srgbClr val="2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10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6092" y="101581"/>
            <a:ext cx="533408" cy="508024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7296180" y="2432054"/>
            <a:ext cx="1732914" cy="153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2000"/>
              </a:lnSpc>
              <a:spcBef>
                <a:spcPts val="5"/>
              </a:spcBef>
              <a:tabLst>
                <a:tab pos="42481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提纲；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24815" algn="l" rtl="0" eaLnBrk="0">
              <a:lnSpc>
                <a:spcPct val="99000"/>
              </a:lnSpc>
              <a:spcBef>
                <a:spcPts val="364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路演讲稿；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24815" algn="l" rtl="0" eaLnBrk="0">
              <a:lnSpc>
                <a:spcPct val="98000"/>
              </a:lnSpc>
              <a:spcBef>
                <a:spcPts val="395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答辩问题清单；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6000"/>
              </a:lnSpc>
              <a:tabLst>
                <a:tab pos="42481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模拟答辩记录表。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08880" y="3619508"/>
            <a:ext cx="311084" cy="311136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08880" y="2444754"/>
            <a:ext cx="311084" cy="311136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489417" y="2462131"/>
            <a:ext cx="1454785" cy="1485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路演结构设计；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55000"/>
              </a:lnSpc>
              <a:spcBef>
                <a:spcPts val="147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内容梳理；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项目故事线提炼；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80"/>
              </a:lnSpc>
              <a:spcBef>
                <a:spcPts val="1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同伴互评。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115141" y="5422619"/>
            <a:ext cx="352615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结构清楚，表达才有力量。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648210" y="4229113"/>
            <a:ext cx="590528" cy="590543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20723" y="4235447"/>
            <a:ext cx="584264" cy="57787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774911" y="4235447"/>
            <a:ext cx="584264" cy="577875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489657" y="4235447"/>
            <a:ext cx="571524" cy="58420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43951" y="4235447"/>
            <a:ext cx="571417" cy="57787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861573" y="190494"/>
            <a:ext cx="596898" cy="304802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1615317" y="4462016"/>
            <a:ext cx="695959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10"/>
              </a:lnSpc>
              <a:tabLst/>
            </a:pPr>
            <a:r>
              <a:rPr sz="1400" b="1" kern="0" spc="-1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</a:t>
            </a:r>
            <a:r>
              <a:rPr sz="1400" b="1" kern="0" spc="-10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</a:t>
            </a:r>
            <a:r>
              <a:rPr sz="1400" b="1" kern="0" spc="-8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9013111" y="4474428"/>
            <a:ext cx="699769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b="1" kern="0" spc="-7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同伴互评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7165244" y="4474428"/>
            <a:ext cx="695959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b="1" kern="0" spc="-8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3463169" y="4474962"/>
            <a:ext cx="694055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400" b="1" kern="0" spc="-8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内容梳理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361883" y="4466064"/>
            <a:ext cx="540384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94"/>
              </a:lnSpc>
              <a:tabLst/>
            </a:pPr>
            <a:r>
              <a:rPr sz="1400" b="1" kern="0" spc="-8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故事</a:t>
            </a:r>
            <a:r>
              <a:rPr sz="1400" b="1" kern="0" spc="-50" dirty="0">
                <a:solidFill>
                  <a:srgbClr val="2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1181056" y="2105783"/>
          <a:ext cx="9010649" cy="2681604"/>
        </p:xfrm>
        <a:graphic>
          <a:graphicData uri="http://schemas.openxmlformats.org/drawingml/2006/table">
            <a:tbl>
              <a:tblPr/>
              <a:tblGrid>
                <a:gridCol w="2336164"/>
                <a:gridCol w="1381760"/>
                <a:gridCol w="1134745"/>
                <a:gridCol w="4157979"/>
              </a:tblGrid>
              <a:tr h="1289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63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常见误区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957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只讲功能，不讲问题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686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3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信息堆砌，逻辑不清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785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数据很多，但结论</a:t>
                      </a: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不明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1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只顾展示，不顾说服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9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403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3800" kern="0" spc="-1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</a:t>
                      </a:r>
                      <a:endParaRPr sz="3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14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5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项目成果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979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b="1" kern="0" spc="-3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结构整理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视觉呈现</a:t>
                      </a:r>
                      <a:r>
                        <a:rPr sz="1200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</a:t>
                      </a:r>
                      <a:r>
                        <a:rPr sz="1200" b="1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口头表达</a:t>
                      </a:r>
                      <a:r>
                        <a:rPr sz="1200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</a:t>
                      </a:r>
                      <a:r>
                        <a:rPr sz="1200" b="1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说服评委/</a:t>
                      </a:r>
                      <a:r>
                        <a:rPr sz="1200" b="1" kern="0" spc="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01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6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路演的真正价值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6384" algn="l" rtl="0" eaLnBrk="0">
                        <a:lnSpc>
                          <a:spcPts val="1085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梳理项目目标、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搭建清晰逻辑，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5930" algn="l" rtl="0" eaLnBrk="0">
                        <a:lnSpc>
                          <a:spcPts val="109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设计简洁有力的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清晰表达重点，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回应关键问题，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72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3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94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63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进展与关键成果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94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提炼核心信息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94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079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PPT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与可视化图表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把话说到评委心里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赢得认可与支持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让评委快速理解项目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483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突出用户价值与差异化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1100" kern="0" spc="-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展示团队思考与执行力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7110" algn="l" rtl="0" eaLnBrk="0">
                        <a:lnSpc>
                          <a:spcPct val="81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</a:t>
                      </a:r>
                      <a:r>
                        <a:rPr sz="20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2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的</a:t>
                      </a:r>
                      <a:r>
                        <a:rPr sz="20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2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路</a:t>
                      </a:r>
                      <a:r>
                        <a:rPr sz="20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2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演</a:t>
                      </a:r>
                      <a:r>
                        <a:rPr sz="20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2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=</a:t>
                      </a:r>
                      <a:endParaRPr sz="2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9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13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清晰逻辑+有力证据</a:t>
                      </a:r>
                      <a:r>
                        <a:rPr sz="2000" kern="0" spc="6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</a:t>
                      </a:r>
                      <a:r>
                        <a:rPr sz="3000" b="1" kern="0" spc="130" baseline="6945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真</a:t>
                      </a:r>
                      <a:r>
                        <a:rPr sz="3000" b="1" kern="0" spc="120" baseline="6945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诚表达</a:t>
                      </a:r>
                      <a:endParaRPr sz="3000" baseline="6945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9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r>
                        <a:rPr sz="900" kern="0" spc="9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为后续支持、合作与落地创造机会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772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9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2" name="textbox 72"/>
          <p:cNvSpPr/>
          <p:nvPr/>
        </p:nvSpPr>
        <p:spPr>
          <a:xfrm>
            <a:off x="401535" y="937302"/>
            <a:ext cx="9213850" cy="945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6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任务导入：为什么项目需要路演表达?</a:t>
            </a:r>
            <a:endParaRPr sz="4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2384" algn="l" rtl="0" eaLnBrk="0">
              <a:lnSpc>
                <a:spcPct val="92000"/>
              </a:lnSpc>
              <a:spcBef>
                <a:spcPts val="4"/>
              </a:spcBef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路演不是念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而是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把项目价值讲清楚、讲可信、讲动人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234999" y="271886"/>
            <a:ext cx="613346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3600" kern="0" spc="100" baseline="-7234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700" b="1" kern="0" spc="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</a:t>
            </a:r>
            <a:r>
              <a:rPr sz="1700" b="1" kern="0" spc="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089766" y="5397223"/>
            <a:ext cx="333565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会做项目，也要会讲项目。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18694" y="177826"/>
            <a:ext cx="590528" cy="311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2616224" y="2938745"/>
            <a:ext cx="5074284" cy="173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封面与项目定位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问题与机会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用户与场景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解决方案/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24815" algn="l" rtl="0" eaLnBrk="0">
              <a:lnSpc>
                <a:spcPct val="95000"/>
              </a:lnSpc>
              <a:spcBef>
                <a:spcPts val="819"/>
              </a:spcBef>
              <a:tabLst/>
            </a:pPr>
            <a:r>
              <a:rPr sz="2000" kern="0" spc="-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700" kern="0" spc="-60" dirty="0">
                <a:solidFill>
                  <a:srgbClr val="B0D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⑦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ts val="1461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竞争优势与验证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团队与计划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融资/合作诉求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839707" y="981758"/>
            <a:ext cx="9292590" cy="65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-2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</a:t>
            </a:r>
            <a:r>
              <a:rPr sz="4300" b="1" kern="0" spc="-28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4300" b="1" kern="0" spc="-59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2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</a:t>
            </a:r>
            <a:r>
              <a:rPr sz="4300" b="1" kern="0" spc="-2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结构：一套清晰的表达</a:t>
            </a:r>
            <a:r>
              <a:rPr sz="4300" b="1" kern="0" spc="-2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框</a:t>
            </a:r>
            <a:r>
              <a:rPr sz="4300" b="1" kern="0" spc="-2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架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933398" y="2748861"/>
            <a:ext cx="1176655" cy="1704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一页只讲一个重点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34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先结论，后展开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38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图表优于大段文字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整体风格统一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2938037" y="1911509"/>
            <a:ext cx="307467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951"/>
              </a:lnSpc>
              <a:tabLst/>
            </a:pPr>
            <a:r>
              <a:rPr sz="3200" b="1" kern="0" spc="-26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r>
              <a:rPr sz="3200" b="1" kern="0" spc="-25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3200" kern="0" spc="22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2700" kern="0" spc="-25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700" kern="0" spc="2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3200" kern="0" spc="-12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8743941" y="2731476"/>
            <a:ext cx="751205" cy="189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开场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36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问题与方案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3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72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优势与验证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结尾与诉求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803161" y="278280"/>
            <a:ext cx="5645784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</a:t>
            </a: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践课|第7次：路演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242123" y="5403557"/>
            <a:ext cx="349440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有框架，表达才不容易乱。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3648012" y="1655906"/>
            <a:ext cx="3465829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让评委在短时间内快速抓住项目核心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9787562" y="2715704"/>
            <a:ext cx="381634" cy="1911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30秒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01"/>
              </a:spcBef>
              <a:tabLst/>
            </a:pPr>
            <a:r>
              <a:rPr sz="1300" b="1" kern="0" spc="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60秒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4"/>
              </a:spcBef>
              <a:tabLst/>
            </a:pPr>
            <a:r>
              <a:rPr sz="1200" b="1" kern="0" spc="1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45秒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4"/>
              </a:spcBef>
              <a:tabLst/>
            </a:pPr>
            <a:r>
              <a:rPr sz="1200" b="1" kern="0" spc="1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45秒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300" b="1" kern="0" spc="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30秒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6092" y="101581"/>
            <a:ext cx="539672" cy="508024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8867173" y="2264178"/>
            <a:ext cx="12096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3分钟路演建议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7037" y="2114557"/>
            <a:ext cx="431801" cy="444506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36198" y="196827"/>
            <a:ext cx="609533" cy="304802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5292" y="4171929"/>
            <a:ext cx="342935" cy="342925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5292" y="2673371"/>
            <a:ext cx="342935" cy="330197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01662" y="3683026"/>
            <a:ext cx="336565" cy="311136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8033" y="3181336"/>
            <a:ext cx="304819" cy="32386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7071678" y="2067925"/>
            <a:ext cx="302895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200" b="1" kern="0" spc="-3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④</a:t>
            </a:r>
            <a:endParaRPr sz="2200" dirty="0">
              <a:latin typeface="SimSun"/>
              <a:ea typeface="SimSun"/>
              <a:cs typeface="SimSun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1365200" y="2277479"/>
            <a:ext cx="405765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原则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5570" y="1936730"/>
            <a:ext cx="2095517" cy="2730495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518838" y="912752"/>
            <a:ext cx="9643744" cy="3627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2969" algn="l" rtl="0" eaLnBrk="0">
              <a:lnSpc>
                <a:spcPct val="96000"/>
              </a:lnSpc>
              <a:tabLst/>
            </a:pPr>
            <a:r>
              <a:rPr sz="3400" b="1" kern="0" spc="-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项目故事线提炼：把项目讲成一个完</a:t>
            </a:r>
            <a:r>
              <a:rPr sz="3400" b="1" kern="0" spc="-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整故事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874645" algn="l" rtl="0" eaLnBrk="0">
              <a:lnSpc>
                <a:spcPct val="92000"/>
              </a:lnSpc>
              <a:spcBef>
                <a:spcPts val="603"/>
              </a:spcBef>
              <a:tabLst/>
            </a:pPr>
            <a:r>
              <a:rPr sz="16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从痛点出发，用逻辑和场景带出项目价值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57"/>
              </a:lnSpc>
              <a:spcBef>
                <a:spcPts val="842"/>
              </a:spcBef>
              <a:tabLst/>
            </a:pPr>
            <a:r>
              <a:rPr sz="4300" b="1" kern="0" spc="-800" baseline="-13189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目</a:t>
            </a:r>
            <a:r>
              <a:rPr sz="2700" kern="0" spc="2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  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提炼原则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</a:t>
            </a:r>
            <a:r>
              <a:rPr sz="11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示例：校园二手手台故事线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2125" algn="l" rtl="0" eaLnBrk="0">
              <a:lnSpc>
                <a:spcPts val="1659"/>
              </a:lnSpc>
              <a:spcBef>
                <a:spcPts val="282"/>
              </a:spcBef>
              <a:tabLst/>
            </a:pPr>
            <a:r>
              <a:rPr sz="1400" b="1" kern="0" spc="30" baseline="-1188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围绕一个核心问题展开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</a:t>
            </a:r>
            <a:r>
              <a:rPr sz="1400" b="1" kern="0" spc="30" baseline="3648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学生闲置多，交易分散</a:t>
            </a:r>
            <a:endParaRPr sz="1400" baseline="36481" dirty="0">
              <a:latin typeface="SimHei"/>
              <a:ea typeface="SimHei"/>
              <a:cs typeface="SimHei"/>
            </a:endParaRPr>
          </a:p>
          <a:p>
            <a:pPr marL="8156575" algn="l" rtl="0" eaLnBrk="0">
              <a:lnSpc>
                <a:spcPct val="100000"/>
              </a:lnSpc>
              <a:spcBef>
                <a:spcPts val="1384"/>
              </a:spcBef>
              <a:tabLst/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目标用户为在校学生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492125" algn="l" rtl="0" eaLnBrk="0">
              <a:lnSpc>
                <a:spcPts val="1808"/>
              </a:lnSpc>
              <a:spcBef>
                <a:spcPts val="524"/>
              </a:spcBef>
              <a:tabLst/>
            </a:pPr>
            <a:r>
              <a:rPr sz="1600" b="1" kern="0" spc="-50" baseline="32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先讲用户，再讲功能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      </a:t>
            </a:r>
            <a:r>
              <a:rPr sz="1400" b="1" kern="0" spc="-50" baseline="-116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提供发布、搜</a:t>
            </a:r>
            <a:r>
              <a:rPr sz="1400" b="1" kern="0" spc="-60" baseline="-116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索、沟通、</a:t>
            </a:r>
            <a:endParaRPr sz="1400" baseline="-11658" dirty="0">
              <a:latin typeface="SimHei"/>
              <a:ea typeface="SimHei"/>
              <a:cs typeface="SimHei"/>
            </a:endParaRPr>
          </a:p>
          <a:p>
            <a:pPr marL="2188210" algn="l" rtl="0" eaLnBrk="0">
              <a:lnSpc>
                <a:spcPts val="1584"/>
              </a:lnSpc>
              <a:spcBef>
                <a:spcPts val="292"/>
              </a:spcBef>
              <a:tabLst/>
            </a:pPr>
            <a:r>
              <a:rPr sz="1300" b="1" kern="0" spc="-8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问题痛点</a:t>
            </a:r>
            <a:r>
              <a:rPr sz="1300" kern="0" spc="-8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b="1" kern="0" spc="-8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</a:t>
            </a:r>
            <a:r>
              <a:rPr sz="1300" kern="0" spc="-8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</a:t>
            </a:r>
            <a:r>
              <a:rPr sz="1300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b="1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核心价值</a:t>
            </a:r>
            <a:r>
              <a:rPr sz="1300" kern="0" spc="14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b="1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验证结果</a:t>
            </a:r>
            <a:r>
              <a:rPr sz="1300" kern="0" spc="12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b="1" kern="0" spc="-9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未来计划</a:t>
            </a:r>
            <a:r>
              <a:rPr sz="13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400" b="1" kern="0" spc="-90" baseline="3408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交易功能</a:t>
            </a:r>
            <a:endParaRPr sz="1400" baseline="34082" dirty="0">
              <a:latin typeface="SimHei"/>
              <a:ea typeface="SimHei"/>
              <a:cs typeface="SimHei"/>
            </a:endParaRPr>
          </a:p>
          <a:p>
            <a:pPr marL="492125" algn="l" rtl="0" eaLnBrk="0">
              <a:lnSpc>
                <a:spcPts val="1188"/>
              </a:lnSpc>
              <a:spcBef>
                <a:spcPts val="609"/>
              </a:spcBef>
              <a:tabLst/>
            </a:pPr>
            <a:r>
              <a:rPr sz="1400" b="1" kern="0" spc="70" baseline="-143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用案例和数据增强可信度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发现真实问题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明确用户是谁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提出方案思路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创造哪些价值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用数据和案例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</a:t>
            </a:r>
            <a:r>
              <a:rPr sz="7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7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步怎么做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提升闲置流转效率与信任感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185670" algn="l" rtl="0" eaLnBrk="0">
              <a:lnSpc>
                <a:spcPts val="857"/>
              </a:lnSpc>
              <a:spcBef>
                <a:spcPts val="369"/>
              </a:spcBef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找到关键痛点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理解用户需求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展示产品/服务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解决多大问题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验证有效性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实现更大影响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8156575" algn="l" rtl="0" eaLnBrk="0">
              <a:lnSpc>
                <a:spcPct val="100000"/>
              </a:lnSpc>
              <a:spcBef>
                <a:spcPts val="537"/>
              </a:spcBef>
              <a:tabLst/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通过校园试点验证需求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492125" algn="l" rtl="0" eaLnBrk="0">
              <a:lnSpc>
                <a:spcPts val="1085"/>
              </a:lnSpc>
              <a:spcBef>
                <a:spcPts val="272"/>
              </a:spcBef>
              <a:tabLst/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结尾落到价值与行动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8156575" algn="l" rtl="0" eaLnBrk="0">
              <a:lnSpc>
                <a:spcPct val="100000"/>
              </a:lnSpc>
              <a:spcBef>
                <a:spcPts val="263"/>
              </a:spcBef>
              <a:tabLst/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后续拓展评价与物流支持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71194" y="1968519"/>
            <a:ext cx="387315" cy="393655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724161" y="2114556"/>
            <a:ext cx="5118127" cy="1123963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790526" y="265553"/>
            <a:ext cx="5639434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《创新创业基础》实践课|第7次：路演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140516" y="5371828"/>
            <a:ext cx="444055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1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故事线清楚，项目更容易被记住。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53373" y="2406631"/>
            <a:ext cx="444541" cy="2266988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40288" y="4165595"/>
            <a:ext cx="622274" cy="622332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298490" y="298100"/>
            <a:ext cx="151764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tabLst/>
            </a:pPr>
            <a:r>
              <a:rPr sz="2100" kern="0" spc="-70" dirty="0">
                <a:solidFill>
                  <a:srgbClr val="A0E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21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38115" y="4933965"/>
            <a:ext cx="10566344" cy="1028656"/>
            <a:chOff x="0" y="0"/>
            <a:chExt cx="10566344" cy="1028656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566344" cy="1028656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591800" cy="10801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83310" algn="l" rtl="0" eaLnBrk="0">
                <a:lnSpc>
                  <a:spcPct val="94000"/>
                </a:lnSpc>
                <a:tabLst/>
              </a:pPr>
              <a:r>
                <a:rPr sz="2300" b="1" kern="0" spc="-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内容要清楚，表达要有温度。</a:t>
              </a:r>
              <a:endParaRPr sz="2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7543838" y="2082827"/>
            <a:ext cx="2806657" cy="2832076"/>
            <a:chOff x="0" y="0"/>
            <a:chExt cx="2806657" cy="2832076"/>
          </a:xfrm>
        </p:grpSpPr>
        <p:pic>
          <p:nvPicPr>
            <p:cNvPr id="144" name="picture 1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06657" cy="2832076"/>
            </a:xfrm>
            <a:prstGeom prst="rect">
              <a:avLst/>
            </a:prstGeom>
          </p:spPr>
        </p:pic>
        <p:sp>
          <p:nvSpPr>
            <p:cNvPr id="146" name="textbox 146"/>
            <p:cNvSpPr/>
            <p:nvPr/>
          </p:nvSpPr>
          <p:spPr>
            <a:xfrm>
              <a:off x="-12700" y="-12700"/>
              <a:ext cx="2832100" cy="2857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1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29639" algn="l" rtl="0" eaLnBrk="0">
                <a:lnSpc>
                  <a:spcPct val="96000"/>
                </a:lnSpc>
                <a:tabLst/>
              </a:pPr>
              <a:r>
                <a:rPr sz="16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表达技巧提醒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91515" algn="l" rtl="0" eaLnBrk="0">
                <a:lnSpc>
                  <a:spcPct val="92000"/>
                </a:lnSpc>
                <a:spcBef>
                  <a:spcPts val="362"/>
                </a:spcBef>
                <a:tabLst/>
              </a:pP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语速适中，声音清楚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9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91515" algn="l" rtl="0" eaLnBrk="0">
                <a:lnSpc>
                  <a:spcPct val="92000"/>
                </a:lnSpc>
                <a:spcBef>
                  <a:spcPts val="399"/>
                </a:spcBef>
                <a:tabLst/>
              </a:pP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眼神交流，自然站姿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91515" algn="l" rtl="0" eaLnBrk="0">
                <a:lnSpc>
                  <a:spcPct val="95000"/>
                </a:lnSpc>
                <a:spcBef>
                  <a:spcPts val="367"/>
                </a:spcBef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少念稿，多讲理解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ts val="3261"/>
                </a:lnSpc>
                <a:spcBef>
                  <a:spcPts val="2"/>
                </a:spcBef>
                <a:tabLst/>
              </a:pPr>
              <a:r>
                <a:rPr sz="2200" b="1" kern="0" spc="-40" dirty="0">
                  <a:solidFill>
                    <a:srgbClr val="3060E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⑪</a:t>
              </a:r>
              <a:r>
                <a:rPr sz="2200" b="1" kern="0" spc="200" dirty="0">
                  <a:solidFill>
                    <a:srgbClr val="3060E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重点处停顿，数字要</a:t>
              </a: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说准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196842" y="2044705"/>
            <a:ext cx="2387595" cy="2114556"/>
            <a:chOff x="0" y="0"/>
            <a:chExt cx="2387595" cy="2114556"/>
          </a:xfrm>
        </p:grpSpPr>
        <p:pic>
          <p:nvPicPr>
            <p:cNvPr id="148" name="picture 1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87595" cy="2114556"/>
            </a:xfrm>
            <a:prstGeom prst="rect">
              <a:avLst/>
            </a:prstGeom>
          </p:spPr>
        </p:pic>
        <p:sp>
          <p:nvSpPr>
            <p:cNvPr id="150" name="textbox 150"/>
            <p:cNvSpPr/>
            <p:nvPr/>
          </p:nvSpPr>
          <p:spPr>
            <a:xfrm>
              <a:off x="-12700" y="-12700"/>
              <a:ext cx="2413000" cy="2160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25450" algn="l" rtl="0" eaLnBrk="0">
                <a:lnSpc>
                  <a:spcPts val="3752"/>
                </a:lnSpc>
                <a:spcBef>
                  <a:spcPts val="6"/>
                </a:spcBef>
                <a:tabLst/>
              </a:pPr>
              <a:r>
                <a:rPr sz="4600" kern="0" spc="-190" baseline="-5334" dirty="0">
                  <a:solidFill>
                    <a:srgbClr val="D0F0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重</a:t>
              </a:r>
              <a:r>
                <a:rPr sz="2900" kern="0" spc="240" dirty="0">
                  <a:solidFill>
                    <a:srgbClr val="D0F0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</a:t>
              </a:r>
              <a:r>
                <a:rPr sz="3200" b="1" kern="0" spc="-190" baseline="10237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开场</a:t>
              </a:r>
              <a:endParaRPr sz="3200" baseline="10237" dirty="0">
                <a:latin typeface="SimHei"/>
                <a:ea typeface="SimHei"/>
                <a:cs typeface="SimHei"/>
              </a:endParaRPr>
            </a:p>
            <a:p>
              <a:pPr marL="749300" algn="l" rtl="0" eaLnBrk="0">
                <a:lnSpc>
                  <a:spcPct val="96000"/>
                </a:lnSpc>
                <a:spcBef>
                  <a:spcPts val="1107"/>
                </a:spcBef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一句话介绍项目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297815" algn="l" rtl="0" eaLnBrk="0">
                <a:lnSpc>
                  <a:spcPct val="100000"/>
                </a:lnSpc>
                <a:spcBef>
                  <a:spcPts val="1724"/>
                </a:spcBef>
                <a:tabLst/>
              </a:pPr>
              <a:r>
                <a:rPr sz="3600" kern="0" spc="-110" baseline="-11575" dirty="0">
                  <a:solidFill>
                    <a:srgbClr val="3060E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?</a:t>
              </a:r>
              <a:r>
                <a:rPr sz="2300" kern="0" spc="90" dirty="0">
                  <a:solidFill>
                    <a:srgbClr val="3060E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</a:t>
              </a:r>
              <a:r>
                <a:rPr sz="2000" kern="0" spc="-80" baseline="7813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快速抛出问题或场景</a:t>
              </a:r>
              <a:endParaRPr sz="2000" baseline="7813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749300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抓住听众注意力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52" name="textbox 152"/>
          <p:cNvSpPr/>
          <p:nvPr/>
        </p:nvSpPr>
        <p:spPr>
          <a:xfrm>
            <a:off x="332491" y="862160"/>
            <a:ext cx="5580379" cy="94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7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路演讲稿与表达技巧</a:t>
            </a:r>
            <a:endParaRPr sz="4700" dirty="0">
              <a:latin typeface="SimHei"/>
              <a:ea typeface="SimHei"/>
              <a:cs typeface="SimHei"/>
            </a:endParaRPr>
          </a:p>
          <a:p>
            <a:pPr marL="29209" algn="l" rtl="0" eaLnBrk="0">
              <a:lnSpc>
                <a:spcPct val="91000"/>
              </a:lnSpc>
              <a:spcBef>
                <a:spcPts val="18"/>
              </a:spcBef>
              <a:tabLst/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既要讲清楚内容，也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要控制节奏与感染力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2673304" y="2089161"/>
            <a:ext cx="2324105" cy="2012916"/>
            <a:chOff x="0" y="0"/>
            <a:chExt cx="2324105" cy="2012916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324105" cy="2012916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-12700" y="-12700"/>
              <a:ext cx="2350135" cy="20593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27125" algn="l" rtl="0" eaLnBrk="0">
                <a:lnSpc>
                  <a:spcPct val="99000"/>
                </a:lnSpc>
                <a:spcBef>
                  <a:spcPts val="4"/>
                </a:spcBef>
                <a:tabLst/>
              </a:pPr>
              <a:r>
                <a:rPr sz="2100" b="1" kern="0" spc="-70" dirty="0">
                  <a:solidFill>
                    <a:srgbClr val="4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主体</a:t>
              </a:r>
              <a:endParaRPr sz="2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6000"/>
                </a:lnSpc>
                <a:spcBef>
                  <a:spcPts val="363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讲用户与需求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5000"/>
                </a:lnSpc>
                <a:spcBef>
                  <a:spcPts val="371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讲解决方案与优势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讲数据、验证与模式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5149872" y="2089161"/>
            <a:ext cx="2235132" cy="2019309"/>
            <a:chOff x="0" y="0"/>
            <a:chExt cx="2235132" cy="2019309"/>
          </a:xfrm>
        </p:grpSpPr>
        <p:pic>
          <p:nvPicPr>
            <p:cNvPr id="158" name="picture 15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235132" cy="2019309"/>
            </a:xfrm>
            <a:prstGeom prst="rect">
              <a:avLst/>
            </a:prstGeom>
          </p:spPr>
        </p:pic>
        <p:sp>
          <p:nvSpPr>
            <p:cNvPr id="160" name="textbox 160"/>
            <p:cNvSpPr/>
            <p:nvPr/>
          </p:nvSpPr>
          <p:spPr>
            <a:xfrm>
              <a:off x="-12700" y="-12700"/>
              <a:ext cx="2260600" cy="20650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08075" algn="l" rtl="0" eaLnBrk="0">
                <a:lnSpc>
                  <a:spcPct val="98000"/>
                </a:lnSpc>
                <a:spcBef>
                  <a:spcPts val="6"/>
                </a:spcBef>
                <a:tabLst/>
              </a:pPr>
              <a:r>
                <a:rPr sz="2100" b="1" kern="0" spc="-60" dirty="0">
                  <a:solidFill>
                    <a:srgbClr val="F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结尾</a:t>
              </a:r>
              <a:endParaRPr sz="2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6000"/>
                </a:lnSpc>
                <a:spcBef>
                  <a:spcPts val="362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再次强调核心价值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5000"/>
                </a:lnSpc>
                <a:spcBef>
                  <a:spcPts val="371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提出下一步计划或诉求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感谢并引出答辩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203213" y="4286237"/>
            <a:ext cx="7213538" cy="609605"/>
            <a:chOff x="0" y="0"/>
            <a:chExt cx="7213538" cy="609605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7213538" cy="609605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7239000" cy="6667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09650" algn="l" rtl="0" eaLnBrk="0">
                <a:lnSpc>
                  <a:spcPct val="101000"/>
                </a:lnSpc>
                <a:spcBef>
                  <a:spcPts val="7"/>
                </a:spcBef>
                <a:tabLst/>
              </a:pPr>
              <a:r>
                <a:rPr sz="2300" kern="0" spc="-10" baseline="2264" dirty="0">
                  <a:solidFill>
                    <a:srgbClr val="103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30秒开场模板：</a:t>
              </a:r>
              <a:r>
                <a:rPr sz="1400" kern="0" spc="-10" dirty="0">
                  <a:solidFill>
                    <a:srgbClr val="103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我们关注</a:t>
              </a:r>
              <a:r>
                <a:rPr sz="1400" u="dotted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问题，面向</a:t>
              </a:r>
              <a:r>
                <a:rPr sz="1400" u="dotted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用户，提出</a:t>
              </a:r>
              <a:r>
                <a:rPr sz="1400" u="dotted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400" kern="0" spc="4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方案。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66" name="textbox 166"/>
          <p:cNvSpPr/>
          <p:nvPr/>
        </p:nvSpPr>
        <p:spPr>
          <a:xfrm>
            <a:off x="784156" y="265553"/>
            <a:ext cx="5664834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|第7次：路演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12740" y="4610101"/>
            <a:ext cx="10579084" cy="1358914"/>
            <a:chOff x="0" y="0"/>
            <a:chExt cx="10579084" cy="1358914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9084" cy="1358914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10604500" cy="14077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9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67204" algn="l" rtl="0" eaLnBrk="0">
                <a:lnSpc>
                  <a:spcPct val="92000"/>
                </a:lnSpc>
                <a:tabLst/>
              </a:pPr>
              <a:r>
                <a:rPr sz="1400" b="1" kern="0" spc="50" dirty="0">
                  <a:solidFill>
                    <a:srgbClr val="102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答辩技巧：先给结论</a:t>
              </a:r>
              <a:r>
                <a:rPr sz="1400" b="1" kern="0" spc="40" dirty="0">
                  <a:solidFill>
                    <a:srgbClr val="102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，再给依据；听清问题，简洁作答。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096010" algn="l" rtl="0" eaLnBrk="0">
                <a:lnSpc>
                  <a:spcPct val="94000"/>
                </a:lnSpc>
                <a:tabLst/>
              </a:pPr>
              <a:r>
                <a:rPr sz="21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准备越充分，答辩越从容。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5432407" y="1654148"/>
          <a:ext cx="4812665" cy="2857499"/>
        </p:xfrm>
        <a:graphic>
          <a:graphicData uri="http://schemas.openxmlformats.org/drawingml/2006/table">
            <a:tbl>
              <a:tblPr/>
              <a:tblGrid>
                <a:gridCol w="2428875"/>
                <a:gridCol w="2383789"/>
              </a:tblGrid>
              <a:tr h="3968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9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典型问题与应答要点</a:t>
                      </a:r>
                      <a:endParaRPr sz="1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203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50" dirty="0">
                          <a:solidFill>
                            <a:srgbClr val="102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72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6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应答要点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ts val="139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40" baseline="4269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问题1</a:t>
                      </a:r>
                      <a:r>
                        <a:rPr sz="11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你的目标用户是谁</a:t>
                      </a: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?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描述核心用户群与典型场景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40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baseline="45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问题2</a:t>
                      </a: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为什么他们</a:t>
                      </a: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需要你的方案?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回到痛点与价值主张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07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问题3</a:t>
                      </a:r>
                      <a:r>
                        <a:rPr sz="1100" kern="0" spc="2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你的竞争优势是什么?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说明差异化与验证依据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问题4</a:t>
                      </a:r>
                      <a:r>
                        <a:rPr sz="11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如何实现可持续运营?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71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说明商业模式和资源支持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ts val="13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问题5</a:t>
                      </a:r>
                      <a:r>
                        <a:rPr sz="11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目前最大的风险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是什么?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71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正面回应并给出应对措施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 rot="21600000">
            <a:off x="139722" y="12727"/>
            <a:ext cx="10407617" cy="635000"/>
            <a:chOff x="0" y="0"/>
            <a:chExt cx="10407617" cy="635000"/>
          </a:xfrm>
        </p:grpSpPr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407617" cy="635000"/>
            </a:xfrm>
            <a:prstGeom prst="rect">
              <a:avLst/>
            </a:prstGeom>
          </p:spPr>
        </p:pic>
        <p:sp>
          <p:nvSpPr>
            <p:cNvPr id="178" name="textbox 178"/>
            <p:cNvSpPr/>
            <p:nvPr/>
          </p:nvSpPr>
          <p:spPr>
            <a:xfrm>
              <a:off x="-12700" y="-12700"/>
              <a:ext cx="10433050" cy="736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6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4464" algn="l" rtl="0" eaLnBrk="0">
                <a:lnSpc>
                  <a:spcPct val="81000"/>
                </a:lnSpc>
                <a:tabLst/>
              </a:pPr>
              <a:r>
                <a:rPr sz="25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endParaRPr sz="25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3270203" y="2108222"/>
            <a:ext cx="1968534" cy="2393904"/>
            <a:chOff x="0" y="0"/>
            <a:chExt cx="1968534" cy="2393904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968534" cy="2393904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-12700" y="-12700"/>
              <a:ext cx="1994535" cy="2419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7954" algn="l" rtl="0" eaLnBrk="0">
                <a:lnSpc>
                  <a:spcPct val="96000"/>
                </a:lnSpc>
                <a:tabLst/>
              </a:pPr>
              <a:r>
                <a:rPr sz="1300" b="1" kern="0" spc="-80" dirty="0">
                  <a:solidFill>
                    <a:srgbClr val="2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商业模式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6200" algn="l" rtl="0" eaLnBrk="0">
                <a:lnSpc>
                  <a:spcPct val="89000"/>
                </a:lnSpc>
                <a:spcBef>
                  <a:spcPts val="277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可持续盈利逻辑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177164" algn="l" rtl="0" eaLnBrk="0">
                <a:lnSpc>
                  <a:spcPts val="1745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与收入来源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266704" y="2152679"/>
            <a:ext cx="1917678" cy="2324052"/>
            <a:chOff x="0" y="0"/>
            <a:chExt cx="1917678" cy="2324052"/>
          </a:xfrm>
        </p:grpSpPr>
        <p:pic>
          <p:nvPicPr>
            <p:cNvPr id="184" name="picture 1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17678" cy="2324052"/>
            </a:xfrm>
            <a:prstGeom prst="rect">
              <a:avLst/>
            </a:prstGeom>
          </p:spPr>
        </p:pic>
        <p:sp>
          <p:nvSpPr>
            <p:cNvPr id="186" name="textbox 186"/>
            <p:cNvSpPr/>
            <p:nvPr/>
          </p:nvSpPr>
          <p:spPr>
            <a:xfrm>
              <a:off x="-12700" y="-12700"/>
              <a:ext cx="1943100" cy="2365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5254" algn="l" rtl="0" eaLnBrk="0">
                <a:lnSpc>
                  <a:spcPct val="98000"/>
                </a:lnSpc>
                <a:spcBef>
                  <a:spcPts val="2"/>
                </a:spcBef>
                <a:tabLst/>
              </a:pPr>
              <a:r>
                <a:rPr sz="1300" b="1" kern="0" spc="-80" dirty="0">
                  <a:solidFill>
                    <a:srgbClr val="2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项目价值</a:t>
              </a:r>
              <a:r>
                <a:rPr sz="1300" kern="0" spc="120" dirty="0">
                  <a:solidFill>
                    <a:srgbClr val="2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1300" b="1" kern="0" spc="-80" dirty="0">
                  <a:solidFill>
                    <a:srgbClr val="2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用户与市场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2714" algn="l" rtl="0" eaLnBrk="0">
                <a:lnSpc>
                  <a:spcPts val="1085"/>
                </a:lnSpc>
                <a:spcBef>
                  <a:spcPts val="273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阐述价值创造</a:t>
              </a: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洞察用户需求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64464" algn="l" rtl="0" eaLnBrk="0">
                <a:lnSpc>
                  <a:spcPts val="1092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与社会意义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与市场空间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88" name="textbox 188"/>
          <p:cNvSpPr/>
          <p:nvPr/>
        </p:nvSpPr>
        <p:spPr>
          <a:xfrm>
            <a:off x="299723" y="920425"/>
            <a:ext cx="7187565" cy="653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300" b="1" kern="0" spc="-14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答辩准备：评委可能会问什么?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2241503" y="2159013"/>
            <a:ext cx="952575" cy="2317718"/>
            <a:chOff x="0" y="0"/>
            <a:chExt cx="952575" cy="2317718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952575" cy="2317718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-12700" y="-12700"/>
              <a:ext cx="978535" cy="2359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9704" algn="l" rtl="0" eaLnBrk="0">
                <a:lnSpc>
                  <a:spcPct val="95000"/>
                </a:lnSpc>
                <a:tabLst/>
              </a:pPr>
              <a:r>
                <a:rPr sz="1300" b="1" kern="0" spc="-90" dirty="0">
                  <a:solidFill>
                    <a:srgbClr val="102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解决方案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90500" indent="-38100" algn="l" rtl="0" eaLnBrk="0">
                <a:lnSpc>
                  <a:spcPct val="156000"/>
                </a:lnSpc>
                <a:spcBef>
                  <a:spcPts val="1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清晰方案设计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与核心技术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94" name="textbox 194"/>
          <p:cNvSpPr/>
          <p:nvPr/>
        </p:nvSpPr>
        <p:spPr>
          <a:xfrm>
            <a:off x="790526" y="240157"/>
            <a:ext cx="5546090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《创新创业基础》实践课|第7次：路演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311124" y="1572761"/>
            <a:ext cx="3911600" cy="24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提前预判问题，才能答得更稳、更有说服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</a:t>
            </a:r>
            <a:endParaRPr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1102506" y="4681058"/>
            <a:ext cx="7232015" cy="1074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14829" algn="l" rtl="0" eaLnBrk="0">
              <a:lnSpc>
                <a:spcPct val="92000"/>
              </a:lnSpc>
              <a:tabLst/>
            </a:pPr>
            <a:r>
              <a:rPr sz="1700" b="1" kern="0" spc="18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演练不是走流程，而是为正式展示提前发现问题。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21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多演练一次，正式展</a:t>
            </a:r>
            <a:r>
              <a:rPr sz="2100" b="1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示就更自信。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7651750" y="1574771"/>
            <a:ext cx="1961514" cy="2764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0865" algn="l" rtl="0" eaLnBrk="0">
              <a:lnSpc>
                <a:spcPct val="96000"/>
              </a:lnSpc>
              <a:spcBef>
                <a:spcPts val="4"/>
              </a:spcBef>
              <a:tabLst>
                <a:tab pos="729615" algn="l"/>
              </a:tabLst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互评关注点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850" algn="l" rtl="0" eaLnBrk="0">
              <a:lnSpc>
                <a:spcPct val="96000"/>
              </a:lnSpc>
              <a:spcBef>
                <a:spcPts val="392"/>
              </a:spcBef>
              <a:tabLst>
                <a:tab pos="45910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逻辑是否清楚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402"/>
              </a:spcBef>
              <a:tabLst>
                <a:tab pos="45910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表达是否流畅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392"/>
              </a:spcBef>
              <a:tabLst>
                <a:tab pos="45910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时间是否控制合理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392"/>
              </a:spcBef>
              <a:tabLst>
                <a:tab pos="45910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回答是否准确有依据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3"/>
              </a:spcBef>
              <a:tabLst>
                <a:tab pos="45720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团队配合是否默契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0820" y="4013224"/>
            <a:ext cx="292079" cy="292075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64450" y="3594113"/>
            <a:ext cx="298449" cy="285741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670820" y="3155940"/>
            <a:ext cx="292079" cy="292134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670820" y="2698767"/>
            <a:ext cx="298449" cy="304802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677190" y="2222471"/>
            <a:ext cx="298449" cy="298468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727941" y="1587471"/>
            <a:ext cx="495292" cy="463567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4699001" y="1695807"/>
            <a:ext cx="1940560" cy="2562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模拟答辩流程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40005" algn="l" rtl="0" eaLnBrk="0">
              <a:lnSpc>
                <a:spcPct val="95000"/>
              </a:lnSpc>
              <a:spcBef>
                <a:spcPts val="1441"/>
              </a:spcBef>
              <a:tabLst/>
            </a:pPr>
            <a:r>
              <a:rPr sz="1100" b="1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路演展示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ts val="967"/>
              </a:lnSpc>
              <a:spcBef>
                <a:spcPts val="347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小组按事先设定时间进行路演展示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40005" algn="l" rtl="0" eaLnBrk="0">
              <a:lnSpc>
                <a:spcPct val="96000"/>
              </a:lnSpc>
              <a:spcBef>
                <a:spcPts val="829"/>
              </a:spcBef>
              <a:tabLst/>
            </a:pPr>
            <a:r>
              <a:rPr sz="1200" b="1" kern="0" spc="-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评委提问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ts val="967"/>
              </a:lnSpc>
              <a:spcBef>
                <a:spcPts val="421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评委或同学根据内容进行提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问。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40005" algn="l" rtl="0" eaLnBrk="0">
              <a:lnSpc>
                <a:spcPct val="96000"/>
              </a:lnSpc>
              <a:spcBef>
                <a:spcPts val="927"/>
              </a:spcBef>
              <a:tabLst/>
            </a:pPr>
            <a:r>
              <a:rPr sz="1100" b="1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小组作答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ct val="97000"/>
              </a:lnSpc>
              <a:spcBef>
                <a:spcPts val="354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小组成员协作回答，突出要点与依据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40005" algn="l" rtl="0" eaLnBrk="0">
              <a:lnSpc>
                <a:spcPct val="95000"/>
              </a:lnSpc>
              <a:spcBef>
                <a:spcPts val="1003"/>
              </a:spcBef>
              <a:tabLst/>
            </a:pPr>
            <a:r>
              <a:rPr sz="1100" b="1" kern="0" spc="1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同伴反馈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ts val="967"/>
              </a:lnSpc>
              <a:spcBef>
                <a:spcPts val="347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同学从表达、内容、配合等方面反馈。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40005" algn="l" rtl="0" eaLnBrk="0">
              <a:lnSpc>
                <a:spcPct val="96000"/>
              </a:lnSpc>
              <a:spcBef>
                <a:spcPts val="977"/>
              </a:spcBef>
              <a:tabLst/>
            </a:pPr>
            <a:r>
              <a:rPr sz="1100" b="1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复盘优化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总结问题与亮点，提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出改进方案。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174727" y="2118271"/>
            <a:ext cx="2004060" cy="2152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300" b="1" kern="0" spc="2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主讲人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320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负责路演展示，清晰传达项目核心内容。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392"/>
              </a:spcBef>
              <a:tabLst/>
            </a:pPr>
            <a:r>
              <a:rPr sz="1300" b="1" kern="0" spc="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辅助答辩人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369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补充说明要点，协助回答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评委提问。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400"/>
              </a:spcBef>
              <a:tabLst/>
            </a:pPr>
            <a:r>
              <a:rPr sz="1300" b="1" kern="0" spc="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计时与记录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419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把控时间进度，记录问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题与改进点。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2"/>
              </a:spcBef>
              <a:tabLst/>
            </a:pPr>
            <a:r>
              <a:rPr sz="1300" b="1" kern="0" spc="1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同伴评议员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观察表现，提供建设性反馈建议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2553355" y="707642"/>
            <a:ext cx="5537834" cy="787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3800" b="1" kern="0" spc="1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模拟答辩流程与小组协</a:t>
            </a:r>
            <a:r>
              <a:rPr sz="3800" b="1" kern="0" spc="1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932180" algn="l" rtl="0" eaLnBrk="0">
              <a:lnSpc>
                <a:spcPct val="95000"/>
              </a:lnSpc>
              <a:spcBef>
                <a:spcPts val="9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通过演练发现问题、优化表达、提升团队配合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114281" y="76213"/>
            <a:ext cx="6133465" cy="455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95300" algn="l" rtl="0" eaLnBrk="0">
              <a:lnSpc>
                <a:spcPct val="94000"/>
              </a:lnSpc>
              <a:spcBef>
                <a:spcPts val="1"/>
              </a:spcBef>
              <a:tabLst>
                <a:tab pos="681990" algn="l"/>
              </a:tabLst>
            </a:pPr>
            <a:r>
              <a:rPr sz="17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8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《创新创业基础》实践课|第7次：路演</a:t>
            </a:r>
            <a:r>
              <a:rPr sz="1700" b="1" kern="0" spc="0" dirty="0">
                <a:solidFill>
                  <a:srgbClr val="102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8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</a:t>
            </a:r>
            <a:r>
              <a:rPr sz="1700" b="1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6981" y="88913"/>
            <a:ext cx="482658" cy="406383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3765536" y="1637295"/>
            <a:ext cx="850900" cy="2593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4300" kern="0" spc="-27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品</a:t>
            </a:r>
            <a:endParaRPr sz="43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84"/>
              </a:spcBef>
              <a:tabLst/>
            </a:pPr>
            <a:r>
              <a:rPr sz="1600" kern="0" spc="-10" dirty="0">
                <a:solidFill>
                  <a:srgbClr val="A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endParaRPr sz="1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00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2000" kern="0" spc="-10" dirty="0">
                <a:solidFill>
                  <a:srgbClr val="A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679435" y="1517646"/>
            <a:ext cx="1901189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96000"/>
              </a:lnSpc>
              <a:spcBef>
                <a:spcPts val="6"/>
              </a:spcBef>
              <a:tabLst>
                <a:tab pos="647700" algn="l"/>
              </a:tabLst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团队分工建议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92135" y="1530346"/>
            <a:ext cx="501662" cy="469901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90528" y="2673371"/>
            <a:ext cx="488922" cy="469901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96898" y="2082827"/>
            <a:ext cx="482551" cy="463507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6898" y="3854459"/>
            <a:ext cx="476287" cy="463567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90528" y="3263915"/>
            <a:ext cx="482657" cy="457174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975815" y="133369"/>
            <a:ext cx="558782" cy="298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19004" y="5130793"/>
            <a:ext cx="10579189" cy="838222"/>
            <a:chOff x="0" y="0"/>
            <a:chExt cx="10579189" cy="838222"/>
          </a:xfrm>
        </p:grpSpPr>
        <p:pic>
          <p:nvPicPr>
            <p:cNvPr id="244" name="picture 2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9189" cy="838222"/>
            </a:xfrm>
            <a:prstGeom prst="rect">
              <a:avLst/>
            </a:prstGeom>
          </p:spPr>
        </p:pic>
        <p:sp>
          <p:nvSpPr>
            <p:cNvPr id="246" name="textbox 246"/>
            <p:cNvSpPr/>
            <p:nvPr/>
          </p:nvSpPr>
          <p:spPr>
            <a:xfrm>
              <a:off x="-12700" y="-12700"/>
              <a:ext cx="10605134" cy="885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39825" algn="l" rtl="0" eaLnBrk="0">
                <a:lnSpc>
                  <a:spcPct val="94000"/>
                </a:lnSpc>
                <a:spcBef>
                  <a:spcPts val="6"/>
                </a:spcBef>
                <a:tabLst/>
              </a:pPr>
              <a:r>
                <a:rPr sz="1900" b="1" kern="0" spc="-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把过程做扎实，终评展示更有底气</a:t>
              </a:r>
              <a:r>
                <a:rPr sz="1900" b="1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48" name="picture 2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54524" y="1644655"/>
            <a:ext cx="3905217" cy="304802"/>
          </a:xfrm>
          <a:prstGeom prst="rect">
            <a:avLst/>
          </a:prstGeom>
        </p:spPr>
      </p:pic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4244978" y="1679603"/>
          <a:ext cx="3841115" cy="1688465"/>
        </p:xfrm>
        <a:graphic>
          <a:graphicData uri="http://schemas.openxmlformats.org/drawingml/2006/table">
            <a:tbl>
              <a:tblPr/>
              <a:tblGrid>
                <a:gridCol w="117475"/>
                <a:gridCol w="489584"/>
                <a:gridCol w="379729"/>
                <a:gridCol w="2854325"/>
              </a:tblGrid>
              <a:tr h="26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baseline="39066" dirty="0">
                          <a:solidFill>
                            <a:srgbClr val="0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②</a:t>
                      </a:r>
                      <a:r>
                        <a:rPr sz="700" kern="0" spc="170" dirty="0">
                          <a:solidFill>
                            <a:srgbClr val="0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路演讲稿示例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35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5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2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开场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各位老师、同学，大家好!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07950" algn="l" rtl="0" eaLnBrk="0">
                        <a:lnSpc>
                          <a:spcPct val="95000"/>
                        </a:lnSpc>
                        <a:spcBef>
                          <a:spcPts val="138"/>
                        </a:spcBef>
                        <a:tabLst/>
                      </a:pPr>
                      <a:r>
                        <a:rPr sz="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我们是XX团队，今天向大家汇报我们的项目——XX。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2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主体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我们发现了……问题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，面向……人群。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07950" algn="l" rtl="0" eaLnBrk="0">
                        <a:lnSpc>
                          <a:spcPct val="83000"/>
                        </a:lnSpc>
                        <a:spcBef>
                          <a:spcPts val="131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我们的解决方案是……,核心优势在于……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0" algn="l" rtl="0" eaLnBrk="0">
                        <a:lnSpc>
                          <a:spcPts val="106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商业模式主要通过……实现价值与盈利。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14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b="1" kern="0" spc="-3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结尾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我们的团队具备……能力与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资源，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07950" algn="l" rtl="0" eaLnBrk="0">
                        <a:lnSpc>
                          <a:spcPts val="1000"/>
                        </a:lnSpc>
                        <a:tabLst/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计划在……阶段完成关键目标。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感谢大家的聆听，期待您的建议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与指正!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2" name="picture 2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60894" y="3467077"/>
            <a:ext cx="3898848" cy="285800"/>
          </a:xfrm>
          <a:prstGeom prst="rect">
            <a:avLst/>
          </a:prstGeom>
        </p:spPr>
      </p:pic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4260894" y="3527419"/>
          <a:ext cx="3898265" cy="1586865"/>
        </p:xfrm>
        <a:graphic>
          <a:graphicData uri="http://schemas.openxmlformats.org/drawingml/2006/table">
            <a:tbl>
              <a:tblPr/>
              <a:tblGrid>
                <a:gridCol w="1085214"/>
                <a:gridCol w="1022350"/>
                <a:gridCol w="1092200"/>
                <a:gridCol w="590550"/>
                <a:gridCol w="107950"/>
              </a:tblGrid>
              <a:tr h="244475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875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004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④</a:t>
                      </a:r>
                      <a:r>
                        <a:rPr sz="1300" kern="0" spc="-120" dirty="0">
                          <a:solidFill>
                            <a:srgbClr val="004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模拟答辩记录表示例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2119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b="1" kern="0" spc="-10" dirty="0">
                          <a:solidFill>
                            <a:srgbClr val="103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56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表现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b="1" kern="0" spc="-30" dirty="0">
                          <a:solidFill>
                            <a:srgbClr val="102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建议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160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3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改进人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目标客户是否聚焦?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1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indent="12064" algn="l" rtl="0" eaLnBrk="0">
                        <a:lnSpc>
                          <a:spcPct val="108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回答较笼统，</a:t>
                      </a:r>
                      <a:r>
                        <a:rPr sz="800" kern="0" spc="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未给出</a:t>
                      </a:r>
                      <a:r>
                        <a:rPr sz="800" kern="0" spc="3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清晰画像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55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indent="-19050" algn="l" rtl="0" eaLnBrk="0">
                        <a:lnSpc>
                          <a:spcPct val="103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补充用户画像与细分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场景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30" dirty="0">
                          <a:solidFill>
                            <a:srgbClr val="203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张三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收入来源是否可行?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indent="127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说明不够具体，</a:t>
                      </a:r>
                      <a:r>
                        <a:rPr sz="800" kern="0" spc="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缺少</a:t>
                      </a:r>
                      <a:r>
                        <a:rPr sz="800" kern="0" spc="3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数据支撑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indent="-190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补充市场数据与验证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依据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李四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竞争优势如何体现?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优势描述较泛泛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indent="3111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用案例或数据强化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差异化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303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王五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团队能力能否支撑?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1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分工说明不够清晰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indent="-190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明确分工与能力匹配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说明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赵六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6" name="picture 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7454" y="1981187"/>
            <a:ext cx="3740227" cy="1181087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8616959" y="1943091"/>
            <a:ext cx="1432560" cy="276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5000"/>
              </a:lnSpc>
              <a:spcBef>
                <a:spcPts val="2"/>
              </a:spcBef>
              <a:tabLst>
                <a:tab pos="57975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结构完整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6000"/>
              </a:lnSpc>
              <a:spcBef>
                <a:spcPts val="397"/>
              </a:spcBef>
              <a:tabLst>
                <a:tab pos="57975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逻辑清晰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6000"/>
              </a:lnSpc>
              <a:spcBef>
                <a:spcPts val="399"/>
              </a:spcBef>
              <a:tabLst>
                <a:tab pos="57975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表达准确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6000"/>
              </a:lnSpc>
              <a:spcBef>
                <a:spcPts val="391"/>
              </a:spcBef>
              <a:tabLst>
                <a:tab pos="57975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答辩有准备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57200" algn="l" rtl="0" eaLnBrk="0">
              <a:lnSpc>
                <a:spcPct val="96000"/>
              </a:lnSpc>
              <a:spcBef>
                <a:spcPts val="1"/>
              </a:spcBef>
              <a:tabLst>
                <a:tab pos="57975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记录规范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629659" y="4235447"/>
            <a:ext cx="444542" cy="438172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29659" y="3657571"/>
            <a:ext cx="438171" cy="444506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629659" y="3086088"/>
            <a:ext cx="438171" cy="438172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629659" y="2514606"/>
            <a:ext cx="438171" cy="438172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629659" y="1955791"/>
            <a:ext cx="438171" cy="431778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393726" y="3816363"/>
            <a:ext cx="2935604" cy="1283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1615" algn="l" rtl="0" eaLnBrk="0">
              <a:lnSpc>
                <a:spcPts val="970"/>
              </a:lnSpc>
              <a:spcBef>
                <a:spcPts val="1"/>
              </a:spcBef>
              <a:tabLst>
                <a:tab pos="266065" algn="l"/>
              </a:tabLst>
            </a:pPr>
            <a:r>
              <a:rPr sz="800" kern="0" spc="0" dirty="0">
                <a:solidFill>
                  <a:srgbClr val="101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800" kern="0" spc="90" dirty="0">
                <a:solidFill>
                  <a:srgbClr val="101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你们的目标客户是谁?需求</a:t>
            </a:r>
            <a:r>
              <a:rPr sz="800" kern="0" spc="80" dirty="0">
                <a:solidFill>
                  <a:srgbClr val="101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有多大?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967"/>
              </a:lnSpc>
              <a:spcBef>
                <a:spcPts val="1126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目前已有的解决方案是什么?你们的差异化优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势是什么?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66065" algn="l" rtl="0" eaLnBrk="0">
              <a:lnSpc>
                <a:spcPts val="970"/>
              </a:lnSpc>
              <a:spcBef>
                <a:spcPts val="1086"/>
              </a:spcBef>
              <a:tabLst/>
            </a:pPr>
            <a:r>
              <a:rPr sz="800" kern="0" spc="80" dirty="0">
                <a:solidFill>
                  <a:srgbClr val="101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你们的商业模式如何实现盈利?成本结构</a:t>
            </a:r>
            <a:r>
              <a:rPr sz="800" kern="0" spc="70" dirty="0">
                <a:solidFill>
                  <a:srgbClr val="101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66065" algn="l" rtl="0" eaLnBrk="0">
              <a:lnSpc>
                <a:spcPts val="967"/>
              </a:lnSpc>
              <a:spcBef>
                <a:spcPts val="1226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团队核心成员的分工与优势是什么?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ts val="970"/>
              </a:lnSpc>
              <a:spcBef>
                <a:spcPts val="6"/>
              </a:spcBef>
              <a:tabLst>
                <a:tab pos="26606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未来可能面临的主要风险是什么?如何应对?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6426" y="4864113"/>
            <a:ext cx="203213" cy="209555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6426" y="3829063"/>
            <a:ext cx="209477" cy="203162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292741" y="779450"/>
            <a:ext cx="3002914" cy="58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9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78" name="table 278"/>
          <p:cNvGraphicFramePr>
            <a:graphicFrameLocks noGrp="1"/>
          </p:cNvGraphicFramePr>
          <p:nvPr/>
        </p:nvGraphicFramePr>
        <p:xfrm>
          <a:off x="438171" y="2607040"/>
          <a:ext cx="3482340" cy="407035"/>
        </p:xfrm>
        <a:graphic>
          <a:graphicData uri="http://schemas.openxmlformats.org/drawingml/2006/table">
            <a:tbl>
              <a:tblPr/>
              <a:tblGrid>
                <a:gridCol w="617854"/>
                <a:gridCol w="730250"/>
                <a:gridCol w="704850"/>
                <a:gridCol w="730884"/>
                <a:gridCol w="698500"/>
              </a:tblGrid>
              <a:tr h="407034">
                <a:tc>
                  <a:txBody>
                    <a:bodyPr/>
                    <a:lstStyle/>
                    <a:p>
                      <a:pPr marL="69850" algn="l" rtl="0" eaLnBrk="0">
                        <a:lnSpc>
                          <a:spcPts val="855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项目定位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350" algn="l" rtl="0" eaLnBrk="0">
                        <a:lnSpc>
                          <a:spcPts val="740"/>
                        </a:lnSpc>
                        <a:spcBef>
                          <a:spcPts val="591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4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项目简介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愿景与使命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50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ts val="858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问题机会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12395" algn="l" rtl="0" eaLnBrk="0">
                        <a:lnSpc>
                          <a:spcPts val="738"/>
                        </a:lnSpc>
                        <a:spcBef>
                          <a:spcPts val="533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7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行业背景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12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痛点与机会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6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ts val="852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解决方案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12395" algn="l" rtl="0" eaLnBrk="0">
                        <a:lnSpc>
                          <a:spcPts val="738"/>
                        </a:lnSpc>
                        <a:spcBef>
                          <a:spcPts val="544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102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110" dirty="0">
                          <a:solidFill>
                            <a:srgbClr val="102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核心方案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产品/服务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6059" algn="l" rtl="0" eaLnBrk="0">
                        <a:lnSpc>
                          <a:spcPts val="855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102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商业模式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7795" algn="l" rtl="0" eaLnBrk="0">
                        <a:lnSpc>
                          <a:spcPts val="738"/>
                        </a:lnSpc>
                        <a:spcBef>
                          <a:spcPts val="538"/>
                        </a:spcBef>
                        <a:tabLst/>
                      </a:pPr>
                      <a:r>
                        <a:rPr sz="600" kern="0" spc="-2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2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收入来源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795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1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盈利逻辑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ts val="976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团队计划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7160" algn="l" rtl="0" eaLnBrk="0">
                        <a:lnSpc>
                          <a:spcPts val="740"/>
                        </a:lnSpc>
                        <a:spcBef>
                          <a:spcPts val="460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1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团队介绍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5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计划与里程碑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0" name="textbox 280"/>
          <p:cNvSpPr/>
          <p:nvPr/>
        </p:nvSpPr>
        <p:spPr>
          <a:xfrm>
            <a:off x="828536" y="195701"/>
            <a:ext cx="5734684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1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1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|第7</a:t>
            </a:r>
            <a:r>
              <a:rPr sz="1700" b="1" kern="0" spc="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次：路演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279444" y="3454409"/>
            <a:ext cx="3822616" cy="317470"/>
            <a:chOff x="0" y="0"/>
            <a:chExt cx="3822616" cy="317470"/>
          </a:xfrm>
        </p:grpSpPr>
        <p:pic>
          <p:nvPicPr>
            <p:cNvPr id="282" name="picture 28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3822616" cy="317470"/>
            </a:xfrm>
            <a:prstGeom prst="rect">
              <a:avLst/>
            </a:prstGeom>
          </p:spPr>
        </p:pic>
        <p:sp>
          <p:nvSpPr>
            <p:cNvPr id="284" name="textbox 284"/>
            <p:cNvSpPr/>
            <p:nvPr/>
          </p:nvSpPr>
          <p:spPr>
            <a:xfrm>
              <a:off x="-12700" y="-12700"/>
              <a:ext cx="3848100" cy="365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95604" algn="l" rtl="0" eaLnBrk="0">
                <a:lnSpc>
                  <a:spcPct val="96000"/>
                </a:lnSpc>
                <a:spcBef>
                  <a:spcPts val="6"/>
                </a:spcBef>
                <a:tabLst/>
              </a:pPr>
              <a:r>
                <a:rPr sz="13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答辩问题清单示例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298449" y="1638321"/>
            <a:ext cx="3797347" cy="298409"/>
            <a:chOff x="0" y="0"/>
            <a:chExt cx="3797347" cy="298409"/>
          </a:xfrm>
        </p:grpSpPr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3797347" cy="298409"/>
            </a:xfrm>
            <a:prstGeom prst="rect">
              <a:avLst/>
            </a:prstGeom>
          </p:spPr>
        </p:pic>
        <p:sp>
          <p:nvSpPr>
            <p:cNvPr id="288" name="textbox 288"/>
            <p:cNvSpPr/>
            <p:nvPr/>
          </p:nvSpPr>
          <p:spPr>
            <a:xfrm>
              <a:off x="-12700" y="-12700"/>
              <a:ext cx="3823334" cy="345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2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76554" algn="l" rtl="0" eaLnBrk="0">
                <a:lnSpc>
                  <a:spcPct val="95000"/>
                </a:lnSpc>
                <a:tabLst/>
              </a:pPr>
              <a:r>
                <a:rPr sz="1300" b="1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路演</a:t>
              </a:r>
              <a:r>
                <a:rPr sz="13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PPT</a:t>
              </a:r>
              <a:r>
                <a:rPr sz="1300" b="1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提纲示例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8489937" y="1358913"/>
            <a:ext cx="1784326" cy="450840"/>
            <a:chOff x="0" y="0"/>
            <a:chExt cx="1784326" cy="450840"/>
          </a:xfrm>
        </p:grpSpPr>
        <p:pic>
          <p:nvPicPr>
            <p:cNvPr id="290" name="picture 29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784326" cy="450840"/>
            </a:xfrm>
            <a:prstGeom prst="rect">
              <a:avLst/>
            </a:prstGeom>
          </p:spPr>
        </p:pic>
        <p:sp>
          <p:nvSpPr>
            <p:cNvPr id="292" name="textbox 292"/>
            <p:cNvSpPr/>
            <p:nvPr/>
          </p:nvSpPr>
          <p:spPr>
            <a:xfrm>
              <a:off x="-12700" y="-12700"/>
              <a:ext cx="1809750" cy="497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79755" algn="l" rtl="0" eaLnBrk="0">
                <a:lnSpc>
                  <a:spcPct val="95000"/>
                </a:lnSpc>
                <a:tabLst/>
              </a:pPr>
              <a:r>
                <a:rPr sz="13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优秀成果特征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94" name="textbox 294"/>
          <p:cNvSpPr/>
          <p:nvPr/>
        </p:nvSpPr>
        <p:spPr>
          <a:xfrm>
            <a:off x="301032" y="1321266"/>
            <a:ext cx="339470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展示本次实践课建议形成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的过程性成果样式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65097" y="95246"/>
            <a:ext cx="508033" cy="444506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361980" y="3203946"/>
            <a:ext cx="2274570" cy="134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5"/>
              </a:lnSpc>
              <a:tabLst/>
            </a:pPr>
            <a:r>
              <a:rPr sz="700" kern="0" spc="1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-----------------------建议页数：1</a:t>
            </a:r>
            <a:r>
              <a:rPr sz="700" kern="0" spc="10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0-15页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9912325" y="171432"/>
            <a:ext cx="571523" cy="304802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438626" y="2451089"/>
            <a:ext cx="323824" cy="323863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432256" y="2927324"/>
            <a:ext cx="330194" cy="317530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438626" y="2025644"/>
            <a:ext cx="330194" cy="3175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19004" y="4571979"/>
            <a:ext cx="10560079" cy="1397036"/>
            <a:chOff x="0" y="0"/>
            <a:chExt cx="10560079" cy="1397036"/>
          </a:xfrm>
        </p:grpSpPr>
        <p:pic>
          <p:nvPicPr>
            <p:cNvPr id="310" name="picture 3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0079" cy="1397036"/>
            </a:xfrm>
            <a:prstGeom prst="rect">
              <a:avLst/>
            </a:prstGeom>
          </p:spPr>
        </p:pic>
        <p:sp>
          <p:nvSpPr>
            <p:cNvPr id="312" name="textbox 312"/>
            <p:cNvSpPr/>
            <p:nvPr/>
          </p:nvSpPr>
          <p:spPr>
            <a:xfrm>
              <a:off x="-12700" y="-12700"/>
              <a:ext cx="10586084" cy="1445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46960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2100" b="1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下一次实践课将进入</a:t>
              </a:r>
              <a:r>
                <a:rPr sz="2100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2100" b="1" kern="0" spc="110" dirty="0">
                  <a:solidFill>
                    <a:srgbClr val="E0F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项目终评</a:t>
              </a:r>
              <a:r>
                <a:rPr sz="2100" b="1" kern="0" spc="100" dirty="0">
                  <a:solidFill>
                    <a:srgbClr val="E0F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展示与课程复盘</a:t>
              </a:r>
              <a:endParaRPr sz="2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102360" algn="l" rtl="0" eaLnBrk="0">
                <a:lnSpc>
                  <a:spcPct val="94000"/>
                </a:lnSpc>
                <a:tabLst/>
              </a:pPr>
              <a:r>
                <a:rPr sz="21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从会表达走向能展示，为终评做好准备。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5826091" y="1457319"/>
          <a:ext cx="4457700" cy="2946400"/>
        </p:xfrm>
        <a:graphic>
          <a:graphicData uri="http://schemas.openxmlformats.org/drawingml/2006/table">
            <a:tbl>
              <a:tblPr/>
              <a:tblGrid>
                <a:gridCol w="551815"/>
                <a:gridCol w="791209"/>
                <a:gridCol w="711200"/>
                <a:gridCol w="2403475"/>
              </a:tblGrid>
              <a:tr h="37147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50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课堂评价标准(总分100分)</a:t>
                      </a:r>
                      <a:endParaRPr sz="1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1629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评价维度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权重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550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评价要点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548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路演结构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ts val="1371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2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结构完整，逻辑清晰，重点</a:t>
                      </a:r>
                      <a:r>
                        <a:rPr sz="1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突出，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时间把控合理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ts val="136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-50" baseline="-12063" dirty="0">
                          <a:solidFill>
                            <a:srgbClr val="1050E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</a:t>
                      </a:r>
                      <a:r>
                        <a:rPr sz="1000" kern="0" spc="30" dirty="0">
                          <a:solidFill>
                            <a:srgbClr val="1050E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内容逻辑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ts val="1371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</a:t>
                      </a:r>
                      <a:r>
                        <a:rPr sz="11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内容充实，论据充分，数据</a:t>
                      </a:r>
                      <a:r>
                        <a:rPr sz="1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准确，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0" algn="l" rtl="0" eaLnBrk="0">
                        <a:lnSpc>
                          <a:spcPct val="95000"/>
                        </a:lnSpc>
                        <a:spcBef>
                          <a:spcPts val="170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方案可行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548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表达呈现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ts val="1371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语言表达流畅，PPT设计专业，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2714" algn="l" rtl="0" eaLnBrk="0">
                        <a:lnSpc>
                          <a:spcPct val="95000"/>
                        </a:lnSpc>
                        <a:spcBef>
                          <a:spcPts val="11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视觉呈现清晰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80B0E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?2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4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答辩表现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ts val="137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回答准确，思路清晰，应对</a:t>
                      </a:r>
                      <a:r>
                        <a:rPr sz="1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得当，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0" algn="l" rtl="0" eaLnBrk="0">
                        <a:lnSpc>
                          <a:spcPct val="95000"/>
                        </a:lnSpc>
                        <a:spcBef>
                          <a:spcPts val="16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体现思考深度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271"/>
                        </a:lnSpc>
                        <a:tabLst/>
                      </a:pPr>
                      <a:r>
                        <a:rPr sz="2500" b="1" kern="0" spc="-40" baseline="-14956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r>
                        <a:rPr sz="1600" kern="0" spc="13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b="1" kern="0" spc="-40" baseline="79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团队协作</a:t>
                      </a:r>
                      <a:endParaRPr sz="2500" baseline="7962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ts val="1371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分工合理，配合默契</a:t>
                      </a:r>
                      <a:r>
                        <a:rPr sz="11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0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整体表现积极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6" name="group 36"/>
          <p:cNvGrpSpPr/>
          <p:nvPr/>
        </p:nvGrpSpPr>
        <p:grpSpPr>
          <a:xfrm rot="21600000">
            <a:off x="2965490" y="1955791"/>
            <a:ext cx="2584439" cy="2470150"/>
            <a:chOff x="0" y="0"/>
            <a:chExt cx="2584439" cy="2470150"/>
          </a:xfrm>
        </p:grpSpPr>
        <p:pic>
          <p:nvPicPr>
            <p:cNvPr id="316" name="picture 3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584439" cy="2470150"/>
            </a:xfrm>
            <a:prstGeom prst="rect">
              <a:avLst/>
            </a:prstGeom>
          </p:spPr>
        </p:pic>
        <p:sp>
          <p:nvSpPr>
            <p:cNvPr id="318" name="textbox 318"/>
            <p:cNvSpPr/>
            <p:nvPr/>
          </p:nvSpPr>
          <p:spPr>
            <a:xfrm>
              <a:off x="-12700" y="-12700"/>
              <a:ext cx="2609850" cy="25190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06475" algn="l" rtl="0" eaLnBrk="0">
                <a:lnSpc>
                  <a:spcPct val="98000"/>
                </a:lnSpc>
                <a:spcBef>
                  <a:spcPts val="2"/>
                </a:spcBef>
                <a:tabLst/>
              </a:pPr>
              <a:r>
                <a:rPr sz="1900" b="1" kern="0" spc="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提交要求</a:t>
              </a:r>
              <a:endParaRPr sz="1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3514" algn="l" rtl="0" eaLnBrk="0">
                <a:lnSpc>
                  <a:spcPct val="95000"/>
                </a:lnSpc>
                <a:spcBef>
                  <a:spcPts val="427"/>
                </a:spcBef>
                <a:tabLst/>
              </a:pPr>
              <a:r>
                <a:rPr sz="1400" kern="0" spc="-70" dirty="0">
                  <a:solidFill>
                    <a:srgbClr val="1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400" kern="0" spc="120" dirty="0">
                  <a:solidFill>
                    <a:srgbClr val="1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电子版文档或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PPT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截</a:t>
              </a:r>
              <a:r>
                <a:rPr sz="1400" b="1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图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83514" algn="l" rtl="0" eaLnBrk="0">
                <a:lnSpc>
                  <a:spcPct val="95000"/>
                </a:lnSpc>
                <a:spcBef>
                  <a:spcPts val="1565"/>
                </a:spcBef>
                <a:tabLst/>
              </a:pPr>
              <a:r>
                <a:rPr sz="1400" kern="0" spc="-6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400" kern="0" spc="-6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小组统一命名打包提交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83514" algn="l" rtl="0" eaLnBrk="0">
                <a:lnSpc>
                  <a:spcPct val="92000"/>
                </a:lnSpc>
                <a:spcBef>
                  <a:spcPts val="1534"/>
                </a:spcBef>
                <a:tabLst/>
              </a:pPr>
              <a:r>
                <a:rPr sz="1400" kern="0" spc="-70" dirty="0">
                  <a:solidFill>
                    <a:srgbClr val="1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400" kern="0" spc="-70" dirty="0">
                  <a:solidFill>
                    <a:srgbClr val="102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材料整洁，分工信息完整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83514" algn="l" rtl="0" eaLnBrk="0">
                <a:lnSpc>
                  <a:spcPct val="95000"/>
                </a:lnSpc>
                <a:spcBef>
                  <a:spcPts val="4"/>
                </a:spcBef>
                <a:tabLst/>
              </a:pPr>
              <a:r>
                <a:rPr sz="1400" kern="0" spc="-5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●</a:t>
              </a:r>
              <a:r>
                <a:rPr sz="1400" kern="0" spc="-5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b="1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课堂展示时按时</a:t>
              </a:r>
              <a:r>
                <a:rPr sz="1400" b="1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527037" y="1955791"/>
            <a:ext cx="2146266" cy="2279655"/>
            <a:chOff x="0" y="0"/>
            <a:chExt cx="2146266" cy="2279655"/>
          </a:xfrm>
        </p:grpSpPr>
        <p:pic>
          <p:nvPicPr>
            <p:cNvPr id="320" name="picture 3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2740" y="0"/>
              <a:ext cx="2133526" cy="2279655"/>
            </a:xfrm>
            <a:prstGeom prst="rect">
              <a:avLst/>
            </a:prstGeom>
          </p:spPr>
        </p:pic>
        <p:sp>
          <p:nvSpPr>
            <p:cNvPr id="322" name="textbox 322"/>
            <p:cNvSpPr/>
            <p:nvPr/>
          </p:nvSpPr>
          <p:spPr>
            <a:xfrm>
              <a:off x="-12700" y="-12700"/>
              <a:ext cx="2171700" cy="23355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33425" algn="l" rtl="0" eaLnBrk="0">
                <a:lnSpc>
                  <a:spcPct val="98000"/>
                </a:lnSpc>
                <a:tabLst/>
              </a:pPr>
              <a:r>
                <a:rPr sz="1900" b="1" kern="0" spc="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必交成果</a:t>
              </a:r>
              <a:endParaRPr sz="1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spcBef>
                  <a:spcPts val="591"/>
                </a:spcBef>
                <a:tabLst/>
              </a:pPr>
              <a:r>
                <a:rPr sz="3000" kern="0" spc="-10" baseline="-12153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①</a:t>
              </a:r>
              <a:r>
                <a:rPr sz="1900" kern="0" spc="89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2000" b="1" kern="0" spc="-10" baseline="7813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路演</a:t>
              </a:r>
              <a:r>
                <a:rPr sz="2000" kern="0" spc="-10" baseline="7813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PPT</a:t>
              </a:r>
              <a:r>
                <a:rPr sz="2000" b="1" kern="0" spc="-10" baseline="7813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提纲</a:t>
              </a:r>
              <a:endParaRPr sz="2000" baseline="7813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587"/>
                </a:spcBef>
                <a:tabLst/>
              </a:pPr>
              <a:r>
                <a:rPr sz="4000" kern="0" spc="-50" baseline="-6511" dirty="0">
                  <a:solidFill>
                    <a:srgbClr val="70A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②</a:t>
              </a:r>
              <a:r>
                <a:rPr sz="2600" kern="0" spc="-50" dirty="0">
                  <a:solidFill>
                    <a:srgbClr val="70A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2100" b="1" kern="0" spc="-50" baseline="9921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路演讲稿</a:t>
              </a:r>
              <a:endParaRPr sz="2100" baseline="9921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486"/>
                </a:spcBef>
                <a:tabLst/>
              </a:pPr>
              <a:r>
                <a:rPr sz="4000" kern="0" spc="-20" baseline="-7813" dirty="0">
                  <a:solidFill>
                    <a:srgbClr val="70A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③</a:t>
              </a:r>
              <a:r>
                <a:rPr sz="2600" kern="0" spc="220" dirty="0">
                  <a:solidFill>
                    <a:srgbClr val="70A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2000" b="1" kern="0" spc="-20" baseline="10417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答辩问题清单</a:t>
              </a:r>
              <a:endParaRPr sz="2000" baseline="10417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0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97000"/>
                </a:lnSpc>
                <a:tabLst/>
              </a:pPr>
              <a:r>
                <a:rPr sz="2900" b="1" kern="0" spc="-20" baseline="-12573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④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</a:t>
              </a:r>
              <a:r>
                <a:rPr sz="2100" b="1" kern="0" spc="-20" baseline="24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模拟答辩记录表</a:t>
              </a:r>
              <a:endParaRPr sz="2100" baseline="248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24" name="textbox 324"/>
          <p:cNvSpPr/>
          <p:nvPr/>
        </p:nvSpPr>
        <p:spPr>
          <a:xfrm>
            <a:off x="337803" y="818844"/>
            <a:ext cx="5830570" cy="653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4300" b="1" kern="0" spc="-17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成果提交要求与评价标准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796790" y="214762"/>
            <a:ext cx="5685790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1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|第7次：路演</a:t>
            </a:r>
            <a:r>
              <a:rPr sz="1700" b="1" kern="0" spc="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700" b="1" kern="0" spc="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345594" y="1443160"/>
            <a:ext cx="4591684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通过规范提交与课堂评价，推动团队进入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终评准备阶段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126981" y="101581"/>
            <a:ext cx="488922" cy="438172"/>
            <a:chOff x="0" y="0"/>
            <a:chExt cx="488922" cy="438172"/>
          </a:xfrm>
        </p:grpSpPr>
        <p:pic>
          <p:nvPicPr>
            <p:cNvPr id="330" name="picture 3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88922" cy="438172"/>
            </a:xfrm>
            <a:prstGeom prst="rect">
              <a:avLst/>
            </a:prstGeom>
          </p:spPr>
        </p:pic>
        <p:sp>
          <p:nvSpPr>
            <p:cNvPr id="332" name="textbox 332"/>
            <p:cNvSpPr/>
            <p:nvPr/>
          </p:nvSpPr>
          <p:spPr>
            <a:xfrm>
              <a:off x="-12700" y="-12700"/>
              <a:ext cx="514350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3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2550" algn="l" rtl="0" eaLnBrk="0">
                <a:lnSpc>
                  <a:spcPct val="77000"/>
                </a:lnSpc>
                <a:tabLst/>
              </a:pPr>
              <a:r>
                <a:rPr sz="2000" kern="0" spc="-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334" name="picture 3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937699" y="152371"/>
            <a:ext cx="609640" cy="304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2026-05-06T02:34:38</vt:filetime>
  </property>
  <property fmtid="{D5CDD505-2E9C-101B-9397-08002B2CF9AE}" pid="4" name="UsrData">
    <vt:lpwstr>69fa38305b4fbf001f8d8c05wl</vt:lpwstr>
  </property>
</Properties>
</file>