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3" Type="http://schemas.openxmlformats.org/officeDocument/2006/relationships/image" Target="../media/image16.jpeg"/><Relationship Id="rId12" Type="http://schemas.openxmlformats.org/officeDocument/2006/relationships/image" Target="../media/image15.jpeg"/><Relationship Id="rId11" Type="http://schemas.openxmlformats.org/officeDocument/2006/relationships/image" Target="../media/image14.jpeg"/><Relationship Id="rId10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7" Type="http://schemas.openxmlformats.org/officeDocument/2006/relationships/image" Target="../media/image22.jpeg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7" Type="http://schemas.openxmlformats.org/officeDocument/2006/relationships/image" Target="../media/image33.jpeg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jpeg"/><Relationship Id="rId8" Type="http://schemas.openxmlformats.org/officeDocument/2006/relationships/image" Target="../media/image41.jpeg"/><Relationship Id="rId7" Type="http://schemas.openxmlformats.org/officeDocument/2006/relationships/image" Target="../media/image40.jpeg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1" Type="http://schemas.openxmlformats.org/officeDocument/2006/relationships/image" Target="../media/image44.jpeg"/><Relationship Id="rId10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jpeg"/><Relationship Id="rId8" Type="http://schemas.openxmlformats.org/officeDocument/2006/relationships/image" Target="../media/image51.jpeg"/><Relationship Id="rId7" Type="http://schemas.openxmlformats.org/officeDocument/2006/relationships/image" Target="../media/image50.jpeg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jpeg"/><Relationship Id="rId8" Type="http://schemas.openxmlformats.org/officeDocument/2006/relationships/image" Target="../media/image59.jpeg"/><Relationship Id="rId7" Type="http://schemas.openxmlformats.org/officeDocument/2006/relationships/image" Target="../media/image58.jpeg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2" Type="http://schemas.openxmlformats.org/officeDocument/2006/relationships/image" Target="../media/image63.jpeg"/><Relationship Id="rId11" Type="http://schemas.openxmlformats.org/officeDocument/2006/relationships/image" Target="../media/image62.jpeg"/><Relationship Id="rId10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jpeg"/><Relationship Id="rId8" Type="http://schemas.openxmlformats.org/officeDocument/2006/relationships/image" Target="../media/image70.jpeg"/><Relationship Id="rId7" Type="http://schemas.openxmlformats.org/officeDocument/2006/relationships/image" Target="../media/image69.jpeg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5" Type="http://schemas.openxmlformats.org/officeDocument/2006/relationships/image" Target="../media/image87.jpeg"/><Relationship Id="rId24" Type="http://schemas.openxmlformats.org/officeDocument/2006/relationships/image" Target="../media/image86.jpeg"/><Relationship Id="rId23" Type="http://schemas.openxmlformats.org/officeDocument/2006/relationships/image" Target="../media/image85.jpeg"/><Relationship Id="rId22" Type="http://schemas.openxmlformats.org/officeDocument/2006/relationships/image" Target="../media/image84.jpeg"/><Relationship Id="rId21" Type="http://schemas.openxmlformats.org/officeDocument/2006/relationships/image" Target="../media/image83.jpeg"/><Relationship Id="rId20" Type="http://schemas.openxmlformats.org/officeDocument/2006/relationships/image" Target="../media/image82.jpeg"/><Relationship Id="rId2" Type="http://schemas.openxmlformats.org/officeDocument/2006/relationships/image" Target="../media/image64.png"/><Relationship Id="rId19" Type="http://schemas.openxmlformats.org/officeDocument/2006/relationships/image" Target="../media/image81.jpeg"/><Relationship Id="rId18" Type="http://schemas.openxmlformats.org/officeDocument/2006/relationships/image" Target="../media/image80.jpeg"/><Relationship Id="rId17" Type="http://schemas.openxmlformats.org/officeDocument/2006/relationships/image" Target="../media/image79.jpeg"/><Relationship Id="rId16" Type="http://schemas.openxmlformats.org/officeDocument/2006/relationships/image" Target="../media/image78.jpeg"/><Relationship Id="rId15" Type="http://schemas.openxmlformats.org/officeDocument/2006/relationships/image" Target="../media/image77.jpeg"/><Relationship Id="rId14" Type="http://schemas.openxmlformats.org/officeDocument/2006/relationships/image" Target="../media/image76.jpeg"/><Relationship Id="rId13" Type="http://schemas.openxmlformats.org/officeDocument/2006/relationships/image" Target="../media/image75.jpeg"/><Relationship Id="rId12" Type="http://schemas.openxmlformats.org/officeDocument/2006/relationships/image" Target="../media/image74.jpeg"/><Relationship Id="rId11" Type="http://schemas.openxmlformats.org/officeDocument/2006/relationships/image" Target="../media/image73.jpeg"/><Relationship Id="rId10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jpeg"/><Relationship Id="rId3" Type="http://schemas.openxmlformats.org/officeDocument/2006/relationships/image" Target="../media/image89.jpe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63587" y="1328918"/>
            <a:ext cx="4263390" cy="2483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5600" b="1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先看见用户，</a:t>
            </a:r>
            <a:r>
              <a:rPr sz="5600" kern="0" spc="4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600" b="1" kern="0" spc="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再设计方案</a:t>
            </a:r>
            <a:endParaRPr sz="5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6000"/>
              </a:lnSpc>
              <a:spcBef>
                <a:spcPts val="1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围绕目标用户、典型场景与访谈问题设计，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完成真实调研准备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062847" y="4188371"/>
            <a:ext cx="3423920" cy="1499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10" dirty="0">
                <a:solidFill>
                  <a:srgbClr val="003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对应理论模块：模块2用户需求</a:t>
            </a:r>
            <a:r>
              <a:rPr sz="1300" b="1" kern="0" spc="-20" dirty="0">
                <a:solidFill>
                  <a:srgbClr val="003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与机会识别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3035" algn="l" rtl="0" eaLnBrk="0">
              <a:lnSpc>
                <a:spcPct val="92000"/>
              </a:lnSpc>
              <a:spcBef>
                <a:spcPts val="4"/>
              </a:spcBef>
              <a:tabLst/>
            </a:pP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理解用户，是项目判断的</a:t>
            </a: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起点。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203147" y="133337"/>
            <a:ext cx="6618605" cy="550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9750" algn="l" rtl="0" eaLnBrk="0">
              <a:lnSpc>
                <a:spcPct val="94000"/>
              </a:lnSpc>
              <a:spcBef>
                <a:spcPts val="4"/>
              </a:spcBef>
              <a:tabLst>
                <a:tab pos="745490" algn="l"/>
              </a:tabLst>
            </a:pPr>
            <a:r>
              <a:rPr sz="1700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6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</a:t>
            </a:r>
            <a:r>
              <a:rPr sz="1700" b="1" kern="0" spc="5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47" y="146037"/>
            <a:ext cx="527143" cy="50169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1051" y="4006830"/>
            <a:ext cx="565047" cy="55248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69494" y="266680"/>
            <a:ext cx="717510" cy="292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463587" y="966499"/>
            <a:ext cx="4476115" cy="826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5000"/>
              </a:lnSpc>
              <a:tabLst/>
            </a:pPr>
            <a:r>
              <a:rPr sz="3800" b="1" kern="0" spc="70" dirty="0">
                <a:solidFill>
                  <a:srgbClr val="1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53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从“我认为”走向“用户真实需要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7200944" y="2126456"/>
            <a:ext cx="1610994" cy="1777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700" b="1" kern="0" spc="6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ct val="95000"/>
              </a:lnSpc>
              <a:spcBef>
                <a:spcPts val="33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用户画像卡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200"/>
              </a:spcBef>
              <a:tabLst/>
            </a:pPr>
            <a:r>
              <a:rPr sz="2600" kern="0" spc="60" baseline="-10016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32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60" baseline="325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典型使用场景表</a:t>
            </a:r>
            <a:endParaRPr sz="1600" baseline="3255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937"/>
              </a:spcBef>
              <a:tabLst/>
            </a:pPr>
            <a:r>
              <a:rPr sz="2500" kern="0" spc="50" baseline="-625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600" kern="0" spc="42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50" baseline="651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</a:t>
            </a:r>
            <a:endParaRPr sz="1600" baseline="6511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访谈实施计划表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971514" y="2671619"/>
            <a:ext cx="2545079" cy="1120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明确目标用户是谁、具备哪些特征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246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学会从需求视角理解用户行为与痛点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2000"/>
              </a:lnSpc>
              <a:spcBef>
                <a:spcPts val="51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掌握用户画像卡与使用场景表的基本写法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能设计结构化访谈提纲，为后续调研做准备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4083097" y="2665285"/>
            <a:ext cx="1471294" cy="139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8615" algn="l" rtl="0" eaLnBrk="0">
              <a:lnSpc>
                <a:spcPct val="95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用户类型划分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8615" indent="-335915" algn="l" rtl="0" eaLnBrk="0">
              <a:lnSpc>
                <a:spcPct val="135000"/>
              </a:lnSpc>
              <a:spcBef>
                <a:spcPts val="230"/>
              </a:spcBef>
              <a:tabLst/>
            </a:pPr>
            <a:r>
              <a:rPr sz="2600" kern="0" spc="-10" baseline="-8013" dirty="0">
                <a:solidFill>
                  <a:srgbClr val="507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160" dirty="0">
                <a:solidFill>
                  <a:srgbClr val="507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典型用户画像设计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使用场景描述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8615" algn="l" rtl="0" eaLnBrk="0">
              <a:lnSpc>
                <a:spcPct val="180000"/>
              </a:lnSpc>
              <a:spcBef>
                <a:spcPts val="40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访谈问题设计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小组访谈分工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361981" y="303675"/>
            <a:ext cx="6491604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300" kern="0" spc="70" baseline="-11049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700" b="1" kern="0" spc="70" dirty="0">
                <a:solidFill>
                  <a:srgbClr val="1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</a:t>
            </a:r>
            <a:r>
              <a:rPr sz="1700" b="1" kern="0" spc="60" dirty="0">
                <a:solidFill>
                  <a:srgbClr val="1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新创业基础》实践课|第2次：用户画像与访谈提纲设计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222755" y="5404179"/>
            <a:ext cx="424434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先把用户看清楚，再去判断项目方向。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34949" y="1955819"/>
            <a:ext cx="1642110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4200" algn="l" rtl="0" eaLnBrk="0">
              <a:lnSpc>
                <a:spcPct val="94000"/>
              </a:lnSpc>
              <a:spcBef>
                <a:spcPts val="4"/>
              </a:spcBef>
              <a:tabLst>
                <a:tab pos="726440" algn="l"/>
              </a:tabLst>
            </a:pPr>
            <a:r>
              <a:rPr sz="1700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6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7649" y="1968519"/>
            <a:ext cx="571523" cy="558755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4063986" y="1955819"/>
            <a:ext cx="1637664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7850" algn="l" rtl="0" eaLnBrk="0">
              <a:lnSpc>
                <a:spcPct val="95000"/>
              </a:lnSpc>
              <a:spcBef>
                <a:spcPts val="2"/>
              </a:spcBef>
              <a:tabLst>
                <a:tab pos="720090" algn="l"/>
              </a:tabLst>
            </a:pPr>
            <a:r>
              <a:rPr sz="1700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6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76686" y="1968519"/>
            <a:ext cx="565153" cy="55875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70596" y="3473470"/>
            <a:ext cx="514403" cy="711186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38171" y="4419607"/>
            <a:ext cx="514297" cy="46990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943374" y="4521216"/>
            <a:ext cx="92583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95000"/>
              </a:lnSpc>
              <a:spcBef>
                <a:spcPts val="2"/>
              </a:spcBef>
              <a:tabLst>
                <a:tab pos="361315" algn="l"/>
              </a:tabLst>
            </a:pPr>
            <a:r>
              <a:rPr sz="1100" kern="0" spc="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56074" y="4533916"/>
            <a:ext cx="260333" cy="260346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5245149" y="4521216"/>
            <a:ext cx="934719" cy="291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95000"/>
              </a:lnSpc>
              <a:tabLst>
                <a:tab pos="348615" algn="l"/>
              </a:tabLst>
            </a:pPr>
            <a:r>
              <a:rPr sz="1100" kern="0" spc="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2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57849" y="4533916"/>
            <a:ext cx="260334" cy="247618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7861334" y="4527550"/>
            <a:ext cx="86677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ct val="96000"/>
              </a:lnSpc>
              <a:tabLst>
                <a:tab pos="304165" algn="l"/>
              </a:tabLst>
            </a:pPr>
            <a:r>
              <a:rPr sz="1100" kern="0" spc="0" dirty="0">
                <a:solidFill>
                  <a:srgbClr val="1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需求洞察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874034" y="4540250"/>
            <a:ext cx="196843" cy="254012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9086877" y="4527550"/>
            <a:ext cx="90360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6000"/>
              </a:lnSpc>
              <a:spcBef>
                <a:spcPts val="3"/>
              </a:spcBef>
              <a:tabLst>
                <a:tab pos="342265" algn="l"/>
              </a:tabLst>
            </a:pPr>
            <a:r>
              <a:rPr sz="1100" kern="0" spc="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小组协作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099577" y="4540250"/>
            <a:ext cx="266704" cy="241284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155962" y="3790941"/>
            <a:ext cx="457176" cy="444506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6553189" y="4527550"/>
            <a:ext cx="901064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5000"/>
              </a:lnSpc>
              <a:spcBef>
                <a:spcPts val="3"/>
              </a:spcBef>
              <a:tabLst>
                <a:tab pos="335915" algn="l"/>
              </a:tabLst>
            </a:pPr>
            <a:r>
              <a:rPr sz="1100" kern="0" spc="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565889" y="4540250"/>
            <a:ext cx="253962" cy="228616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1043917" y="4556296"/>
            <a:ext cx="112458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3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本次课关键词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2616224" y="4540277"/>
            <a:ext cx="89788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6000"/>
              </a:lnSpc>
              <a:spcBef>
                <a:spcPts val="1"/>
              </a:spcBef>
              <a:tabLst>
                <a:tab pos="349250" algn="l"/>
              </a:tabLst>
            </a:pPr>
            <a:r>
              <a:rPr sz="1100" kern="0" spc="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40" dirty="0">
                <a:solidFill>
                  <a:srgbClr val="101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628924" y="4552977"/>
            <a:ext cx="253963" cy="222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5764" y="2108222"/>
            <a:ext cx="419167" cy="419051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673064" y="2194531"/>
            <a:ext cx="2501900" cy="2625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91000"/>
              </a:lnSpc>
              <a:tabLst/>
            </a:pPr>
            <a:r>
              <a:rPr sz="2900" kern="0" spc="40" baseline="-10776" dirty="0">
                <a:solidFill>
                  <a:srgbClr val="70C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kern="0" spc="120" dirty="0">
                <a:solidFill>
                  <a:srgbClr val="70C0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b="1" kern="0" spc="4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常见误区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6000"/>
              </a:lnSpc>
              <a:spcBef>
                <a:spcPts val="33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●把自己的想法当成用户需求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1750" algn="l" rtl="0" eaLnBrk="0">
              <a:lnSpc>
                <a:spcPct val="92000"/>
              </a:lnSpc>
              <a:spcBef>
                <a:spcPts val="725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●只关注功能，不关注使用情境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1750" algn="l" rtl="0" eaLnBrk="0">
              <a:lnSpc>
                <a:spcPct val="92000"/>
              </a:lnSpc>
              <a:spcBef>
                <a:spcPts val="736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●访谈问题过于主观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，容易得到无效信息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800" algn="l" rtl="0" eaLnBrk="0">
              <a:lnSpc>
                <a:spcPct val="96000"/>
              </a:lnSpc>
              <a:spcBef>
                <a:spcPts val="457"/>
              </a:spcBef>
              <a:tabLst>
                <a:tab pos="542290" algn="l"/>
              </a:tabLst>
            </a:pPr>
            <a:r>
              <a:rPr sz="1500" kern="0" spc="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研究用户的价值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5000"/>
              </a:lnSpc>
              <a:spcBef>
                <a:spcPts val="338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●帮助团队明确谁最需要这项服务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1750" algn="l" rtl="0" eaLnBrk="0">
              <a:lnSpc>
                <a:spcPct val="95000"/>
              </a:lnSpc>
              <a:spcBef>
                <a:spcPts val="646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●发现痛点、动机与真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实使用场景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●为后续项目方向判断提供依据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5764" y="3644903"/>
            <a:ext cx="419167" cy="412717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426093" y="993383"/>
            <a:ext cx="7299959" cy="840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任务导入：为什么要先研究用户</a:t>
            </a:r>
            <a:r>
              <a:rPr sz="3800" b="1" kern="0" spc="1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36830" algn="l" rtl="0" eaLnBrk="0">
              <a:lnSpc>
                <a:spcPct val="92000"/>
              </a:lnSpc>
              <a:spcBef>
                <a:spcPts val="357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项目不是先证明自己想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得对，而是先理解用户真正需要什么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86269" y="2451089"/>
            <a:ext cx="5543558" cy="78743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273529" y="4165595"/>
            <a:ext cx="5676910" cy="622332"/>
            <a:chOff x="0" y="0"/>
            <a:chExt cx="5676910" cy="622332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676910" cy="622332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-12700" y="-12700"/>
              <a:ext cx="5702934" cy="6661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1389" algn="l" rtl="0" eaLnBrk="0">
                <a:lnSpc>
                  <a:spcPct val="92000"/>
                </a:lnSpc>
                <a:spcBef>
                  <a:spcPts val="5"/>
                </a:spcBef>
                <a:tabLst/>
              </a:pPr>
              <a:r>
                <a:rPr sz="1600" b="1" kern="0" spc="-70" dirty="0">
                  <a:solidFill>
                    <a:srgbClr val="103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用户研究不是形式，而是项目设计的基础步骤。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86" name="textbox 86"/>
          <p:cNvSpPr/>
          <p:nvPr/>
        </p:nvSpPr>
        <p:spPr>
          <a:xfrm>
            <a:off x="4295116" y="3382787"/>
            <a:ext cx="5514975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模糊想法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真实需求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更清晰的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794250" algn="l" rtl="0" eaLnBrk="0">
              <a:lnSpc>
                <a:spcPct val="95000"/>
              </a:lnSpc>
              <a:spcBef>
                <a:spcPts val="8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项目方向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349240" y="327274"/>
            <a:ext cx="6574155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kern="0" spc="90" baseline="-43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7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《创新创业基础》实践课|第2次：用户画像与访谈提纲设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197331" y="5404179"/>
            <a:ext cx="340614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从用户出发，项目才更有支撑。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57569" y="4432275"/>
            <a:ext cx="463546" cy="444506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14689" y="2901928"/>
            <a:ext cx="406426" cy="444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1987580" y="1978854"/>
            <a:ext cx="2807335" cy="2493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·校园内学生常因手机、电量和充电不便产生焦虑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420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图书馆、教学楼、食堂等场景的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充电需求差异明显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520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团队希望设计更便捷的共享充电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服务方案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ts val="1085"/>
              </a:lnSpc>
              <a:spcBef>
                <a:spcPts val="274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本科生与研究生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ct val="100000"/>
              </a:lnSpc>
              <a:spcBef>
                <a:spcPts val="663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图书馆自习学生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ct val="100000"/>
              </a:lnSpc>
              <a:spcBef>
                <a:spcPts val="520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教学楼上课学生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1088"/>
              </a:lnSpc>
              <a:spcBef>
                <a:spcPts val="575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临时来校访客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ts val="1085"/>
              </a:lnSpc>
              <a:spcBef>
                <a:spcPts val="278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谁是高频用户?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39064" algn="l" rtl="0" eaLnBrk="0">
              <a:lnSpc>
                <a:spcPts val="1088"/>
              </a:lnSpc>
              <a:spcBef>
                <a:spcPts val="467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用户最在意什么?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不同场景下痛点有何差异?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452944" y="1821116"/>
            <a:ext cx="1708785" cy="283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用户类型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340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09344" algn="l" rtl="0" eaLnBrk="0">
              <a:lnSpc>
                <a:spcPct val="96000"/>
              </a:lnSpc>
              <a:spcBef>
                <a:spcPts val="338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需求痛点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8"/>
              </a:lnSpc>
              <a:spcBef>
                <a:spcPts val="217"/>
              </a:spcBef>
              <a:tabLst/>
            </a:pPr>
            <a:r>
              <a:rPr sz="7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电量不足?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900" kern="0" spc="-8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随借超还</a:t>
            </a:r>
            <a:endParaRPr sz="900" dirty="0">
              <a:latin typeface="LiSu"/>
              <a:ea typeface="LiSu"/>
              <a:cs typeface="LiSu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342870" y="1015795"/>
            <a:ext cx="5352415" cy="606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5000"/>
              </a:lnSpc>
              <a:tabLst/>
            </a:pPr>
            <a:r>
              <a:rPr sz="2600" b="1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案例情境：以校园共享充电服务为例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59"/>
              </a:spcBef>
              <a:tabLst/>
            </a:pP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借助具体项目情境，学习如何识别不同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用户类型与核心需求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1037366" y="2130338"/>
            <a:ext cx="880110" cy="2242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案例背景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2"/>
              </a:spcBef>
              <a:tabLst/>
            </a:pPr>
            <a:r>
              <a:rPr sz="1400" b="1" kern="0" spc="-4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可能的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55"/>
              </a:lnSpc>
              <a:tabLst/>
            </a:pPr>
            <a:r>
              <a:rPr sz="1300" b="1" kern="0" spc="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4000"/>
              </a:lnSpc>
              <a:spcBef>
                <a:spcPts val="3"/>
              </a:spcBef>
              <a:tabLst/>
            </a:pPr>
            <a:r>
              <a:rPr sz="1400" b="1" kern="0" spc="-7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需要思考的</a:t>
            </a:r>
            <a:r>
              <a:rPr sz="1400" kern="0" spc="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b="1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8588" y="165098"/>
            <a:ext cx="495292" cy="463567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342870" y="303675"/>
            <a:ext cx="6491604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900" b="1" kern="0" spc="60" baseline="-1077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8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700" b="1" kern="0" spc="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《创新创业基础》实践课|第2次：用户画像与访谈提纲</a:t>
            </a:r>
            <a:r>
              <a:rPr sz="1700" b="1" kern="0" spc="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163910" y="1970932"/>
            <a:ext cx="619759" cy="2517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8"/>
              </a:lnSpc>
              <a:tabLst/>
            </a:pPr>
            <a:r>
              <a:rPr sz="7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校园共享充电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ct val="96000"/>
              </a:lnSpc>
              <a:spcBef>
                <a:spcPts val="533"/>
              </a:spcBef>
              <a:tabLst/>
            </a:pPr>
            <a:r>
              <a:rPr sz="5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随倡随还</a:t>
            </a:r>
            <a:r>
              <a:rPr sz="5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2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充电无就</a:t>
            </a:r>
            <a:endParaRPr sz="5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210"/>
              </a:spcBef>
              <a:tabLst/>
            </a:pPr>
            <a:r>
              <a:rPr sz="700" kern="0" spc="-5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安</a:t>
            </a:r>
            <a:r>
              <a:rPr sz="700" kern="0" spc="-4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全充</a:t>
            </a:r>
            <a:r>
              <a:rPr sz="700" kern="0" spc="-3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电</a:t>
            </a:r>
            <a:endParaRPr sz="700" dirty="0">
              <a:latin typeface="LiSu"/>
              <a:ea typeface="LiSu"/>
              <a:cs typeface="LiSu"/>
            </a:endParaRPr>
          </a:p>
          <a:p>
            <a:pPr marL="264795" algn="l" rtl="0" eaLnBrk="0">
              <a:lnSpc>
                <a:spcPts val="740"/>
              </a:lnSpc>
              <a:spcBef>
                <a:spcPts val="1251"/>
              </a:spcBef>
              <a:tabLst/>
            </a:pPr>
            <a:r>
              <a:rPr sz="600" kern="0" spc="-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多</a:t>
            </a:r>
            <a:r>
              <a:rPr sz="600" kern="0" spc="1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</a:t>
            </a:r>
            <a:r>
              <a:rPr sz="600" kern="0" spc="-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头兼 </a:t>
            </a:r>
            <a:r>
              <a:rPr sz="600" kern="0" spc="-4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容</a:t>
            </a:r>
            <a:endParaRPr sz="6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71"/>
              </a:lnSpc>
              <a:spcBef>
                <a:spcPts val="5"/>
              </a:spcBef>
              <a:tabLst/>
            </a:pPr>
            <a:r>
              <a:rPr sz="700" kern="0" spc="-4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随借随</a:t>
            </a:r>
            <a:r>
              <a:rPr sz="700" b="1" kern="0" spc="-40" dirty="0">
                <a:solidFill>
                  <a:srgbClr val="FFFFFF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还</a:t>
            </a:r>
            <a:endParaRPr sz="700" dirty="0">
              <a:latin typeface="FangSong"/>
              <a:ea typeface="FangSong"/>
              <a:cs typeface="FangSong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209975" y="5397845"/>
            <a:ext cx="43903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真实场景越清楚，画像与访谈越有方向。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176" y="3898915"/>
            <a:ext cx="508033" cy="50163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69494" y="266680"/>
            <a:ext cx="717510" cy="292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495333" y="871800"/>
            <a:ext cx="7316469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7000"/>
              </a:lnSpc>
              <a:tabLst/>
            </a:pPr>
            <a:r>
              <a:rPr sz="34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工具与方法说明：用</a:t>
            </a:r>
            <a:r>
              <a:rPr sz="3400" b="1" kern="0" spc="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户画像卡怎么做?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448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围绕人物特征、行为习惯与需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求动机构建典型用户画像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1187468" y="4665442"/>
            <a:ext cx="4731384" cy="1064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用户画像不是虚构人物，而是对典型用户特征的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结构化描述。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4000"/>
              </a:lnSpc>
              <a:tabLst/>
            </a:pPr>
            <a:r>
              <a:rPr sz="21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画像越具体，需求洞察越清晰。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7435903" y="3345739"/>
            <a:ext cx="1644650" cy="1056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indent="-272415" algn="l" rtl="0" eaLnBrk="0">
              <a:lnSpc>
                <a:spcPct val="98000"/>
              </a:lnSpc>
              <a:tabLst/>
            </a:pPr>
            <a:r>
              <a:rPr sz="1200" kern="0" spc="-3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43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尽量基于观察、经验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或已有信息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5115" indent="-272415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40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一张画像对应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一类典型用户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3111517" y="1955319"/>
            <a:ext cx="1438275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用户画像六大维度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5800" algn="l" rtl="0" eaLnBrk="0">
              <a:lnSpc>
                <a:spcPct val="95000"/>
              </a:lnSpc>
              <a:spcBef>
                <a:spcPts val="392"/>
              </a:spcBef>
              <a:tabLst/>
            </a:pPr>
            <a:r>
              <a:rPr sz="1300" kern="0" spc="10" dirty="0">
                <a:solidFill>
                  <a:srgbClr val="107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115000"/>
              </a:lnSpc>
              <a:spcBef>
                <a:spcPts val="4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何时、何地、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为什么使用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3533572" y="290948"/>
            <a:ext cx="3395979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第2次：用户画像与访谈提纲设计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61980" y="290948"/>
            <a:ext cx="303847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3600" kern="0" spc="20" baseline="-10128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7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7435903" y="2646451"/>
            <a:ext cx="1875789" cy="391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-9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42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画像要具体，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85115" algn="l" rtl="0" eaLnBrk="0">
              <a:lnSpc>
                <a:spcPct val="95000"/>
              </a:lnSpc>
              <a:spcBef>
                <a:spcPts val="185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不要写成“所有学生”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7499393" y="1917696"/>
            <a:ext cx="1362710" cy="514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96000"/>
              </a:lnSpc>
              <a:spcBef>
                <a:spcPts val="2"/>
              </a:spcBef>
              <a:tabLst>
                <a:tab pos="574040" algn="l"/>
              </a:tabLst>
            </a:pPr>
            <a:r>
              <a:rPr sz="1500" kern="0" spc="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10" dirty="0">
                <a:solidFill>
                  <a:srgbClr val="1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填写提示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12093" y="1930396"/>
            <a:ext cx="469811" cy="463567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3530578" y="3567138"/>
            <a:ext cx="947419" cy="661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140" dirty="0">
                <a:solidFill>
                  <a:srgbClr val="8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⑤行为特征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108000"/>
              </a:lnSpc>
              <a:spcBef>
                <a:spcPts val="2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习惯、偏好、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决策方式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708696" y="3536730"/>
            <a:ext cx="886460" cy="673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kern="0" spc="0" dirty="0">
                <a:solidFill>
                  <a:srgbClr val="1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典型语句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943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用户可能会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545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说的话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1460542" y="2445652"/>
            <a:ext cx="1080135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ct val="96000"/>
              </a:lnSpc>
              <a:tabLst/>
            </a:pPr>
            <a:r>
              <a:rPr sz="1300" kern="0" spc="-2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基本信息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7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年龄、身份、专业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5708696" y="2444992"/>
            <a:ext cx="971550" cy="49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8915" algn="l" rtl="0" eaLnBrk="0">
              <a:lnSpc>
                <a:spcPct val="96000"/>
              </a:lnSpc>
              <a:tabLst/>
            </a:pPr>
            <a:r>
              <a:rPr sz="1300" kern="0" spc="-20" dirty="0">
                <a:solidFill>
                  <a:srgbClr val="D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主要目标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想解决什么问题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1466806" y="3543559"/>
            <a:ext cx="871855" cy="48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kern="0" spc="-20" dirty="0">
                <a:solidFill>
                  <a:srgbClr val="C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核心痛点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最困扰的地方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75758" y="254011"/>
            <a:ext cx="717616" cy="298408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44014" y="3301978"/>
            <a:ext cx="425537" cy="425444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56753" y="3975101"/>
            <a:ext cx="393686" cy="425444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44014" y="2635248"/>
            <a:ext cx="412796" cy="355593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56852" y="303648"/>
            <a:ext cx="63258" cy="2191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374725" y="997761"/>
            <a:ext cx="7360919" cy="831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3800" b="1" kern="0" spc="-3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</a:t>
            </a:r>
            <a:r>
              <a:rPr sz="3800" b="1" kern="0" spc="-3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与方法说明：访谈提纲如何设计</a:t>
            </a:r>
            <a:r>
              <a:rPr sz="3800" b="1" kern="0" spc="-2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95000"/>
              </a:lnSpc>
              <a:spcBef>
                <a:spcPts val="251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好的访谈问题应帮助团队了解事实、行为、感受与期待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8928149" y="2316302"/>
            <a:ext cx="1238885" cy="2097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1289" algn="l" rtl="0" eaLnBrk="0">
              <a:lnSpc>
                <a:spcPct val="96000"/>
              </a:lnSpc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</a:t>
            </a:r>
            <a:r>
              <a:rPr sz="1700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原则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3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少问引导性问题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1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先开放，后聚焦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语言简洁，便于记录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4521162" y="2296377"/>
            <a:ext cx="1714500" cy="141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5790" algn="l" rtl="0" eaLnBrk="0">
              <a:lnSpc>
                <a:spcPct val="95000"/>
              </a:lnSpc>
              <a:tabLst/>
            </a:pPr>
            <a:r>
              <a:rPr sz="1700" b="1" kern="0" spc="-8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痛点感受类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137000"/>
              </a:lnSpc>
              <a:spcBef>
                <a:spcPts val="309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在使用过程中，最麻烦或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最不满意的地方是什么?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54000" algn="l" rtl="0" eaLnBrk="0">
              <a:lnSpc>
                <a:spcPct val="96000"/>
              </a:lnSpc>
              <a:spcBef>
                <a:spcPts val="1"/>
              </a:spcBef>
              <a:tabLst>
                <a:tab pos="31051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这对你造成了什么影响?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33862" y="3441682"/>
            <a:ext cx="241329" cy="23495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6838896" y="2296377"/>
            <a:ext cx="1291589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-8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建议期待类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04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如果有改进服务，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511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你最希望增加什么?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7000"/>
              </a:lnSpc>
              <a:spcBef>
                <a:spcPts val="6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你愿意接受怎样的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解决方式?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844532" y="2296377"/>
            <a:ext cx="1346835" cy="1373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基本信息类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40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你通常在哪些场景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699"/>
              </a:lnSpc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需要这类服务?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你属于哪类典型用户?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2838442" y="2308840"/>
            <a:ext cx="1342389" cy="1331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600" b="1" kern="0" spc="4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行为经历类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37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你最近一次遇到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483"/>
              </a:spcBef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这个问题是什么时候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850"/>
              </a:lnSpc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当时你是怎么处理的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958" y="165098"/>
            <a:ext cx="488922" cy="463567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361980" y="303675"/>
            <a:ext cx="6472554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4000" kern="0" spc="60" baseline="-9115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6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700" b="1" kern="0" spc="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</a:t>
            </a:r>
            <a:r>
              <a:rPr sz="1700" b="1" kern="0" spc="5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69494" y="266679"/>
            <a:ext cx="711139" cy="298468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27318" y="3441682"/>
            <a:ext cx="241329" cy="241344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27773" y="3435348"/>
            <a:ext cx="241329" cy="241284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4297" y="3448075"/>
            <a:ext cx="234958" cy="241284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534143" y="2863865"/>
            <a:ext cx="234959" cy="234950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7037" y="2863865"/>
            <a:ext cx="234958" cy="234950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539952" y="2863865"/>
            <a:ext cx="234958" cy="234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94" name="textbox 194"/>
          <p:cNvSpPr/>
          <p:nvPr/>
        </p:nvSpPr>
        <p:spPr>
          <a:xfrm>
            <a:off x="1203590" y="4627220"/>
            <a:ext cx="4816475" cy="1075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7789" algn="l" rtl="0" eaLnBrk="0">
              <a:lnSpc>
                <a:spcPct val="84000"/>
              </a:lnSpc>
              <a:tabLst/>
            </a:pPr>
            <a:r>
              <a:rPr sz="3000" kern="0" spc="-10" baseline="-138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9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kern="0" spc="-1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建议先形成</a:t>
            </a:r>
            <a:r>
              <a:rPr sz="1500" kern="0" spc="-10" dirty="0">
                <a:solidFill>
                  <a:srgbClr val="003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V1</a:t>
            </a:r>
            <a:r>
              <a:rPr sz="1500" kern="0" spc="-1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版本，后续在真实</a:t>
            </a:r>
            <a:r>
              <a:rPr sz="1500" kern="0" spc="-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访谈中继续修正。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900" b="1" kern="0" spc="-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步骤清楚，协作才更高效。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8470867" y="2309859"/>
            <a:ext cx="1663700" cy="2086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先讨论，再动笔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6000"/>
              </a:lnSpc>
              <a:spcBef>
                <a:spcPts val="361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每组至少形成1—2张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8000"/>
              </a:lnSpc>
              <a:spcBef>
                <a:spcPts val="363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访谈问题控制在8—12个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左右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结束前完成组内互审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490303" y="903169"/>
            <a:ext cx="3225164" cy="642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4300" b="1" kern="0" spc="-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实践步骤说明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828536" y="303675"/>
            <a:ext cx="60058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6352476" y="3183943"/>
            <a:ext cx="1067435" cy="1104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1600" indent="-88900" algn="l" rtl="0" eaLnBrk="0">
              <a:lnSpc>
                <a:spcPct val="103000"/>
              </a:lnSpc>
              <a:tabLst/>
            </a:pPr>
            <a:r>
              <a:rPr sz="1400" b="1" kern="0" spc="-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设计访谈提纲</a:t>
            </a:r>
            <a:r>
              <a:rPr sz="1400" kern="0" spc="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并安排实施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21309" indent="-285750" algn="l" rtl="0" eaLnBrk="0">
              <a:lnSpc>
                <a:spcPct val="124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确定问题、对象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与分工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3393352" y="3184655"/>
            <a:ext cx="1066800" cy="1103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6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0" indent="-260350" algn="l" rtl="0" eaLnBrk="0">
              <a:lnSpc>
                <a:spcPct val="102000"/>
              </a:lnSpc>
              <a:tabLst/>
            </a:pPr>
            <a:r>
              <a:rPr sz="1400" b="1" kern="0" spc="-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完成典型用户</a:t>
            </a:r>
            <a:r>
              <a:rPr sz="1400" kern="0" spc="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5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画像卡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14325" indent="-291465" algn="l" rtl="0" eaLnBrk="0">
              <a:lnSpc>
                <a:spcPct val="124000"/>
              </a:lnSpc>
              <a:spcBef>
                <a:spcPts val="2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写清特征、目标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4825982" y="3186610"/>
            <a:ext cx="1154430" cy="890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0504" algn="l" rtl="0" eaLnBrk="0">
              <a:lnSpc>
                <a:spcPct val="85000"/>
              </a:lnSpc>
              <a:tabLst/>
            </a:pPr>
            <a:r>
              <a:rPr sz="1400" b="1" kern="0" spc="-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描述典型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31140" algn="l" rtl="0" eaLnBrk="0">
              <a:lnSpc>
                <a:spcPts val="1784"/>
              </a:lnSpc>
              <a:tabLst/>
            </a:pPr>
            <a:r>
              <a:rPr sz="1400" b="1" kern="0" spc="-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明确问题发生过程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7943830" y="1511313"/>
            <a:ext cx="1851025" cy="560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2765" algn="l" rtl="0" eaLnBrk="0">
              <a:lnSpc>
                <a:spcPct val="95000"/>
              </a:lnSpc>
              <a:tabLst>
                <a:tab pos="624840" algn="l"/>
              </a:tabLst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课堂推进建议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56530" y="1524013"/>
            <a:ext cx="520667" cy="507964"/>
          </a:xfrm>
          <a:prstGeom prst="rect">
            <a:avLst/>
          </a:prstGeom>
        </p:spPr>
      </p:pic>
      <p:sp>
        <p:nvSpPr>
          <p:cNvPr id="212" name="textbox 212"/>
          <p:cNvSpPr/>
          <p:nvPr/>
        </p:nvSpPr>
        <p:spPr>
          <a:xfrm>
            <a:off x="434337" y="3184655"/>
            <a:ext cx="1057910" cy="892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明确项目主题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88264" algn="l" rtl="0" eaLnBrk="0">
              <a:lnSpc>
                <a:spcPct val="96000"/>
              </a:lnSpc>
              <a:spcBef>
                <a:spcPts val="199"/>
              </a:spcBef>
              <a:tabLst/>
            </a:pPr>
            <a:r>
              <a:rPr sz="14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与研究对象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先确定讨论范围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1854228" y="3286295"/>
            <a:ext cx="1161414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5000"/>
              </a:lnSpc>
              <a:tabLst/>
            </a:pPr>
            <a:r>
              <a:rPr sz="1400" b="1" kern="0" spc="-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划分用户类型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找出主要服务对象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476222" y="1567937"/>
            <a:ext cx="4585970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按照“先画像、再场景、后提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纲、再分工”的流程推进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5847" y="139704"/>
            <a:ext cx="527143" cy="508024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69494" y="273073"/>
            <a:ext cx="717510" cy="292074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26390" y="3403619"/>
            <a:ext cx="381051" cy="387322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6390" y="4102077"/>
            <a:ext cx="381051" cy="381048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39131" y="2235199"/>
            <a:ext cx="355569" cy="34925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039131" y="2768618"/>
            <a:ext cx="355569" cy="342865"/>
            <a:chOff x="0" y="0"/>
            <a:chExt cx="355569" cy="342865"/>
          </a:xfrm>
        </p:grpSpPr>
        <p:pic>
          <p:nvPicPr>
            <p:cNvPr id="228" name="picture 22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55569" cy="342865"/>
            </a:xfrm>
            <a:prstGeom prst="rect">
              <a:avLst/>
            </a:prstGeom>
          </p:spPr>
        </p:pic>
        <p:sp>
          <p:nvSpPr>
            <p:cNvPr id="230" name="textbox 230"/>
            <p:cNvSpPr/>
            <p:nvPr/>
          </p:nvSpPr>
          <p:spPr>
            <a:xfrm>
              <a:off x="-12700" y="-12700"/>
              <a:ext cx="381000" cy="3930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88264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图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004" y="4819657"/>
            <a:ext cx="10572819" cy="1142964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959119" y="1816087"/>
            <a:ext cx="4781561" cy="306708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65097" y="12727"/>
            <a:ext cx="10426727" cy="768310"/>
            <a:chOff x="0" y="0"/>
            <a:chExt cx="10426727" cy="768310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0426727" cy="768310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10452734" cy="863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2250" algn="l" rtl="0" eaLnBrk="0">
                <a:lnSpc>
                  <a:spcPct val="77000"/>
                </a:lnSpc>
                <a:spcBef>
                  <a:spcPts val="2"/>
                </a:spcBef>
                <a:tabLst/>
              </a:pPr>
              <a:r>
                <a:rPr sz="24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  <a:endParaRPr sz="2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242" name="rect 242"/>
          <p:cNvSpPr/>
          <p:nvPr/>
        </p:nvSpPr>
        <p:spPr>
          <a:xfrm>
            <a:off x="7962900" y="3803668"/>
            <a:ext cx="2063771" cy="1009654"/>
          </a:xfrm>
          <a:prstGeom prst="rect">
            <a:avLst/>
          </a:prstGeom>
          <a:solidFill>
            <a:srgbClr val="F0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textbox 244"/>
          <p:cNvSpPr/>
          <p:nvPr/>
        </p:nvSpPr>
        <p:spPr>
          <a:xfrm>
            <a:off x="8000950" y="1879573"/>
            <a:ext cx="1857375" cy="2889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06400" algn="l" rtl="0" eaLnBrk="0">
              <a:lnSpc>
                <a:spcPct val="96000"/>
              </a:lnSpc>
              <a:spcBef>
                <a:spcPts val="5"/>
              </a:spcBef>
              <a:tabLst>
                <a:tab pos="475615" algn="l"/>
              </a:tabLst>
            </a:pPr>
            <a:r>
              <a:rPr sz="1600" b="1" kern="0" spc="0" dirty="0">
                <a:solidFill>
                  <a:srgbClr val="104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600" b="1" kern="0" spc="-60" dirty="0">
                <a:solidFill>
                  <a:srgbClr val="104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-6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可辅助的环节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419100" algn="l" rtl="0" eaLnBrk="0">
              <a:lnSpc>
                <a:spcPct val="206000"/>
              </a:lnSpc>
              <a:spcBef>
                <a:spcPts val="27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帮助归纳用户类型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优化访谈问题表述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419100" algn="l" rtl="0" eaLnBrk="0">
              <a:lnSpc>
                <a:spcPct val="95000"/>
              </a:lnSpc>
              <a:spcBef>
                <a:spcPts val="1504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提供场景分析启发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36550" algn="l" rtl="0" eaLnBrk="0">
              <a:lnSpc>
                <a:spcPct val="96000"/>
              </a:lnSpc>
              <a:spcBef>
                <a:spcPts val="1492"/>
              </a:spcBef>
              <a:tabLst>
                <a:tab pos="41910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协助生成提纲初稿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0204" algn="l" rtl="0" eaLnBrk="0">
              <a:lnSpc>
                <a:spcPct val="96000"/>
              </a:lnSpc>
              <a:spcBef>
                <a:spcPts val="430"/>
              </a:spcBef>
              <a:tabLst/>
            </a:pPr>
            <a:r>
              <a:rPr sz="1400" b="1" kern="0" spc="-8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65100" algn="l" rtl="0" eaLnBrk="0">
              <a:lnSpc>
                <a:spcPct val="95000"/>
              </a:lnSpc>
              <a:spcBef>
                <a:spcPts val="451"/>
              </a:spcBef>
              <a:tabLst/>
            </a:pPr>
            <a:r>
              <a:rPr sz="1100" kern="0" spc="-8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8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用于启发与类理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ct val="96000"/>
              </a:lnSpc>
              <a:spcBef>
                <a:spcPts val="542"/>
              </a:spcBef>
              <a:tabLst/>
            </a:pPr>
            <a:r>
              <a:rPr sz="1100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最终判断要结合真实项目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ct val="92000"/>
              </a:lnSpc>
              <a:spcBef>
                <a:spcPts val="133"/>
              </a:spcBef>
              <a:tabLst/>
            </a:pPr>
            <a:r>
              <a:rPr sz="1100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不照搬，重在修正完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2760" y="3384557"/>
            <a:ext cx="304820" cy="304802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13650" y="1892273"/>
            <a:ext cx="393791" cy="393715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400096" y="938215"/>
            <a:ext cx="4996815" cy="813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0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分组协作与</a:t>
            </a:r>
            <a:r>
              <a:rPr sz="3800" b="1" kern="0" spc="0" dirty="0">
                <a:solidFill>
                  <a:srgbClr val="1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800" b="1" kern="0" spc="10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辅助设计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27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通过角色分工和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工具辅助，提高画像与提纲设计效率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0667" y="2959112"/>
            <a:ext cx="2279725" cy="469901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7037" y="3549656"/>
            <a:ext cx="2273355" cy="469901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76287" y="2362175"/>
            <a:ext cx="2330368" cy="476295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1030466" y="2556670"/>
            <a:ext cx="1778000" cy="1965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b="1" kern="0" spc="5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</a:t>
            </a:r>
            <a:r>
              <a:rPr sz="900" kern="0" spc="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b="1" kern="0" spc="5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</a:t>
            </a:r>
            <a:r>
              <a:rPr sz="900" kern="0" spc="-11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b="1" kern="0" spc="5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统筹讨论与时间安排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spcBef>
                <a:spcPts val="272"/>
              </a:spcBef>
              <a:tabLst/>
            </a:pPr>
            <a:r>
              <a:rPr sz="900" b="1" kern="0" spc="0" dirty="0">
                <a:solidFill>
                  <a:srgbClr val="1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画像整理员：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提炼用户特征与痛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07"/>
              </a:spcBef>
              <a:tabLst/>
            </a:pPr>
            <a:r>
              <a:rPr sz="1000" b="1" kern="0" spc="-7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场景分析员：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梳理典型使用场景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000" b="1" kern="0" spc="-80" dirty="0">
                <a:solidFill>
                  <a:srgbClr val="1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访谈设计员：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整理问题并形成提纲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841276" y="303675"/>
            <a:ext cx="61010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9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203644" y="5412073"/>
            <a:ext cx="3399790" cy="297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</a:t>
            </a:r>
            <a:r>
              <a:rPr sz="1900" kern="0" spc="-3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</a:t>
            </a: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AI,</a:t>
            </a:r>
            <a:r>
              <a:rPr sz="1900" b="1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但不替代团队思考。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654060" y="1866906"/>
            <a:ext cx="1663064" cy="458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6000"/>
              </a:lnSpc>
              <a:tabLst>
                <a:tab pos="491490" algn="l"/>
              </a:tabLst>
            </a:pPr>
            <a:r>
              <a:rPr sz="1500" kern="0" spc="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小组角色分工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6760" y="1879606"/>
            <a:ext cx="406426" cy="406383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20667" y="4159261"/>
            <a:ext cx="463547" cy="4571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584198" y="1831869"/>
            <a:ext cx="3492500" cy="2487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3054" algn="l" rtl="0" eaLnBrk="0">
              <a:lnSpc>
                <a:spcPct val="95000"/>
              </a:lnSpc>
              <a:tabLst/>
            </a:pPr>
            <a:r>
              <a:rPr sz="13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用户画像卡示例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97305" algn="l" rtl="0" eaLnBrk="0">
              <a:lnSpc>
                <a:spcPct val="95000"/>
              </a:lnSpc>
              <a:spcBef>
                <a:spcPts val="1021"/>
              </a:spcBef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图书馆高频自习学生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94764" algn="l" rtl="0" eaLnBrk="0">
              <a:lnSpc>
                <a:spcPct val="96000"/>
              </a:lnSpc>
              <a:spcBef>
                <a:spcPts val="815"/>
              </a:spcBef>
              <a:tabLst/>
            </a:pPr>
            <a:r>
              <a:rPr sz="900" kern="0" spc="1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900" kern="0" spc="10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年龄：20岁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497964" algn="l" rtl="0" eaLnBrk="0">
              <a:lnSpc>
                <a:spcPts val="967"/>
              </a:lnSpc>
              <a:spcBef>
                <a:spcPts val="397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身份：大二本科生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94764" algn="l" rtl="0" eaLnBrk="0">
              <a:lnSpc>
                <a:spcPts val="967"/>
              </a:lnSpc>
              <a:spcBef>
                <a:spcPts val="283"/>
              </a:spcBef>
              <a:tabLst/>
            </a:pPr>
            <a:r>
              <a:rPr sz="800" kern="0" spc="60" dirty="0">
                <a:solidFill>
                  <a:srgbClr val="205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Z   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专业：计算机科学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与技术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94764" algn="l" rtl="0" eaLnBrk="0">
              <a:lnSpc>
                <a:spcPts val="973"/>
              </a:lnSpc>
              <a:spcBef>
                <a:spcPts val="539"/>
              </a:spcBef>
              <a:tabLst/>
            </a:pPr>
            <a:r>
              <a:rPr sz="800" kern="0" spc="7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</a:t>
            </a:r>
            <a:r>
              <a:rPr sz="800" kern="0" spc="16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所在城市：省会城市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228600" algn="l" rtl="0" eaLnBrk="0">
              <a:lnSpc>
                <a:spcPct val="98000"/>
              </a:lnSpc>
              <a:spcBef>
                <a:spcPts val="984"/>
              </a:spcBef>
              <a:tabLst>
                <a:tab pos="279400" algn="l"/>
              </a:tabLst>
            </a:pPr>
            <a:r>
              <a:rPr sz="700" kern="0" spc="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kern="0" spc="4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</a:t>
            </a:r>
            <a:r>
              <a:rPr sz="700" kern="0" spc="-21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b="1" kern="0" spc="4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本信息</a:t>
            </a:r>
            <a:r>
              <a:rPr sz="700" kern="0" spc="8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大二学生，课程较多，备考英语六级，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常在图书馆自习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15900" algn="l" rtl="0" eaLnBrk="0">
              <a:lnSpc>
                <a:spcPct val="98000"/>
              </a:lnSpc>
              <a:spcBef>
                <a:spcPts val="977"/>
              </a:spcBef>
              <a:tabLst>
                <a:tab pos="280670" algn="l"/>
              </a:tabLst>
            </a:pPr>
            <a:r>
              <a:rPr sz="7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b="1" kern="0" spc="5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主要目标</a:t>
            </a:r>
            <a:r>
              <a:rPr sz="700" kern="0" spc="9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高效利用自习时间，提高学习效率，通过重要考试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ct val="98000"/>
              </a:lnSpc>
              <a:spcBef>
                <a:spcPts val="977"/>
              </a:spcBef>
              <a:tabLst>
                <a:tab pos="280670" algn="l"/>
              </a:tabLst>
            </a:pPr>
            <a:r>
              <a:rPr sz="7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b="1" kern="0" spc="7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核心痛点</a:t>
            </a:r>
            <a:r>
              <a:rPr sz="700" kern="0" spc="7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占座难、座位舒适度低，自习易受干扰、借还书流程繁琐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ct val="98000"/>
              </a:lnSpc>
              <a:spcBef>
                <a:spcPts val="977"/>
              </a:spcBef>
              <a:tabLst>
                <a:tab pos="280670" algn="l"/>
              </a:tabLst>
            </a:pPr>
            <a:r>
              <a:rPr sz="7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b="1" kern="0" spc="8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行为特征</a:t>
            </a:r>
            <a:r>
              <a:rPr sz="700" kern="0" spc="8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每日到馆2-4小时，偏好安静区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，使用自习室/研讨室频率高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98000"/>
              </a:lnSpc>
              <a:spcBef>
                <a:spcPts val="4"/>
              </a:spcBef>
              <a:tabLst>
                <a:tab pos="280670" algn="l"/>
              </a:tabLst>
            </a:pPr>
            <a:r>
              <a:rPr sz="7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b="1" kern="0" spc="7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典型语句</a:t>
            </a:r>
            <a:r>
              <a:rPr sz="700" kern="0" spc="7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“想找个安静、好坐的地方专注学习，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别被打扰。”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3269" y="4108471"/>
            <a:ext cx="196842" cy="190494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3269" y="3886188"/>
            <a:ext cx="190472" cy="190494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9639" y="3663965"/>
            <a:ext cx="184102" cy="190494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9639" y="3429014"/>
            <a:ext cx="190472" cy="190494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96898" y="3187729"/>
            <a:ext cx="215953" cy="209495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4730746" y="1856604"/>
            <a:ext cx="3138804" cy="2325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tabLst/>
            </a:pPr>
            <a:r>
              <a:rPr sz="13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访谈提纲示例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67"/>
              </a:lnSpc>
              <a:spcBef>
                <a:spcPts val="1075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请简单介绍一下你在学校图书馆自习的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频率和主要目的?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67"/>
              </a:lnSpc>
              <a:spcBef>
                <a:spcPts val="1182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你通常在什么时间去图书馆?一般选择哪些区域?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098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在自习过程中，你遇到的最大困扰是什么?可以举例说明吗?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967"/>
              </a:lnSpc>
              <a:spcBef>
                <a:spcPts val="1154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你认为目前图书馆的哪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些服务或设施最有帮助?哪些需要改进?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17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如果有一款产品/服务可以帮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助你更好地自习，你希望它具备哪些功能?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你在查找座位、自习资源或借还书时，通常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如何获取信息?是否方便?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你愿意为提升自习体验的服务付费吗?在什么情况下愿意?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还有什么想法或建议，是我们没有提到但对你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很重要的?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8324881" y="1905028"/>
            <a:ext cx="2101850" cy="2465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5000"/>
              </a:lnSpc>
              <a:spcBef>
                <a:spcPts val="1"/>
              </a:spcBef>
              <a:tabLst>
                <a:tab pos="427990" algn="l"/>
              </a:tabLst>
            </a:pPr>
            <a:r>
              <a:rPr sz="15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-4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优秀成果特征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7815" algn="l" rtl="0" eaLnBrk="0">
              <a:lnSpc>
                <a:spcPct val="92000"/>
              </a:lnSpc>
              <a:spcBef>
                <a:spcPts val="311"/>
              </a:spcBef>
              <a:tabLst>
                <a:tab pos="3867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画像具体，不空泛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7000"/>
              </a:lnSpc>
              <a:spcBef>
                <a:spcPts val="271"/>
              </a:spcBef>
              <a:tabLst>
                <a:tab pos="3867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问题有层次，不诱导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100000"/>
              </a:lnSpc>
              <a:spcBef>
                <a:spcPts val="280"/>
              </a:spcBef>
              <a:tabLst>
                <a:tab pos="3867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场景描述真实清楚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97815" algn="l" rtl="0" eaLnBrk="0">
              <a:lnSpc>
                <a:spcPct val="100000"/>
              </a:lnSpc>
              <a:spcBef>
                <a:spcPts val="1"/>
              </a:spcBef>
              <a:tabLst>
                <a:tab pos="3867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便于后续实地访谈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768515" y="3752878"/>
            <a:ext cx="635014" cy="590543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337581" y="3930645"/>
            <a:ext cx="285708" cy="279407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337581" y="3448075"/>
            <a:ext cx="279338" cy="285741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37581" y="2965446"/>
            <a:ext cx="279338" cy="279407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337581" y="2482877"/>
            <a:ext cx="285708" cy="279347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369326" y="1917728"/>
            <a:ext cx="279338" cy="349199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431737" y="930677"/>
            <a:ext cx="3829050" cy="67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400" b="1" kern="0" spc="21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3175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展示本次实践课建议形成的用户画像卡与访谈提纲样式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815901" y="316343"/>
            <a:ext cx="60058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6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1197333" y="5397845"/>
            <a:ext cx="41363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先把工具做扎实，后续调</a:t>
            </a: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研更有质量。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60389" y="2146286"/>
            <a:ext cx="958839" cy="946136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768301" y="4457698"/>
            <a:ext cx="1306830" cy="443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95000"/>
              </a:lnSpc>
              <a:tabLst>
                <a:tab pos="514350" algn="l"/>
              </a:tabLst>
            </a:pP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7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用户类型划分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81001" y="4470398"/>
            <a:ext cx="406426" cy="400049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8439122" y="4508488"/>
            <a:ext cx="1238250" cy="354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5000"/>
              </a:lnSpc>
              <a:spcBef>
                <a:spcPts val="7"/>
              </a:spcBef>
              <a:tabLst>
                <a:tab pos="425450" algn="l"/>
              </a:tabLst>
            </a:pP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5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访谈实施计划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451822" y="4521188"/>
            <a:ext cx="285815" cy="311136"/>
          </a:xfrm>
          <a:prstGeom prst="rect">
            <a:avLst/>
          </a:prstGeom>
        </p:spPr>
      </p:pic>
      <p:sp>
        <p:nvSpPr>
          <p:cNvPr id="316" name="textbox 316"/>
          <p:cNvSpPr/>
          <p:nvPr/>
        </p:nvSpPr>
        <p:spPr>
          <a:xfrm>
            <a:off x="2921044" y="4483093"/>
            <a:ext cx="102933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86715" algn="l" rtl="0" eaLnBrk="0">
              <a:lnSpc>
                <a:spcPct val="95000"/>
              </a:lnSpc>
              <a:spcBef>
                <a:spcPts val="2"/>
              </a:spcBef>
              <a:tabLst>
                <a:tab pos="494665" algn="l"/>
              </a:tabLst>
            </a:pPr>
            <a:r>
              <a:rPr sz="1100" kern="0" spc="0" dirty="0">
                <a:solidFill>
                  <a:srgbClr val="101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60" dirty="0">
                <a:solidFill>
                  <a:srgbClr val="101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画像设计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933744" y="4495793"/>
            <a:ext cx="374574" cy="349259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4819612" y="4514822"/>
            <a:ext cx="1002030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95000"/>
              </a:lnSpc>
              <a:spcBef>
                <a:spcPts val="3"/>
              </a:spcBef>
              <a:tabLst>
                <a:tab pos="463550" algn="l"/>
              </a:tabLst>
            </a:pPr>
            <a:r>
              <a:rPr sz="11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6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场景描述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832312" y="4527522"/>
            <a:ext cx="336565" cy="298468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6610309" y="4508488"/>
            <a:ext cx="1019175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5000"/>
              </a:lnSpc>
              <a:spcBef>
                <a:spcPts val="7"/>
              </a:spcBef>
              <a:tabLst>
                <a:tab pos="469900" algn="l"/>
              </a:tabLst>
            </a:pPr>
            <a:r>
              <a:rPr sz="1100" kern="0" spc="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40" dirty="0">
                <a:solidFill>
                  <a:srgbClr val="002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623009" y="4521188"/>
            <a:ext cx="323930" cy="292134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228588" y="165098"/>
            <a:ext cx="488922" cy="463567"/>
            <a:chOff x="0" y="0"/>
            <a:chExt cx="488922" cy="463567"/>
          </a:xfrm>
        </p:grpSpPr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488922" cy="463567"/>
            </a:xfrm>
            <a:prstGeom prst="rect">
              <a:avLst/>
            </a:prstGeom>
          </p:spPr>
        </p:pic>
        <p:sp>
          <p:nvSpPr>
            <p:cNvPr id="330" name="textbox 330"/>
            <p:cNvSpPr/>
            <p:nvPr/>
          </p:nvSpPr>
          <p:spPr>
            <a:xfrm>
              <a:off x="-12700" y="-12700"/>
              <a:ext cx="514350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ct val="77000"/>
                </a:lnSpc>
                <a:spcBef>
                  <a:spcPts val="7"/>
                </a:spcBef>
                <a:tabLst/>
              </a:pPr>
              <a:r>
                <a:rPr sz="22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9</a:t>
              </a:r>
              <a:endParaRPr sz="22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332" name="picture 33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569494" y="266679"/>
            <a:ext cx="717510" cy="298468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038851" y="4584706"/>
            <a:ext cx="336565" cy="177766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317734" y="4584706"/>
            <a:ext cx="330194" cy="177766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7874034" y="4584706"/>
            <a:ext cx="330194" cy="177766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4216408" y="4584706"/>
            <a:ext cx="317454" cy="177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8933" y="3543322"/>
            <a:ext cx="4686325" cy="1003261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444346" y="892614"/>
            <a:ext cx="4812665" cy="3539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1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成果提交要求与评价标准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38100" algn="l" rtl="0" eaLnBrk="0">
              <a:lnSpc>
                <a:spcPct val="92000"/>
              </a:lnSpc>
              <a:spcBef>
                <a:spcPts val="248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通过规范提交与课堂评价，确保后续真实调研顺利开展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0" algn="l" rtl="0" eaLnBrk="0">
              <a:lnSpc>
                <a:spcPct val="96000"/>
              </a:lnSpc>
              <a:spcBef>
                <a:spcPts val="650"/>
              </a:spcBef>
              <a:tabLst/>
            </a:pPr>
            <a:r>
              <a:rPr sz="3300" kern="0" spc="20" baseline="-7892" dirty="0">
                <a:solidFill>
                  <a:srgbClr val="D0F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</a:t>
            </a:r>
            <a:r>
              <a:rPr sz="2100" kern="0" spc="810" dirty="0">
                <a:solidFill>
                  <a:srgbClr val="D0F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20" baseline="434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必交成果</a:t>
            </a:r>
            <a:endParaRPr sz="2400" baseline="4340" dirty="0">
              <a:latin typeface="SimHei"/>
              <a:ea typeface="SimHei"/>
              <a:cs typeface="SimHei"/>
            </a:endParaRPr>
          </a:p>
          <a:p>
            <a:pPr marL="831850" algn="l" rtl="0" eaLnBrk="0">
              <a:lnSpc>
                <a:spcPct val="95000"/>
              </a:lnSpc>
              <a:spcBef>
                <a:spcPts val="827"/>
              </a:spcBef>
              <a:tabLst/>
            </a:pP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用户画像卡(1—2张)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31850" algn="l" rtl="0" eaLnBrk="0">
              <a:lnSpc>
                <a:spcPct val="95000"/>
              </a:lnSpc>
              <a:spcBef>
                <a:spcPts val="446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典型使用场景表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31850" algn="l" rtl="0" eaLnBrk="0">
              <a:lnSpc>
                <a:spcPct val="95000"/>
              </a:lnSpc>
              <a:spcBef>
                <a:spcPts val="438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31850" algn="l" rtl="0" eaLnBrk="0">
              <a:lnSpc>
                <a:spcPct val="95000"/>
              </a:lnSpc>
              <a:spcBef>
                <a:spcPts val="496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访谈实施计划表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20090" algn="l" rtl="0" eaLnBrk="0">
              <a:lnSpc>
                <a:spcPct val="96000"/>
              </a:lnSpc>
              <a:spcBef>
                <a:spcPts val="490"/>
              </a:spcBef>
              <a:tabLst/>
            </a:pPr>
            <a:r>
              <a:rPr sz="1600" b="1" kern="0" spc="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提交形式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552450" algn="l" rtl="0" eaLnBrk="0">
              <a:lnSpc>
                <a:spcPct val="95000"/>
              </a:lnSpc>
              <a:spcBef>
                <a:spcPts val="1247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●电子版文档或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截图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52450" algn="l" rtl="0" eaLnBrk="0">
              <a:lnSpc>
                <a:spcPct val="95000"/>
              </a:lnSpc>
              <a:spcBef>
                <a:spcPts val="505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1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小组统一命名打包提交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5245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●材料整洁、分工信息完整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348" name="table 348"/>
          <p:cNvGraphicFramePr>
            <a:graphicFrameLocks noGrp="1"/>
          </p:cNvGraphicFramePr>
          <p:nvPr/>
        </p:nvGraphicFramePr>
        <p:xfrm>
          <a:off x="5546754" y="1400195"/>
          <a:ext cx="4704714" cy="2044064"/>
        </p:xfrm>
        <a:graphic>
          <a:graphicData uri="http://schemas.openxmlformats.org/drawingml/2006/table">
            <a:tbl>
              <a:tblPr/>
              <a:tblGrid>
                <a:gridCol w="1577339"/>
                <a:gridCol w="755650"/>
                <a:gridCol w="2371725"/>
              </a:tblGrid>
              <a:tr h="282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评价维度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权重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5339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评价要点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643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逻辑清晰度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ts val="1546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40D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30%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合理，逻辑严谨，内容衔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接顺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畅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ts val="1500"/>
                        </a:lnSpc>
                        <a:tabLst/>
                      </a:pPr>
                      <a:r>
                        <a:rPr sz="12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r>
                        <a:rPr sz="1200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画像具体性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ts val="15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103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信息真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实具体，特征准确，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细节充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768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访谈问题质量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ts val="15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1030B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9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问题有针对性、开放性，能深入挖掘需求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50" dirty="0">
                          <a:solidFill>
                            <a:srgbClr val="90A0E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r>
                        <a:rPr sz="1200" kern="0" spc="150" dirty="0">
                          <a:solidFill>
                            <a:srgbClr val="90A0E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规范与协作表现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ts val="1546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30C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格式规范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，材料完整，分工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协作良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好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0" name="textbox 350"/>
          <p:cNvSpPr/>
          <p:nvPr/>
        </p:nvSpPr>
        <p:spPr>
          <a:xfrm>
            <a:off x="1203644" y="4778218"/>
            <a:ext cx="6518275" cy="936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4189" algn="l" rtl="0" eaLnBrk="0">
              <a:lnSpc>
                <a:spcPct val="94000"/>
              </a:lnSpc>
              <a:tabLst/>
            </a:pP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下一次实践课将进入真实访谈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、调研记录整理与需求归纳。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准备越充分，后续调研越有效。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5994405" y="3631703"/>
            <a:ext cx="2094229" cy="853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0" algn="l" rtl="0" eaLnBrk="0">
              <a:lnSpc>
                <a:spcPct val="95000"/>
              </a:lnSpc>
              <a:tabLst/>
            </a:pPr>
            <a:r>
              <a:rPr sz="1400" kern="0" spc="-1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课后延伸任务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783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●根据课堂反馈完善画像与提纲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413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●预约1—2位真实用户开展访谈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315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●为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下一次实践课调研实施做好准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备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828536" y="303675"/>
            <a:ext cx="59867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6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《创新创业基础》实践课|第2次：用户画</a:t>
            </a:r>
            <a:r>
              <a:rPr sz="1700" b="1" kern="0" spc="5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像与访谈提纲设计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7799" y="914407"/>
            <a:ext cx="444542" cy="438112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5702326" y="1026172"/>
            <a:ext cx="2913379" cy="37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3600" kern="0" spc="-50" baseline="-15915" dirty="0">
                <a:solidFill>
                  <a:srgbClr val="D0F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</a:t>
            </a:r>
            <a:r>
              <a:rPr sz="2300" kern="0" spc="780" dirty="0">
                <a:solidFill>
                  <a:srgbClr val="D0F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课堂评价标准</a:t>
            </a:r>
            <a:r>
              <a:rPr sz="16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(总分100分)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360" name="picture 3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9583" y="146037"/>
            <a:ext cx="501662" cy="495296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69494" y="266679"/>
            <a:ext cx="711139" cy="298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2026-05-06T02:34:35</vt:filetime>
  </property>
  <property fmtid="{D5CDD505-2E9C-101B-9397-08002B2CF9AE}" pid="4" name="UsrData">
    <vt:lpwstr>69fa382f7fe946001f81e362wl</vt:lpwstr>
  </property>
</Properties>
</file>